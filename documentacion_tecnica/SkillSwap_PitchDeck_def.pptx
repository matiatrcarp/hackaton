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6" d="100"/>
          <a:sy n="106" d="100"/>
        </p:scale>
        <p:origin x="677" y="3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26004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por qué todas las FK tienen nombre explícito: evita colisión de nombres autogenerados (errno 150) en MariaDB &lt; 10.5.</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Destacar: la lógica de negocio crítica (solapamiento + estado de horario) vive en el motor, no solo en PHP.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por qué se eligió score ponderado y no ML: MVP sin datos suficientes para entrenar. El diseño es modular y reemplazable.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Relacionar con Unidad I (paradigma OOP, separación de responsabilidades) y Unidad III (front controller como dispatcher similar a un compilador).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criterio C1 evalúa pruebas y métricas. Esta slide muestra que el equipo validó cada funcionalidad.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conecta con el criterio C2 (innovación e impacto). Mostrar que hay una visión más allá del MVP.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final. Pasar directo a la demo. Tener el sistema corriendo antes de entrar.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5669280" y="-731520"/>
            <a:ext cx="5029200" cy="5029200"/>
          </a:xfrm>
          <a:prstGeom prst="ellipse">
            <a:avLst/>
          </a:prstGeom>
          <a:solidFill>
            <a:srgbClr val="0D9488">
              <a:alpha val="18000"/>
            </a:srgbClr>
          </a:solidFill>
          <a:ln w="12700">
            <a:solidFill>
              <a:srgbClr val="0D9488"/>
            </a:solidFill>
            <a:prstDash val="solid"/>
          </a:ln>
        </p:spPr>
        <p:txBody>
          <a:bodyPr/>
          <a:lstStyle/>
          <a:p>
            <a:endParaRPr lang="es-AR"/>
          </a:p>
        </p:txBody>
      </p:sp>
      <p:sp>
        <p:nvSpPr>
          <p:cNvPr id="3" name="Shape 1"/>
          <p:cNvSpPr/>
          <p:nvPr/>
        </p:nvSpPr>
        <p:spPr>
          <a:xfrm>
            <a:off x="6858000" y="1371600"/>
            <a:ext cx="2743200" cy="2743200"/>
          </a:xfrm>
          <a:prstGeom prst="ellipse">
            <a:avLst/>
          </a:prstGeom>
          <a:solidFill>
            <a:srgbClr val="14B8A6">
              <a:alpha val="12000"/>
            </a:srgbClr>
          </a:solidFill>
          <a:ln w="12700">
            <a:solidFill>
              <a:srgbClr val="14B8A6"/>
            </a:solidFill>
            <a:prstDash val="solid"/>
          </a:ln>
        </p:spPr>
        <p:txBody>
          <a:bodyPr/>
          <a:lstStyle/>
          <a:p>
            <a:endParaRPr lang="es-AR"/>
          </a:p>
        </p:txBody>
      </p:sp>
      <p:sp>
        <p:nvSpPr>
          <p:cNvPr id="4" name="Shape 2"/>
          <p:cNvSpPr/>
          <p:nvPr/>
        </p:nvSpPr>
        <p:spPr>
          <a:xfrm>
            <a:off x="548640" y="457200"/>
            <a:ext cx="1463040" cy="502920"/>
          </a:xfrm>
          <a:prstGeom prst="roundRect">
            <a:avLst>
              <a:gd name="adj" fmla="val 14545"/>
            </a:avLst>
          </a:prstGeom>
          <a:solidFill>
            <a:srgbClr val="0D9488"/>
          </a:solidFill>
          <a:ln w="12700">
            <a:solidFill>
              <a:srgbClr val="0D9488"/>
            </a:solidFill>
            <a:prstDash val="solid"/>
          </a:ln>
        </p:spPr>
        <p:txBody>
          <a:bodyPr/>
          <a:lstStyle/>
          <a:p>
            <a:endParaRPr lang="es-AR"/>
          </a:p>
        </p:txBody>
      </p:sp>
      <p:sp>
        <p:nvSpPr>
          <p:cNvPr id="5" name="Text 3"/>
          <p:cNvSpPr/>
          <p:nvPr/>
        </p:nvSpPr>
        <p:spPr>
          <a:xfrm>
            <a:off x="548640" y="457200"/>
            <a:ext cx="1463040" cy="502920"/>
          </a:xfrm>
          <a:prstGeom prst="rect">
            <a:avLst/>
          </a:prstGeom>
          <a:noFill/>
          <a:ln/>
        </p:spPr>
        <p:txBody>
          <a:bodyPr wrap="square" lIns="0" tIns="0" rIns="0" bIns="0" rtlCol="0" anchor="ctr"/>
          <a:lstStyle/>
          <a:p>
            <a:pPr marL="0" indent="0" algn="ctr">
              <a:buNone/>
            </a:pPr>
            <a:r>
              <a:rPr lang="en-US" sz="1400" b="1" dirty="0">
                <a:solidFill>
                  <a:srgbClr val="FFFFFF"/>
                </a:solidFill>
              </a:rPr>
              <a:t>SkillSwap</a:t>
            </a:r>
            <a:endParaRPr lang="en-US" sz="1400" dirty="0"/>
          </a:p>
        </p:txBody>
      </p:sp>
      <p:sp>
        <p:nvSpPr>
          <p:cNvPr id="6" name="Text 4"/>
          <p:cNvSpPr/>
          <p:nvPr/>
        </p:nvSpPr>
        <p:spPr>
          <a:xfrm>
            <a:off x="548640" y="1234440"/>
            <a:ext cx="7772400" cy="914400"/>
          </a:xfrm>
          <a:prstGeom prst="rect">
            <a:avLst/>
          </a:prstGeom>
          <a:noFill/>
          <a:ln/>
        </p:spPr>
        <p:txBody>
          <a:bodyPr wrap="square" rtlCol="0" anchor="ctr"/>
          <a:lstStyle/>
          <a:p>
            <a:pPr marL="0" indent="0" algn="l">
              <a:buNone/>
            </a:pPr>
            <a:r>
              <a:rPr lang="en-US" sz="4200" b="1" dirty="0">
                <a:solidFill>
                  <a:srgbClr val="FFFFFF"/>
                </a:solidFill>
              </a:rPr>
              <a:t>Conectá con quien sabe.</a:t>
            </a:r>
            <a:endParaRPr lang="en-US" sz="4200" dirty="0"/>
          </a:p>
        </p:txBody>
      </p:sp>
      <p:sp>
        <p:nvSpPr>
          <p:cNvPr id="7" name="Text 5"/>
          <p:cNvSpPr/>
          <p:nvPr/>
        </p:nvSpPr>
        <p:spPr>
          <a:xfrm>
            <a:off x="548640" y="2286000"/>
            <a:ext cx="6400800" cy="822960"/>
          </a:xfrm>
          <a:prstGeom prst="rect">
            <a:avLst/>
          </a:prstGeom>
          <a:noFill/>
          <a:ln/>
        </p:spPr>
        <p:txBody>
          <a:bodyPr wrap="square" rtlCol="0" anchor="ctr"/>
          <a:lstStyle/>
          <a:p>
            <a:pPr marL="0" indent="0" algn="l">
              <a:lnSpc>
                <a:spcPct val="135000"/>
              </a:lnSpc>
              <a:buNone/>
            </a:pPr>
            <a:r>
              <a:rPr lang="en-US" sz="1700" dirty="0">
                <a:solidFill>
                  <a:srgbClr val="CCFBF1"/>
                </a:solidFill>
              </a:rPr>
              <a:t>La plataforma que une alumnos universitarios</a:t>
            </a:r>
            <a:endParaRPr lang="en-US" sz="1700" dirty="0"/>
          </a:p>
          <a:p>
            <a:pPr marL="0" indent="0" algn="l">
              <a:lnSpc>
                <a:spcPct val="135000"/>
              </a:lnSpc>
              <a:buNone/>
            </a:pPr>
            <a:r>
              <a:rPr lang="en-US" sz="1700" dirty="0">
                <a:solidFill>
                  <a:srgbClr val="CCFBF1"/>
                </a:solidFill>
              </a:rPr>
              <a:t>con tutores de su misma carrera.</a:t>
            </a:r>
            <a:endParaRPr lang="en-US" sz="1700" dirty="0"/>
          </a:p>
        </p:txBody>
      </p:sp>
      <p:sp>
        <p:nvSpPr>
          <p:cNvPr id="8" name="Shape 6"/>
          <p:cNvSpPr/>
          <p:nvPr/>
        </p:nvSpPr>
        <p:spPr>
          <a:xfrm>
            <a:off x="548640" y="3337560"/>
            <a:ext cx="2011680" cy="347472"/>
          </a:xfrm>
          <a:prstGeom prst="roundRect">
            <a:avLst>
              <a:gd name="adj" fmla="val 15789"/>
            </a:avLst>
          </a:prstGeom>
          <a:solidFill>
            <a:srgbClr val="1E3A5F"/>
          </a:solidFill>
          <a:ln w="12700">
            <a:solidFill>
              <a:srgbClr val="0D9488"/>
            </a:solidFill>
            <a:prstDash val="solid"/>
          </a:ln>
        </p:spPr>
        <p:txBody>
          <a:bodyPr/>
          <a:lstStyle/>
          <a:p>
            <a:endParaRPr lang="es-AR"/>
          </a:p>
        </p:txBody>
      </p:sp>
      <p:sp>
        <p:nvSpPr>
          <p:cNvPr id="9" name="Text 7"/>
          <p:cNvSpPr/>
          <p:nvPr/>
        </p:nvSpPr>
        <p:spPr>
          <a:xfrm>
            <a:off x="548640" y="3337560"/>
            <a:ext cx="2011680" cy="347472"/>
          </a:xfrm>
          <a:prstGeom prst="rect">
            <a:avLst/>
          </a:prstGeom>
          <a:noFill/>
          <a:ln/>
        </p:spPr>
        <p:txBody>
          <a:bodyPr wrap="square" lIns="0" tIns="0" rIns="0" bIns="0" rtlCol="0" anchor="ctr"/>
          <a:lstStyle/>
          <a:p>
            <a:pPr marL="0" indent="0" algn="ctr">
              <a:buNone/>
            </a:pPr>
            <a:r>
              <a:rPr lang="en-US" sz="1000" b="1" dirty="0">
                <a:solidFill>
                  <a:srgbClr val="14B8A6"/>
                </a:solidFill>
              </a:rPr>
              <a:t>PHP · MVC</a:t>
            </a:r>
            <a:endParaRPr lang="en-US" sz="1000" dirty="0"/>
          </a:p>
        </p:txBody>
      </p:sp>
      <p:sp>
        <p:nvSpPr>
          <p:cNvPr id="10" name="Shape 8"/>
          <p:cNvSpPr/>
          <p:nvPr/>
        </p:nvSpPr>
        <p:spPr>
          <a:xfrm>
            <a:off x="2697480" y="3337560"/>
            <a:ext cx="2011680" cy="347472"/>
          </a:xfrm>
          <a:prstGeom prst="roundRect">
            <a:avLst>
              <a:gd name="adj" fmla="val 15789"/>
            </a:avLst>
          </a:prstGeom>
          <a:solidFill>
            <a:srgbClr val="1E3A5F"/>
          </a:solidFill>
          <a:ln w="12700">
            <a:solidFill>
              <a:srgbClr val="0D9488"/>
            </a:solidFill>
            <a:prstDash val="solid"/>
          </a:ln>
        </p:spPr>
        <p:txBody>
          <a:bodyPr/>
          <a:lstStyle/>
          <a:p>
            <a:endParaRPr lang="es-AR"/>
          </a:p>
        </p:txBody>
      </p:sp>
      <p:sp>
        <p:nvSpPr>
          <p:cNvPr id="11" name="Text 9"/>
          <p:cNvSpPr/>
          <p:nvPr/>
        </p:nvSpPr>
        <p:spPr>
          <a:xfrm>
            <a:off x="2697480" y="3337560"/>
            <a:ext cx="2011680" cy="347472"/>
          </a:xfrm>
          <a:prstGeom prst="rect">
            <a:avLst/>
          </a:prstGeom>
          <a:noFill/>
          <a:ln/>
        </p:spPr>
        <p:txBody>
          <a:bodyPr wrap="square" lIns="0" tIns="0" rIns="0" bIns="0" rtlCol="0" anchor="ctr"/>
          <a:lstStyle/>
          <a:p>
            <a:pPr marL="0" indent="0" algn="ctr">
              <a:buNone/>
            </a:pPr>
            <a:r>
              <a:rPr lang="en-US" sz="1000" b="1" dirty="0">
                <a:solidFill>
                  <a:srgbClr val="14B8A6"/>
                </a:solidFill>
              </a:rPr>
              <a:t>MySQL + Triggers</a:t>
            </a:r>
            <a:endParaRPr lang="en-US" sz="1000" dirty="0"/>
          </a:p>
        </p:txBody>
      </p:sp>
      <p:sp>
        <p:nvSpPr>
          <p:cNvPr id="12" name="Shape 10"/>
          <p:cNvSpPr/>
          <p:nvPr/>
        </p:nvSpPr>
        <p:spPr>
          <a:xfrm>
            <a:off x="4846320" y="3337560"/>
            <a:ext cx="2011680" cy="347472"/>
          </a:xfrm>
          <a:prstGeom prst="roundRect">
            <a:avLst>
              <a:gd name="adj" fmla="val 15789"/>
            </a:avLst>
          </a:prstGeom>
          <a:solidFill>
            <a:srgbClr val="1E3A5F"/>
          </a:solidFill>
          <a:ln w="12700">
            <a:solidFill>
              <a:srgbClr val="0D9488"/>
            </a:solidFill>
            <a:prstDash val="solid"/>
          </a:ln>
        </p:spPr>
        <p:txBody>
          <a:bodyPr/>
          <a:lstStyle/>
          <a:p>
            <a:endParaRPr lang="es-AR"/>
          </a:p>
        </p:txBody>
      </p:sp>
      <p:sp>
        <p:nvSpPr>
          <p:cNvPr id="13" name="Text 11"/>
          <p:cNvSpPr/>
          <p:nvPr/>
        </p:nvSpPr>
        <p:spPr>
          <a:xfrm>
            <a:off x="4846320" y="3337560"/>
            <a:ext cx="2011680" cy="347472"/>
          </a:xfrm>
          <a:prstGeom prst="rect">
            <a:avLst/>
          </a:prstGeom>
          <a:noFill/>
          <a:ln/>
        </p:spPr>
        <p:txBody>
          <a:bodyPr wrap="square" lIns="0" tIns="0" rIns="0" bIns="0" rtlCol="0" anchor="ctr"/>
          <a:lstStyle/>
          <a:p>
            <a:pPr marL="0" indent="0" algn="ctr">
              <a:buNone/>
            </a:pPr>
            <a:r>
              <a:rPr lang="en-US" sz="1000" b="1" dirty="0">
                <a:solidFill>
                  <a:srgbClr val="14B8A6"/>
                </a:solidFill>
              </a:rPr>
              <a:t>Blockchain Sepolia</a:t>
            </a:r>
            <a:endParaRPr lang="en-US" sz="1000" dirty="0"/>
          </a:p>
        </p:txBody>
      </p:sp>
      <p:sp>
        <p:nvSpPr>
          <p:cNvPr id="14" name="Shape 12"/>
          <p:cNvSpPr/>
          <p:nvPr/>
        </p:nvSpPr>
        <p:spPr>
          <a:xfrm>
            <a:off x="6995160" y="3337560"/>
            <a:ext cx="2011680" cy="347472"/>
          </a:xfrm>
          <a:prstGeom prst="roundRect">
            <a:avLst>
              <a:gd name="adj" fmla="val 15789"/>
            </a:avLst>
          </a:prstGeom>
          <a:solidFill>
            <a:srgbClr val="1E3A5F"/>
          </a:solidFill>
          <a:ln w="12700">
            <a:solidFill>
              <a:srgbClr val="0D9488"/>
            </a:solidFill>
            <a:prstDash val="solid"/>
          </a:ln>
        </p:spPr>
        <p:txBody>
          <a:bodyPr/>
          <a:lstStyle/>
          <a:p>
            <a:endParaRPr lang="es-AR"/>
          </a:p>
        </p:txBody>
      </p:sp>
      <p:sp>
        <p:nvSpPr>
          <p:cNvPr id="15" name="Text 13"/>
          <p:cNvSpPr/>
          <p:nvPr/>
        </p:nvSpPr>
        <p:spPr>
          <a:xfrm>
            <a:off x="6995160" y="3337560"/>
            <a:ext cx="2011680" cy="347472"/>
          </a:xfrm>
          <a:prstGeom prst="rect">
            <a:avLst/>
          </a:prstGeom>
          <a:noFill/>
          <a:ln/>
        </p:spPr>
        <p:txBody>
          <a:bodyPr wrap="square" lIns="0" tIns="0" rIns="0" bIns="0" rtlCol="0" anchor="ctr"/>
          <a:lstStyle/>
          <a:p>
            <a:pPr marL="0" indent="0" algn="ctr">
              <a:buNone/>
            </a:pPr>
            <a:r>
              <a:rPr lang="en-US" sz="1000" b="1" dirty="0">
                <a:solidFill>
                  <a:srgbClr val="14B8A6"/>
                </a:solidFill>
              </a:rPr>
              <a:t>IA · Recomendación</a:t>
            </a:r>
            <a:endParaRPr lang="en-US" sz="1000" dirty="0"/>
          </a:p>
        </p:txBody>
      </p:sp>
      <p:sp>
        <p:nvSpPr>
          <p:cNvPr id="16" name="Text 14"/>
          <p:cNvSpPr/>
          <p:nvPr/>
        </p:nvSpPr>
        <p:spPr>
          <a:xfrm>
            <a:off x="548640" y="4663440"/>
            <a:ext cx="8046720" cy="274320"/>
          </a:xfrm>
          <a:prstGeom prst="rect">
            <a:avLst/>
          </a:prstGeom>
          <a:noFill/>
          <a:ln/>
        </p:spPr>
        <p:txBody>
          <a:bodyPr wrap="square" rtlCol="0" anchor="ctr"/>
          <a:lstStyle/>
          <a:p>
            <a:pPr marL="0" indent="0" algn="l">
              <a:buNone/>
            </a:pPr>
            <a:r>
              <a:rPr lang="en-US" sz="900" dirty="0">
                <a:solidFill>
                  <a:srgbClr val="94A3B8"/>
                </a:solidFill>
              </a:rPr>
              <a:t>Universidad Champagnat · Teoría de Computación 2 · Junio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274320"/>
            <a:ext cx="1188720" cy="301752"/>
          </a:xfrm>
          <a:prstGeom prst="roundRect">
            <a:avLst>
              <a:gd name="adj" fmla="val 18182"/>
            </a:avLst>
          </a:prstGeom>
          <a:solidFill>
            <a:srgbClr val="0D9488"/>
          </a:solidFill>
          <a:ln w="12700">
            <a:solidFill>
              <a:srgbClr val="0D9488"/>
            </a:solidFill>
            <a:prstDash val="solid"/>
          </a:ln>
        </p:spPr>
        <p:txBody>
          <a:bodyPr/>
          <a:lstStyle/>
          <a:p>
            <a:endParaRPr lang="es-AR"/>
          </a:p>
        </p:txBody>
      </p:sp>
      <p:sp>
        <p:nvSpPr>
          <p:cNvPr id="3" name="Text 1"/>
          <p:cNvSpPr/>
          <p:nvPr/>
        </p:nvSpPr>
        <p:spPr>
          <a:xfrm>
            <a:off x="457200" y="274320"/>
            <a:ext cx="1188720" cy="301752"/>
          </a:xfrm>
          <a:prstGeom prst="rect">
            <a:avLst/>
          </a:prstGeom>
          <a:noFill/>
          <a:ln/>
        </p:spPr>
        <p:txBody>
          <a:bodyPr wrap="square" lIns="0" tIns="0" rIns="0" bIns="0" rtlCol="0" anchor="ctr"/>
          <a:lstStyle/>
          <a:p>
            <a:pPr marL="0" indent="0" algn="ctr">
              <a:buNone/>
            </a:pPr>
            <a:r>
              <a:rPr lang="en-US" sz="900" b="1" dirty="0">
                <a:solidFill>
                  <a:srgbClr val="FFFFFF"/>
                </a:solidFill>
              </a:rPr>
              <a:t>01 · PROBLEMA</a:t>
            </a:r>
            <a:endParaRPr lang="en-US" sz="900" dirty="0"/>
          </a:p>
        </p:txBody>
      </p:sp>
      <p:sp>
        <p:nvSpPr>
          <p:cNvPr id="4" name="Text 2"/>
          <p:cNvSpPr/>
          <p:nvPr/>
        </p:nvSpPr>
        <p:spPr>
          <a:xfrm>
            <a:off x="457200" y="685800"/>
            <a:ext cx="8229600" cy="685800"/>
          </a:xfrm>
          <a:prstGeom prst="rect">
            <a:avLst/>
          </a:prstGeom>
          <a:noFill/>
          <a:ln/>
        </p:spPr>
        <p:txBody>
          <a:bodyPr wrap="square" rtlCol="0" anchor="ctr"/>
          <a:lstStyle/>
          <a:p>
            <a:pPr marL="0" indent="0" algn="l">
              <a:buNone/>
            </a:pPr>
            <a:r>
              <a:rPr lang="en-US" sz="2600" b="1" dirty="0">
                <a:solidFill>
                  <a:srgbClr val="0F172A"/>
                </a:solidFill>
              </a:rPr>
              <a:t>¿Cómo encontrás un tutor cuando más lo necesitás?</a:t>
            </a:r>
            <a:endParaRPr lang="en-US" sz="2600" dirty="0"/>
          </a:p>
        </p:txBody>
      </p:sp>
      <p:sp>
        <p:nvSpPr>
          <p:cNvPr id="5" name="Shape 3"/>
          <p:cNvSpPr/>
          <p:nvPr/>
        </p:nvSpPr>
        <p:spPr>
          <a:xfrm>
            <a:off x="457200" y="1554480"/>
            <a:ext cx="2651760" cy="3017520"/>
          </a:xfrm>
          <a:prstGeom prst="roundRect">
            <a:avLst>
              <a:gd name="adj" fmla="val 3448"/>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6" name="Text 4"/>
          <p:cNvSpPr/>
          <p:nvPr/>
        </p:nvSpPr>
        <p:spPr>
          <a:xfrm>
            <a:off x="457200" y="1691640"/>
            <a:ext cx="2651760" cy="64008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7" name="Text 5"/>
          <p:cNvSpPr/>
          <p:nvPr/>
        </p:nvSpPr>
        <p:spPr>
          <a:xfrm>
            <a:off x="457200" y="2377440"/>
            <a:ext cx="2651760" cy="411480"/>
          </a:xfrm>
          <a:prstGeom prst="rect">
            <a:avLst/>
          </a:prstGeom>
          <a:noFill/>
          <a:ln/>
        </p:spPr>
        <p:txBody>
          <a:bodyPr wrap="square" rtlCol="0" anchor="ctr"/>
          <a:lstStyle/>
          <a:p>
            <a:pPr marL="0" indent="0" algn="ctr">
              <a:buNone/>
            </a:pPr>
            <a:r>
              <a:rPr lang="en-US" sz="1400" b="1" dirty="0">
                <a:solidFill>
                  <a:srgbClr val="0F172A"/>
                </a:solidFill>
              </a:rPr>
              <a:t>Sin visibilidad</a:t>
            </a:r>
            <a:endParaRPr lang="en-US" sz="1400" dirty="0"/>
          </a:p>
        </p:txBody>
      </p:sp>
      <p:sp>
        <p:nvSpPr>
          <p:cNvPr id="8" name="Text 6"/>
          <p:cNvSpPr/>
          <p:nvPr/>
        </p:nvSpPr>
        <p:spPr>
          <a:xfrm>
            <a:off x="594360" y="2834640"/>
            <a:ext cx="2377440" cy="1554480"/>
          </a:xfrm>
          <a:prstGeom prst="rect">
            <a:avLst/>
          </a:prstGeom>
          <a:noFill/>
          <a:ln/>
        </p:spPr>
        <p:txBody>
          <a:bodyPr wrap="square" rtlCol="0" anchor="ctr"/>
          <a:lstStyle/>
          <a:p>
            <a:pPr marL="0" indent="0" algn="ctr">
              <a:lnSpc>
                <a:spcPct val="130000"/>
              </a:lnSpc>
              <a:buNone/>
            </a:pPr>
            <a:r>
              <a:rPr lang="en-US" sz="1150" dirty="0">
                <a:solidFill>
                  <a:srgbClr val="475569"/>
                </a:solidFill>
              </a:rPr>
              <a:t>No existe un espacio centralizado donde alumnos publiquen que saben enseñar una materia.</a:t>
            </a:r>
            <a:endParaRPr lang="en-US" sz="1150" dirty="0"/>
          </a:p>
        </p:txBody>
      </p:sp>
      <p:sp>
        <p:nvSpPr>
          <p:cNvPr id="9" name="Shape 7"/>
          <p:cNvSpPr/>
          <p:nvPr/>
        </p:nvSpPr>
        <p:spPr>
          <a:xfrm>
            <a:off x="3291840" y="1554480"/>
            <a:ext cx="2651760" cy="3017520"/>
          </a:xfrm>
          <a:prstGeom prst="roundRect">
            <a:avLst>
              <a:gd name="adj" fmla="val 3448"/>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10" name="Text 8"/>
          <p:cNvSpPr/>
          <p:nvPr/>
        </p:nvSpPr>
        <p:spPr>
          <a:xfrm>
            <a:off x="3291840" y="1691640"/>
            <a:ext cx="2651760" cy="64008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11" name="Text 9"/>
          <p:cNvSpPr/>
          <p:nvPr/>
        </p:nvSpPr>
        <p:spPr>
          <a:xfrm>
            <a:off x="3291840" y="2377440"/>
            <a:ext cx="2651760" cy="411480"/>
          </a:xfrm>
          <a:prstGeom prst="rect">
            <a:avLst/>
          </a:prstGeom>
          <a:noFill/>
          <a:ln/>
        </p:spPr>
        <p:txBody>
          <a:bodyPr wrap="square" rtlCol="0" anchor="ctr"/>
          <a:lstStyle/>
          <a:p>
            <a:pPr marL="0" indent="0" algn="ctr">
              <a:buNone/>
            </a:pPr>
            <a:r>
              <a:rPr lang="en-US" sz="1400" b="1" dirty="0">
                <a:solidFill>
                  <a:srgbClr val="0F172A"/>
                </a:solidFill>
              </a:rPr>
              <a:t>Coordinación caótica</a:t>
            </a:r>
            <a:endParaRPr lang="en-US" sz="1400" dirty="0"/>
          </a:p>
        </p:txBody>
      </p:sp>
      <p:sp>
        <p:nvSpPr>
          <p:cNvPr id="12" name="Text 10"/>
          <p:cNvSpPr/>
          <p:nvPr/>
        </p:nvSpPr>
        <p:spPr>
          <a:xfrm>
            <a:off x="3429000" y="2834640"/>
            <a:ext cx="2377440" cy="1554480"/>
          </a:xfrm>
          <a:prstGeom prst="rect">
            <a:avLst/>
          </a:prstGeom>
          <a:noFill/>
          <a:ln/>
        </p:spPr>
        <p:txBody>
          <a:bodyPr wrap="square" rtlCol="0" anchor="ctr"/>
          <a:lstStyle/>
          <a:p>
            <a:pPr marL="0" indent="0" algn="ctr">
              <a:lnSpc>
                <a:spcPct val="130000"/>
              </a:lnSpc>
              <a:buNone/>
            </a:pPr>
            <a:r>
              <a:rPr lang="en-US" sz="1150" dirty="0">
                <a:solidFill>
                  <a:srgbClr val="475569"/>
                </a:solidFill>
              </a:rPr>
              <a:t>Los acuerdos se hacen por WhatsApp, sin horarios estructurados ni historial de sesiones.</a:t>
            </a:r>
            <a:endParaRPr lang="en-US" sz="1150" dirty="0"/>
          </a:p>
        </p:txBody>
      </p:sp>
      <p:sp>
        <p:nvSpPr>
          <p:cNvPr id="13" name="Shape 11"/>
          <p:cNvSpPr/>
          <p:nvPr/>
        </p:nvSpPr>
        <p:spPr>
          <a:xfrm>
            <a:off x="6126480" y="1554480"/>
            <a:ext cx="2651760" cy="3017520"/>
          </a:xfrm>
          <a:prstGeom prst="roundRect">
            <a:avLst>
              <a:gd name="adj" fmla="val 3448"/>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14" name="Text 12"/>
          <p:cNvSpPr/>
          <p:nvPr/>
        </p:nvSpPr>
        <p:spPr>
          <a:xfrm>
            <a:off x="6126480" y="1691640"/>
            <a:ext cx="2651760" cy="64008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15" name="Text 13"/>
          <p:cNvSpPr/>
          <p:nvPr/>
        </p:nvSpPr>
        <p:spPr>
          <a:xfrm>
            <a:off x="6126480" y="2377440"/>
            <a:ext cx="2651760" cy="411480"/>
          </a:xfrm>
          <a:prstGeom prst="rect">
            <a:avLst/>
          </a:prstGeom>
          <a:noFill/>
          <a:ln/>
        </p:spPr>
        <p:txBody>
          <a:bodyPr wrap="square" rtlCol="0" anchor="ctr"/>
          <a:lstStyle/>
          <a:p>
            <a:pPr marL="0" indent="0" algn="ctr">
              <a:buNone/>
            </a:pPr>
            <a:r>
              <a:rPr lang="en-US" sz="1400" b="1" dirty="0">
                <a:solidFill>
                  <a:srgbClr val="0F172A"/>
                </a:solidFill>
              </a:rPr>
              <a:t>Sin confianza</a:t>
            </a:r>
            <a:endParaRPr lang="en-US" sz="1400" dirty="0"/>
          </a:p>
        </p:txBody>
      </p:sp>
      <p:sp>
        <p:nvSpPr>
          <p:cNvPr id="16" name="Text 14"/>
          <p:cNvSpPr/>
          <p:nvPr/>
        </p:nvSpPr>
        <p:spPr>
          <a:xfrm>
            <a:off x="6263640" y="2834640"/>
            <a:ext cx="2377440" cy="1554480"/>
          </a:xfrm>
          <a:prstGeom prst="rect">
            <a:avLst/>
          </a:prstGeom>
          <a:noFill/>
          <a:ln/>
        </p:spPr>
        <p:txBody>
          <a:bodyPr wrap="square" rtlCol="0" anchor="ctr"/>
          <a:lstStyle/>
          <a:p>
            <a:pPr marL="0" indent="0" algn="ctr">
              <a:lnSpc>
                <a:spcPct val="130000"/>
              </a:lnSpc>
              <a:buNone/>
            </a:pPr>
            <a:r>
              <a:rPr lang="en-US" sz="1150" dirty="0">
                <a:solidFill>
                  <a:srgbClr val="475569"/>
                </a:solidFill>
              </a:rPr>
              <a:t>No hay verificación de que el tutor realmente curse esa materia ni registro de su reputación.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457200" y="274320"/>
            <a:ext cx="1188720" cy="301752"/>
          </a:xfrm>
          <a:prstGeom prst="roundRect">
            <a:avLst>
              <a:gd name="adj" fmla="val 18182"/>
            </a:avLst>
          </a:prstGeom>
          <a:solidFill>
            <a:srgbClr val="0D9488"/>
          </a:solidFill>
          <a:ln w="12700">
            <a:solidFill>
              <a:srgbClr val="0D9488"/>
            </a:solidFill>
            <a:prstDash val="solid"/>
          </a:ln>
        </p:spPr>
        <p:txBody>
          <a:bodyPr/>
          <a:lstStyle/>
          <a:p>
            <a:endParaRPr lang="es-AR"/>
          </a:p>
        </p:txBody>
      </p:sp>
      <p:sp>
        <p:nvSpPr>
          <p:cNvPr id="3" name="Text 1"/>
          <p:cNvSpPr/>
          <p:nvPr/>
        </p:nvSpPr>
        <p:spPr>
          <a:xfrm>
            <a:off x="457200" y="274320"/>
            <a:ext cx="1188720" cy="301752"/>
          </a:xfrm>
          <a:prstGeom prst="rect">
            <a:avLst/>
          </a:prstGeom>
          <a:noFill/>
          <a:ln/>
        </p:spPr>
        <p:txBody>
          <a:bodyPr wrap="square" lIns="0" tIns="0" rIns="0" bIns="0" rtlCol="0" anchor="ctr"/>
          <a:lstStyle/>
          <a:p>
            <a:pPr marL="0" indent="0" algn="ctr">
              <a:buNone/>
            </a:pPr>
            <a:r>
              <a:rPr lang="en-US" sz="900" b="1" dirty="0">
                <a:solidFill>
                  <a:srgbClr val="FFFFFF"/>
                </a:solidFill>
              </a:rPr>
              <a:t>02 · SOLUCIÓN</a:t>
            </a:r>
            <a:endParaRPr lang="en-US" sz="900" dirty="0"/>
          </a:p>
        </p:txBody>
      </p:sp>
      <p:sp>
        <p:nvSpPr>
          <p:cNvPr id="4" name="Text 2"/>
          <p:cNvSpPr/>
          <p:nvPr/>
        </p:nvSpPr>
        <p:spPr>
          <a:xfrm>
            <a:off x="457200" y="685800"/>
            <a:ext cx="5486400" cy="1005840"/>
          </a:xfrm>
          <a:prstGeom prst="rect">
            <a:avLst/>
          </a:prstGeom>
          <a:noFill/>
          <a:ln/>
        </p:spPr>
        <p:txBody>
          <a:bodyPr wrap="square" rtlCol="0" anchor="ctr"/>
          <a:lstStyle/>
          <a:p>
            <a:pPr marL="0" indent="0">
              <a:lnSpc>
                <a:spcPct val="130000"/>
              </a:lnSpc>
              <a:buNone/>
            </a:pPr>
            <a:r>
              <a:rPr lang="en-US" sz="2600" b="1" dirty="0">
                <a:solidFill>
                  <a:srgbClr val="FFFFFF"/>
                </a:solidFill>
              </a:rPr>
              <a:t>SkillSwap: el marketplace</a:t>
            </a:r>
            <a:endParaRPr lang="en-US" sz="2600" dirty="0"/>
          </a:p>
          <a:p>
            <a:pPr marL="0" indent="0">
              <a:lnSpc>
                <a:spcPct val="130000"/>
              </a:lnSpc>
              <a:buNone/>
            </a:pPr>
            <a:r>
              <a:rPr lang="en-US" sz="2600" b="1" dirty="0">
                <a:solidFill>
                  <a:srgbClr val="FFFFFF"/>
                </a:solidFill>
              </a:rPr>
              <a:t>de tutorías universitarias.</a:t>
            </a:r>
            <a:endParaRPr lang="en-US" sz="2600" dirty="0"/>
          </a:p>
        </p:txBody>
      </p:sp>
      <p:sp>
        <p:nvSpPr>
          <p:cNvPr id="5" name="Text 3"/>
          <p:cNvSpPr/>
          <p:nvPr/>
        </p:nvSpPr>
        <p:spPr>
          <a:xfrm>
            <a:off x="457200" y="1783080"/>
            <a:ext cx="4754880" cy="429768"/>
          </a:xfrm>
          <a:prstGeom prst="rect">
            <a:avLst/>
          </a:prstGeom>
          <a:noFill/>
          <a:ln/>
        </p:spPr>
        <p:txBody>
          <a:bodyPr wrap="square" rtlCol="0" anchor="ctr"/>
          <a:lstStyle/>
          <a:p>
            <a:pPr marL="0" indent="0">
              <a:buNone/>
            </a:pPr>
            <a:r>
              <a:rPr lang="en-US" sz="1250" dirty="0">
                <a:solidFill>
                  <a:srgbClr val="CCFBF1"/>
                </a:solidFill>
              </a:rPr>
              <a:t>🔍  Buscá tutores por materia y área</a:t>
            </a:r>
            <a:endParaRPr lang="en-US" sz="1250" dirty="0"/>
          </a:p>
        </p:txBody>
      </p:sp>
      <p:sp>
        <p:nvSpPr>
          <p:cNvPr id="6" name="Text 4"/>
          <p:cNvSpPr/>
          <p:nvPr/>
        </p:nvSpPr>
        <p:spPr>
          <a:xfrm>
            <a:off x="457200" y="2258568"/>
            <a:ext cx="4754880" cy="429768"/>
          </a:xfrm>
          <a:prstGeom prst="rect">
            <a:avLst/>
          </a:prstGeom>
          <a:noFill/>
          <a:ln/>
        </p:spPr>
        <p:txBody>
          <a:bodyPr wrap="square" rtlCol="0" anchor="ctr"/>
          <a:lstStyle/>
          <a:p>
            <a:pPr marL="0" indent="0">
              <a:buNone/>
            </a:pPr>
            <a:r>
              <a:rPr lang="en-US" sz="1250" dirty="0">
                <a:solidFill>
                  <a:srgbClr val="E2E8F0"/>
                </a:solidFill>
              </a:rPr>
              <a:t>📆  Horarios disponibles en tiempo real</a:t>
            </a:r>
            <a:endParaRPr lang="en-US" sz="1250" dirty="0"/>
          </a:p>
        </p:txBody>
      </p:sp>
      <p:sp>
        <p:nvSpPr>
          <p:cNvPr id="7" name="Text 5"/>
          <p:cNvSpPr/>
          <p:nvPr/>
        </p:nvSpPr>
        <p:spPr>
          <a:xfrm>
            <a:off x="457200" y="2734056"/>
            <a:ext cx="4754880" cy="429768"/>
          </a:xfrm>
          <a:prstGeom prst="rect">
            <a:avLst/>
          </a:prstGeom>
          <a:noFill/>
          <a:ln/>
        </p:spPr>
        <p:txBody>
          <a:bodyPr wrap="square" rtlCol="0" anchor="ctr"/>
          <a:lstStyle/>
          <a:p>
            <a:pPr marL="0" indent="0">
              <a:buNone/>
            </a:pPr>
            <a:r>
              <a:rPr lang="en-US" sz="1250" dirty="0">
                <a:solidFill>
                  <a:srgbClr val="CCFBF1"/>
                </a:solidFill>
              </a:rPr>
              <a:t>💬  Chat integrado por sesión aceptada</a:t>
            </a:r>
            <a:endParaRPr lang="en-US" sz="1250" dirty="0"/>
          </a:p>
        </p:txBody>
      </p:sp>
      <p:sp>
        <p:nvSpPr>
          <p:cNvPr id="8" name="Text 6"/>
          <p:cNvSpPr/>
          <p:nvPr/>
        </p:nvSpPr>
        <p:spPr>
          <a:xfrm>
            <a:off x="457200" y="3209544"/>
            <a:ext cx="4754880" cy="429768"/>
          </a:xfrm>
          <a:prstGeom prst="rect">
            <a:avLst/>
          </a:prstGeom>
          <a:noFill/>
          <a:ln/>
        </p:spPr>
        <p:txBody>
          <a:bodyPr wrap="square" rtlCol="0" anchor="ctr"/>
          <a:lstStyle/>
          <a:p>
            <a:pPr marL="0" indent="0">
              <a:buNone/>
            </a:pPr>
            <a:r>
              <a:rPr lang="en-US" sz="1250" dirty="0">
                <a:solidFill>
                  <a:srgbClr val="E2E8F0"/>
                </a:solidFill>
              </a:rPr>
              <a:t>⭐  Calificaciones y reseñas verificadas</a:t>
            </a:r>
            <a:endParaRPr lang="en-US" sz="1250" dirty="0"/>
          </a:p>
        </p:txBody>
      </p:sp>
      <p:sp>
        <p:nvSpPr>
          <p:cNvPr id="9" name="Text 7"/>
          <p:cNvSpPr/>
          <p:nvPr/>
        </p:nvSpPr>
        <p:spPr>
          <a:xfrm>
            <a:off x="457200" y="3685032"/>
            <a:ext cx="4754880" cy="429768"/>
          </a:xfrm>
          <a:prstGeom prst="rect">
            <a:avLst/>
          </a:prstGeom>
          <a:noFill/>
          <a:ln/>
        </p:spPr>
        <p:txBody>
          <a:bodyPr wrap="square" rtlCol="0" anchor="ctr"/>
          <a:lstStyle/>
          <a:p>
            <a:pPr marL="0" indent="0">
              <a:buNone/>
            </a:pPr>
            <a:r>
              <a:rPr lang="en-US" sz="1250" dirty="0">
                <a:solidFill>
                  <a:srgbClr val="CCFBF1"/>
                </a:solidFill>
              </a:rPr>
              <a:t>🛡️   Denuncias gestionadas por admin</a:t>
            </a:r>
            <a:endParaRPr lang="en-US" sz="1250" dirty="0"/>
          </a:p>
        </p:txBody>
      </p:sp>
      <p:sp>
        <p:nvSpPr>
          <p:cNvPr id="10" name="Text 8"/>
          <p:cNvSpPr/>
          <p:nvPr/>
        </p:nvSpPr>
        <p:spPr>
          <a:xfrm>
            <a:off x="457200" y="4160520"/>
            <a:ext cx="4754880" cy="429768"/>
          </a:xfrm>
          <a:prstGeom prst="rect">
            <a:avLst/>
          </a:prstGeom>
          <a:noFill/>
          <a:ln/>
        </p:spPr>
        <p:txBody>
          <a:bodyPr wrap="square" rtlCol="0" anchor="ctr"/>
          <a:lstStyle/>
          <a:p>
            <a:pPr marL="0" indent="0">
              <a:buNone/>
            </a:pPr>
            <a:r>
              <a:rPr lang="en-US" sz="1250" dirty="0">
                <a:solidFill>
                  <a:srgbClr val="E2E8F0"/>
                </a:solidFill>
              </a:rPr>
              <a:t>💰  Pago simbólico registrado en Blockchain</a:t>
            </a:r>
            <a:endParaRPr lang="en-US" sz="1250" dirty="0"/>
          </a:p>
        </p:txBody>
      </p:sp>
      <p:sp>
        <p:nvSpPr>
          <p:cNvPr id="11" name="Shape 9"/>
          <p:cNvSpPr/>
          <p:nvPr/>
        </p:nvSpPr>
        <p:spPr>
          <a:xfrm>
            <a:off x="5394960" y="731520"/>
            <a:ext cx="3474720" cy="4114800"/>
          </a:xfrm>
          <a:prstGeom prst="roundRect">
            <a:avLst>
              <a:gd name="adj" fmla="val 4737"/>
            </a:avLst>
          </a:prstGeom>
          <a:solidFill>
            <a:srgbClr val="1E3A5F"/>
          </a:solidFill>
          <a:ln w="19050">
            <a:solidFill>
              <a:srgbClr val="0D9488"/>
            </a:solidFill>
            <a:prstDash val="solid"/>
          </a:ln>
          <a:effectLst>
            <a:outerShdw blurRad="101600" dist="38100" dir="2700000" algn="bl" rotWithShape="0">
              <a:srgbClr val="000000">
                <a:alpha val="18000"/>
              </a:srgbClr>
            </a:outerShdw>
          </a:effectLst>
        </p:spPr>
        <p:txBody>
          <a:bodyPr/>
          <a:lstStyle/>
          <a:p>
            <a:endParaRPr lang="es-AR"/>
          </a:p>
        </p:txBody>
      </p:sp>
      <p:sp>
        <p:nvSpPr>
          <p:cNvPr id="12" name="Text 10"/>
          <p:cNvSpPr/>
          <p:nvPr/>
        </p:nvSpPr>
        <p:spPr>
          <a:xfrm>
            <a:off x="5394960" y="822960"/>
            <a:ext cx="3474720" cy="365760"/>
          </a:xfrm>
          <a:prstGeom prst="rect">
            <a:avLst/>
          </a:prstGeom>
          <a:noFill/>
          <a:ln/>
        </p:spPr>
        <p:txBody>
          <a:bodyPr wrap="square" rtlCol="0" anchor="ctr"/>
          <a:lstStyle/>
          <a:p>
            <a:pPr marL="0" indent="0" algn="ctr">
              <a:buNone/>
            </a:pPr>
            <a:r>
              <a:rPr lang="en-US" sz="1000" b="1" dirty="0">
                <a:solidFill>
                  <a:srgbClr val="0D9488"/>
                </a:solidFill>
              </a:rPr>
              <a:t>SKILLSWAP</a:t>
            </a:r>
            <a:endParaRPr lang="en-US" sz="1000" dirty="0"/>
          </a:p>
        </p:txBody>
      </p:sp>
      <p:sp>
        <p:nvSpPr>
          <p:cNvPr id="13" name="Shape 11"/>
          <p:cNvSpPr/>
          <p:nvPr/>
        </p:nvSpPr>
        <p:spPr>
          <a:xfrm>
            <a:off x="5577840" y="1325880"/>
            <a:ext cx="3108960" cy="822960"/>
          </a:xfrm>
          <a:prstGeom prst="roundRect">
            <a:avLst>
              <a:gd name="adj" fmla="val 8889"/>
            </a:avLst>
          </a:prstGeom>
          <a:solidFill>
            <a:srgbClr val="1E3A5F"/>
          </a:solidFill>
          <a:ln w="12700">
            <a:solidFill>
              <a:srgbClr val="0D9488"/>
            </a:solidFill>
            <a:prstDash val="solid"/>
          </a:ln>
        </p:spPr>
        <p:txBody>
          <a:bodyPr/>
          <a:lstStyle/>
          <a:p>
            <a:endParaRPr lang="es-AR"/>
          </a:p>
        </p:txBody>
      </p:sp>
      <p:sp>
        <p:nvSpPr>
          <p:cNvPr id="14" name="Text 12"/>
          <p:cNvSpPr/>
          <p:nvPr/>
        </p:nvSpPr>
        <p:spPr>
          <a:xfrm>
            <a:off x="5669280" y="1380744"/>
            <a:ext cx="2926080" cy="274320"/>
          </a:xfrm>
          <a:prstGeom prst="rect">
            <a:avLst/>
          </a:prstGeom>
          <a:noFill/>
          <a:ln/>
        </p:spPr>
        <p:txBody>
          <a:bodyPr wrap="square" rtlCol="0" anchor="ctr"/>
          <a:lstStyle/>
          <a:p>
            <a:pPr marL="0" indent="0">
              <a:buNone/>
            </a:pPr>
            <a:r>
              <a:rPr lang="en-US" sz="1100" b="1" dirty="0">
                <a:solidFill>
                  <a:srgbClr val="FFFFFF"/>
                </a:solidFill>
              </a:rPr>
              <a:t>María G.</a:t>
            </a:r>
            <a:endParaRPr lang="en-US" sz="1100" dirty="0"/>
          </a:p>
        </p:txBody>
      </p:sp>
      <p:sp>
        <p:nvSpPr>
          <p:cNvPr id="15" name="Text 13"/>
          <p:cNvSpPr/>
          <p:nvPr/>
        </p:nvSpPr>
        <p:spPr>
          <a:xfrm>
            <a:off x="5669280" y="1764792"/>
            <a:ext cx="2926080" cy="256032"/>
          </a:xfrm>
          <a:prstGeom prst="rect">
            <a:avLst/>
          </a:prstGeom>
          <a:noFill/>
          <a:ln/>
        </p:spPr>
        <p:txBody>
          <a:bodyPr wrap="square" rtlCol="0" anchor="ctr"/>
          <a:lstStyle/>
          <a:p>
            <a:pPr marL="0" indent="0">
              <a:buNone/>
            </a:pPr>
            <a:r>
              <a:rPr lang="en-US" sz="950" dirty="0">
                <a:solidFill>
                  <a:srgbClr val="94A3B8"/>
                </a:solidFill>
              </a:rPr>
              <a:t>Cálculo I  ★★★★★</a:t>
            </a:r>
            <a:endParaRPr lang="en-US" sz="950" dirty="0"/>
          </a:p>
        </p:txBody>
      </p:sp>
      <p:sp>
        <p:nvSpPr>
          <p:cNvPr id="16" name="Shape 14"/>
          <p:cNvSpPr/>
          <p:nvPr/>
        </p:nvSpPr>
        <p:spPr>
          <a:xfrm>
            <a:off x="5577840" y="2331720"/>
            <a:ext cx="3108960" cy="822960"/>
          </a:xfrm>
          <a:prstGeom prst="roundRect">
            <a:avLst>
              <a:gd name="adj" fmla="val 8889"/>
            </a:avLst>
          </a:prstGeom>
          <a:solidFill>
            <a:srgbClr val="1E3A5F"/>
          </a:solidFill>
          <a:ln w="12700">
            <a:solidFill>
              <a:srgbClr val="0D9488"/>
            </a:solidFill>
            <a:prstDash val="solid"/>
          </a:ln>
        </p:spPr>
        <p:txBody>
          <a:bodyPr/>
          <a:lstStyle/>
          <a:p>
            <a:endParaRPr lang="es-AR"/>
          </a:p>
        </p:txBody>
      </p:sp>
      <p:sp>
        <p:nvSpPr>
          <p:cNvPr id="17" name="Text 15"/>
          <p:cNvSpPr/>
          <p:nvPr/>
        </p:nvSpPr>
        <p:spPr>
          <a:xfrm>
            <a:off x="5669280" y="2386584"/>
            <a:ext cx="2926080" cy="274320"/>
          </a:xfrm>
          <a:prstGeom prst="rect">
            <a:avLst/>
          </a:prstGeom>
          <a:noFill/>
          <a:ln/>
        </p:spPr>
        <p:txBody>
          <a:bodyPr wrap="square" rtlCol="0" anchor="ctr"/>
          <a:lstStyle/>
          <a:p>
            <a:pPr marL="0" indent="0">
              <a:buNone/>
            </a:pPr>
            <a:r>
              <a:rPr lang="en-US" sz="1100" b="1" dirty="0">
                <a:solidFill>
                  <a:srgbClr val="FFFFFF"/>
                </a:solidFill>
              </a:rPr>
              <a:t>Lucas P.</a:t>
            </a:r>
            <a:endParaRPr lang="en-US" sz="1100" dirty="0"/>
          </a:p>
        </p:txBody>
      </p:sp>
      <p:sp>
        <p:nvSpPr>
          <p:cNvPr id="18" name="Text 16"/>
          <p:cNvSpPr/>
          <p:nvPr/>
        </p:nvSpPr>
        <p:spPr>
          <a:xfrm>
            <a:off x="5669280" y="2770632"/>
            <a:ext cx="2926080" cy="256032"/>
          </a:xfrm>
          <a:prstGeom prst="rect">
            <a:avLst/>
          </a:prstGeom>
          <a:noFill/>
          <a:ln/>
        </p:spPr>
        <p:txBody>
          <a:bodyPr wrap="square" rtlCol="0" anchor="ctr"/>
          <a:lstStyle/>
          <a:p>
            <a:pPr marL="0" indent="0">
              <a:buNone/>
            </a:pPr>
            <a:r>
              <a:rPr lang="en-US" sz="950" dirty="0">
                <a:solidFill>
                  <a:srgbClr val="94A3B8"/>
                </a:solidFill>
              </a:rPr>
              <a:t>Prog. II  ★★★★☆</a:t>
            </a:r>
            <a:endParaRPr lang="en-US" sz="950" dirty="0"/>
          </a:p>
        </p:txBody>
      </p:sp>
      <p:sp>
        <p:nvSpPr>
          <p:cNvPr id="19" name="Shape 17"/>
          <p:cNvSpPr/>
          <p:nvPr/>
        </p:nvSpPr>
        <p:spPr>
          <a:xfrm>
            <a:off x="5577840" y="3337560"/>
            <a:ext cx="3108960" cy="822960"/>
          </a:xfrm>
          <a:prstGeom prst="roundRect">
            <a:avLst>
              <a:gd name="adj" fmla="val 8889"/>
            </a:avLst>
          </a:prstGeom>
          <a:solidFill>
            <a:srgbClr val="1E3A5F"/>
          </a:solidFill>
          <a:ln w="12700">
            <a:solidFill>
              <a:srgbClr val="0D9488"/>
            </a:solidFill>
            <a:prstDash val="solid"/>
          </a:ln>
        </p:spPr>
        <p:txBody>
          <a:bodyPr/>
          <a:lstStyle/>
          <a:p>
            <a:endParaRPr lang="es-AR"/>
          </a:p>
        </p:txBody>
      </p:sp>
      <p:sp>
        <p:nvSpPr>
          <p:cNvPr id="20" name="Text 18"/>
          <p:cNvSpPr/>
          <p:nvPr/>
        </p:nvSpPr>
        <p:spPr>
          <a:xfrm>
            <a:off x="5669280" y="3392424"/>
            <a:ext cx="2926080" cy="274320"/>
          </a:xfrm>
          <a:prstGeom prst="rect">
            <a:avLst/>
          </a:prstGeom>
          <a:noFill/>
          <a:ln/>
        </p:spPr>
        <p:txBody>
          <a:bodyPr wrap="square" rtlCol="0" anchor="ctr"/>
          <a:lstStyle/>
          <a:p>
            <a:pPr marL="0" indent="0">
              <a:buNone/>
            </a:pPr>
            <a:r>
              <a:rPr lang="en-US" sz="1100" b="1" dirty="0">
                <a:solidFill>
                  <a:srgbClr val="FFFFFF"/>
                </a:solidFill>
              </a:rPr>
              <a:t>Sofía R.</a:t>
            </a:r>
            <a:endParaRPr lang="en-US" sz="1100" dirty="0"/>
          </a:p>
        </p:txBody>
      </p:sp>
      <p:sp>
        <p:nvSpPr>
          <p:cNvPr id="21" name="Text 19"/>
          <p:cNvSpPr/>
          <p:nvPr/>
        </p:nvSpPr>
        <p:spPr>
          <a:xfrm>
            <a:off x="5669280" y="3776472"/>
            <a:ext cx="2926080" cy="256032"/>
          </a:xfrm>
          <a:prstGeom prst="rect">
            <a:avLst/>
          </a:prstGeom>
          <a:noFill/>
          <a:ln/>
        </p:spPr>
        <p:txBody>
          <a:bodyPr wrap="square" rtlCol="0" anchor="ctr"/>
          <a:lstStyle/>
          <a:p>
            <a:pPr marL="0" indent="0">
              <a:buNone/>
            </a:pPr>
            <a:r>
              <a:rPr lang="en-US" sz="950" dirty="0">
                <a:solidFill>
                  <a:srgbClr val="94A3B8"/>
                </a:solidFill>
              </a:rPr>
              <a:t>BD I  ★★★★★</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274320"/>
            <a:ext cx="1371600" cy="301752"/>
          </a:xfrm>
          <a:prstGeom prst="roundRect">
            <a:avLst>
              <a:gd name="adj" fmla="val 18182"/>
            </a:avLst>
          </a:prstGeom>
          <a:solidFill>
            <a:srgbClr val="0D9488"/>
          </a:solidFill>
          <a:ln w="12700">
            <a:solidFill>
              <a:srgbClr val="0D9488"/>
            </a:solidFill>
            <a:prstDash val="solid"/>
          </a:ln>
        </p:spPr>
        <p:txBody>
          <a:bodyPr/>
          <a:lstStyle/>
          <a:p>
            <a:endParaRPr lang="es-AR"/>
          </a:p>
        </p:txBody>
      </p:sp>
      <p:sp>
        <p:nvSpPr>
          <p:cNvPr id="3" name="Text 1"/>
          <p:cNvSpPr/>
          <p:nvPr/>
        </p:nvSpPr>
        <p:spPr>
          <a:xfrm>
            <a:off x="457200" y="274320"/>
            <a:ext cx="1371600" cy="301752"/>
          </a:xfrm>
          <a:prstGeom prst="rect">
            <a:avLst/>
          </a:prstGeom>
          <a:noFill/>
          <a:ln/>
        </p:spPr>
        <p:txBody>
          <a:bodyPr wrap="square" lIns="0" tIns="0" rIns="0" bIns="0" rtlCol="0" anchor="ctr"/>
          <a:lstStyle/>
          <a:p>
            <a:pPr marL="0" indent="0" algn="ctr">
              <a:buNone/>
            </a:pPr>
            <a:r>
              <a:rPr lang="en-US" sz="900" b="1" dirty="0">
                <a:solidFill>
                  <a:srgbClr val="FFFFFF"/>
                </a:solidFill>
              </a:rPr>
              <a:t>03 · CÓMO FUNCIONA</a:t>
            </a:r>
            <a:endParaRPr lang="en-US" sz="900" dirty="0"/>
          </a:p>
        </p:txBody>
      </p:sp>
      <p:sp>
        <p:nvSpPr>
          <p:cNvPr id="4" name="Text 2"/>
          <p:cNvSpPr/>
          <p:nvPr/>
        </p:nvSpPr>
        <p:spPr>
          <a:xfrm>
            <a:off x="457200" y="685800"/>
            <a:ext cx="8229600" cy="548640"/>
          </a:xfrm>
          <a:prstGeom prst="rect">
            <a:avLst/>
          </a:prstGeom>
          <a:noFill/>
          <a:ln/>
        </p:spPr>
        <p:txBody>
          <a:bodyPr wrap="square" rtlCol="0" anchor="ctr"/>
          <a:lstStyle/>
          <a:p>
            <a:pPr marL="0" indent="0">
              <a:buNone/>
            </a:pPr>
            <a:r>
              <a:rPr lang="en-US" sz="2600" b="1" dirty="0">
                <a:solidFill>
                  <a:srgbClr val="0F172A"/>
                </a:solidFill>
              </a:rPr>
              <a:t>Tres pasos, una tutoría.</a:t>
            </a:r>
            <a:endParaRPr lang="en-US" sz="2600" dirty="0"/>
          </a:p>
        </p:txBody>
      </p:sp>
      <p:sp>
        <p:nvSpPr>
          <p:cNvPr id="5" name="Shape 3"/>
          <p:cNvSpPr/>
          <p:nvPr/>
        </p:nvSpPr>
        <p:spPr>
          <a:xfrm>
            <a:off x="457200" y="1371600"/>
            <a:ext cx="2651760" cy="3383280"/>
          </a:xfrm>
          <a:prstGeom prst="roundRect">
            <a:avLst>
              <a:gd name="adj" fmla="val 4138"/>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6" name="Text 4"/>
          <p:cNvSpPr/>
          <p:nvPr/>
        </p:nvSpPr>
        <p:spPr>
          <a:xfrm>
            <a:off x="457200" y="1463040"/>
            <a:ext cx="2651760" cy="548640"/>
          </a:xfrm>
          <a:prstGeom prst="rect">
            <a:avLst/>
          </a:prstGeom>
          <a:noFill/>
          <a:ln/>
        </p:spPr>
        <p:txBody>
          <a:bodyPr wrap="square" rtlCol="0" anchor="ctr"/>
          <a:lstStyle/>
          <a:p>
            <a:pPr marL="0" indent="0" algn="ctr">
              <a:buNone/>
            </a:pPr>
            <a:r>
              <a:rPr lang="en-US" sz="2800" b="1" dirty="0">
                <a:solidFill>
                  <a:srgbClr val="0D9488"/>
                </a:solidFill>
              </a:rPr>
              <a:t>01</a:t>
            </a:r>
            <a:endParaRPr lang="en-US" sz="2800" dirty="0"/>
          </a:p>
        </p:txBody>
      </p:sp>
      <p:sp>
        <p:nvSpPr>
          <p:cNvPr id="7" name="Text 5"/>
          <p:cNvSpPr/>
          <p:nvPr/>
        </p:nvSpPr>
        <p:spPr>
          <a:xfrm>
            <a:off x="457200" y="2011680"/>
            <a:ext cx="2651760" cy="5486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8" name="Text 6"/>
          <p:cNvSpPr/>
          <p:nvPr/>
        </p:nvSpPr>
        <p:spPr>
          <a:xfrm>
            <a:off x="548640" y="2606040"/>
            <a:ext cx="2468880" cy="411480"/>
          </a:xfrm>
          <a:prstGeom prst="rect">
            <a:avLst/>
          </a:prstGeom>
          <a:noFill/>
          <a:ln/>
        </p:spPr>
        <p:txBody>
          <a:bodyPr wrap="square" rtlCol="0" anchor="ctr"/>
          <a:lstStyle/>
          <a:p>
            <a:pPr marL="0" indent="0" algn="ctr">
              <a:buNone/>
            </a:pPr>
            <a:r>
              <a:rPr lang="en-US" sz="1400" b="1" dirty="0">
                <a:solidFill>
                  <a:srgbClr val="0F172A"/>
                </a:solidFill>
              </a:rPr>
              <a:t>Registrarse</a:t>
            </a:r>
            <a:endParaRPr lang="en-US" sz="1400" dirty="0"/>
          </a:p>
        </p:txBody>
      </p:sp>
      <p:sp>
        <p:nvSpPr>
          <p:cNvPr id="9" name="Text 7"/>
          <p:cNvSpPr/>
          <p:nvPr/>
        </p:nvSpPr>
        <p:spPr>
          <a:xfrm>
            <a:off x="594360" y="3063240"/>
            <a:ext cx="2377440" cy="1508760"/>
          </a:xfrm>
          <a:prstGeom prst="rect">
            <a:avLst/>
          </a:prstGeom>
          <a:noFill/>
          <a:ln/>
        </p:spPr>
        <p:txBody>
          <a:bodyPr wrap="square" rtlCol="0" anchor="ctr"/>
          <a:lstStyle/>
          <a:p>
            <a:pPr marL="0" indent="0" algn="ctr">
              <a:lnSpc>
                <a:spcPct val="135000"/>
              </a:lnSpc>
              <a:buNone/>
            </a:pPr>
            <a:r>
              <a:rPr lang="en-US" sz="1100" dirty="0">
                <a:solidFill>
                  <a:srgbClr val="475569"/>
                </a:solidFill>
              </a:rPr>
              <a:t>El alumno se crea cuenta.</a:t>
            </a:r>
            <a:endParaRPr lang="en-US" sz="1100" dirty="0"/>
          </a:p>
          <a:p>
            <a:pPr marL="0" indent="0" algn="ctr">
              <a:lnSpc>
                <a:spcPct val="135000"/>
              </a:lnSpc>
              <a:buNone/>
            </a:pPr>
            <a:r>
              <a:rPr lang="en-US" sz="1100" dirty="0">
                <a:solidFill>
                  <a:srgbClr val="475569"/>
                </a:solidFill>
              </a:rPr>
              <a:t>El tutor sube su certificado y queda pendiente de aprobación por admin.</a:t>
            </a:r>
            <a:endParaRPr lang="en-US" sz="1100" dirty="0"/>
          </a:p>
        </p:txBody>
      </p:sp>
      <p:sp>
        <p:nvSpPr>
          <p:cNvPr id="10" name="Shape 8"/>
          <p:cNvSpPr/>
          <p:nvPr/>
        </p:nvSpPr>
        <p:spPr>
          <a:xfrm>
            <a:off x="3291840" y="1371600"/>
            <a:ext cx="2651760" cy="3383280"/>
          </a:xfrm>
          <a:prstGeom prst="roundRect">
            <a:avLst>
              <a:gd name="adj" fmla="val 4138"/>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11" name="Text 9"/>
          <p:cNvSpPr/>
          <p:nvPr/>
        </p:nvSpPr>
        <p:spPr>
          <a:xfrm>
            <a:off x="3291840" y="1463040"/>
            <a:ext cx="2651760" cy="548640"/>
          </a:xfrm>
          <a:prstGeom prst="rect">
            <a:avLst/>
          </a:prstGeom>
          <a:noFill/>
          <a:ln/>
        </p:spPr>
        <p:txBody>
          <a:bodyPr wrap="square" rtlCol="0" anchor="ctr"/>
          <a:lstStyle/>
          <a:p>
            <a:pPr marL="0" indent="0" algn="ctr">
              <a:buNone/>
            </a:pPr>
            <a:r>
              <a:rPr lang="en-US" sz="2800" b="1" dirty="0">
                <a:solidFill>
                  <a:srgbClr val="0D9488"/>
                </a:solidFill>
              </a:rPr>
              <a:t>02</a:t>
            </a:r>
            <a:endParaRPr lang="en-US" sz="2800" dirty="0"/>
          </a:p>
        </p:txBody>
      </p:sp>
      <p:sp>
        <p:nvSpPr>
          <p:cNvPr id="12" name="Text 10"/>
          <p:cNvSpPr/>
          <p:nvPr/>
        </p:nvSpPr>
        <p:spPr>
          <a:xfrm>
            <a:off x="3291840" y="2011680"/>
            <a:ext cx="2651760" cy="5486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3" name="Text 11"/>
          <p:cNvSpPr/>
          <p:nvPr/>
        </p:nvSpPr>
        <p:spPr>
          <a:xfrm>
            <a:off x="3383280" y="2606040"/>
            <a:ext cx="2468880" cy="411480"/>
          </a:xfrm>
          <a:prstGeom prst="rect">
            <a:avLst/>
          </a:prstGeom>
          <a:noFill/>
          <a:ln/>
        </p:spPr>
        <p:txBody>
          <a:bodyPr wrap="square" rtlCol="0" anchor="ctr"/>
          <a:lstStyle/>
          <a:p>
            <a:pPr marL="0" indent="0" algn="ctr">
              <a:buNone/>
            </a:pPr>
            <a:r>
              <a:rPr lang="en-US" sz="1400" b="1" dirty="0">
                <a:solidFill>
                  <a:srgbClr val="0F172A"/>
                </a:solidFill>
              </a:rPr>
              <a:t>Buscar &amp; Solicitar</a:t>
            </a:r>
            <a:endParaRPr lang="en-US" sz="1400" dirty="0"/>
          </a:p>
        </p:txBody>
      </p:sp>
      <p:sp>
        <p:nvSpPr>
          <p:cNvPr id="14" name="Text 12"/>
          <p:cNvSpPr/>
          <p:nvPr/>
        </p:nvSpPr>
        <p:spPr>
          <a:xfrm>
            <a:off x="3429000" y="3063240"/>
            <a:ext cx="2377440" cy="1508760"/>
          </a:xfrm>
          <a:prstGeom prst="rect">
            <a:avLst/>
          </a:prstGeom>
          <a:noFill/>
          <a:ln/>
        </p:spPr>
        <p:txBody>
          <a:bodyPr wrap="square" rtlCol="0" anchor="ctr"/>
          <a:lstStyle/>
          <a:p>
            <a:pPr marL="0" indent="0" algn="ctr">
              <a:lnSpc>
                <a:spcPct val="135000"/>
              </a:lnSpc>
              <a:buNone/>
            </a:pPr>
            <a:r>
              <a:rPr lang="en-US" sz="1100" dirty="0">
                <a:solidFill>
                  <a:srgbClr val="475569"/>
                </a:solidFill>
              </a:rPr>
              <a:t>El alumno filtra tutores por materia, ve su disponibilidad y manda una solicitud con mensaje.</a:t>
            </a:r>
            <a:endParaRPr lang="en-US" sz="1100" dirty="0"/>
          </a:p>
        </p:txBody>
      </p:sp>
      <p:sp>
        <p:nvSpPr>
          <p:cNvPr id="15" name="Shape 13"/>
          <p:cNvSpPr/>
          <p:nvPr/>
        </p:nvSpPr>
        <p:spPr>
          <a:xfrm>
            <a:off x="6126480" y="1371600"/>
            <a:ext cx="2651760" cy="3383280"/>
          </a:xfrm>
          <a:prstGeom prst="roundRect">
            <a:avLst>
              <a:gd name="adj" fmla="val 4138"/>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16" name="Text 14"/>
          <p:cNvSpPr/>
          <p:nvPr/>
        </p:nvSpPr>
        <p:spPr>
          <a:xfrm>
            <a:off x="6126480" y="1463040"/>
            <a:ext cx="2651760" cy="548640"/>
          </a:xfrm>
          <a:prstGeom prst="rect">
            <a:avLst/>
          </a:prstGeom>
          <a:noFill/>
          <a:ln/>
        </p:spPr>
        <p:txBody>
          <a:bodyPr wrap="square" rtlCol="0" anchor="ctr"/>
          <a:lstStyle/>
          <a:p>
            <a:pPr marL="0" indent="0" algn="ctr">
              <a:buNone/>
            </a:pPr>
            <a:r>
              <a:rPr lang="en-US" sz="2800" b="1" dirty="0">
                <a:solidFill>
                  <a:srgbClr val="0D9488"/>
                </a:solidFill>
              </a:rPr>
              <a:t>03</a:t>
            </a:r>
            <a:endParaRPr lang="en-US" sz="2800" dirty="0"/>
          </a:p>
        </p:txBody>
      </p:sp>
      <p:sp>
        <p:nvSpPr>
          <p:cNvPr id="17" name="Text 15"/>
          <p:cNvSpPr/>
          <p:nvPr/>
        </p:nvSpPr>
        <p:spPr>
          <a:xfrm>
            <a:off x="6126480" y="2011680"/>
            <a:ext cx="2651760" cy="5486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8" name="Text 16"/>
          <p:cNvSpPr/>
          <p:nvPr/>
        </p:nvSpPr>
        <p:spPr>
          <a:xfrm>
            <a:off x="6217920" y="2606040"/>
            <a:ext cx="2468880" cy="411480"/>
          </a:xfrm>
          <a:prstGeom prst="rect">
            <a:avLst/>
          </a:prstGeom>
          <a:noFill/>
          <a:ln/>
        </p:spPr>
        <p:txBody>
          <a:bodyPr wrap="square" rtlCol="0" anchor="ctr"/>
          <a:lstStyle/>
          <a:p>
            <a:pPr marL="0" indent="0" algn="ctr">
              <a:buNone/>
            </a:pPr>
            <a:r>
              <a:rPr lang="en-US" sz="1400" b="1" dirty="0">
                <a:solidFill>
                  <a:srgbClr val="0F172A"/>
                </a:solidFill>
              </a:rPr>
              <a:t>Sesión &amp; Pago</a:t>
            </a:r>
            <a:endParaRPr lang="en-US" sz="1400" dirty="0"/>
          </a:p>
        </p:txBody>
      </p:sp>
      <p:sp>
        <p:nvSpPr>
          <p:cNvPr id="19" name="Text 17"/>
          <p:cNvSpPr/>
          <p:nvPr/>
        </p:nvSpPr>
        <p:spPr>
          <a:xfrm>
            <a:off x="6263640" y="3063240"/>
            <a:ext cx="2377440" cy="1508760"/>
          </a:xfrm>
          <a:prstGeom prst="rect">
            <a:avLst/>
          </a:prstGeom>
          <a:noFill/>
          <a:ln/>
        </p:spPr>
        <p:txBody>
          <a:bodyPr wrap="square" rtlCol="0" anchor="ctr"/>
          <a:lstStyle/>
          <a:p>
            <a:pPr marL="0" indent="0" algn="ctr">
              <a:lnSpc>
                <a:spcPct val="135000"/>
              </a:lnSpc>
              <a:buNone/>
            </a:pPr>
            <a:r>
              <a:rPr lang="en-US" sz="1100" dirty="0">
                <a:solidFill>
                  <a:srgbClr val="475569"/>
                </a:solidFill>
              </a:rPr>
              <a:t>El tutor acepta. Se habilita el chat. Al finalizar, el sistema registra el pago en Blockchain Sepolia.</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457200" y="274320"/>
            <a:ext cx="1645920" cy="301752"/>
          </a:xfrm>
          <a:prstGeom prst="roundRect">
            <a:avLst>
              <a:gd name="adj" fmla="val 18182"/>
            </a:avLst>
          </a:prstGeom>
          <a:solidFill>
            <a:srgbClr val="0D9488"/>
          </a:solidFill>
          <a:ln w="12700">
            <a:solidFill>
              <a:srgbClr val="0D9488"/>
            </a:solidFill>
            <a:prstDash val="solid"/>
          </a:ln>
        </p:spPr>
        <p:txBody>
          <a:bodyPr/>
          <a:lstStyle/>
          <a:p>
            <a:endParaRPr lang="es-AR"/>
          </a:p>
        </p:txBody>
      </p:sp>
      <p:sp>
        <p:nvSpPr>
          <p:cNvPr id="3" name="Text 1"/>
          <p:cNvSpPr/>
          <p:nvPr/>
        </p:nvSpPr>
        <p:spPr>
          <a:xfrm>
            <a:off x="457200" y="274320"/>
            <a:ext cx="1645920" cy="301752"/>
          </a:xfrm>
          <a:prstGeom prst="rect">
            <a:avLst/>
          </a:prstGeom>
          <a:noFill/>
          <a:ln/>
        </p:spPr>
        <p:txBody>
          <a:bodyPr wrap="square" lIns="0" tIns="0" rIns="0" bIns="0" rtlCol="0" anchor="ctr"/>
          <a:lstStyle/>
          <a:p>
            <a:pPr marL="0" indent="0" algn="ctr">
              <a:buNone/>
            </a:pPr>
            <a:r>
              <a:rPr lang="en-US" sz="900" b="1" dirty="0">
                <a:solidFill>
                  <a:srgbClr val="FFFFFF"/>
                </a:solidFill>
              </a:rPr>
              <a:t>04 · ARQUITECTURA TÉCNICA</a:t>
            </a:r>
            <a:endParaRPr lang="en-US" sz="900" dirty="0"/>
          </a:p>
        </p:txBody>
      </p:sp>
      <p:sp>
        <p:nvSpPr>
          <p:cNvPr id="4" name="Text 2"/>
          <p:cNvSpPr/>
          <p:nvPr/>
        </p:nvSpPr>
        <p:spPr>
          <a:xfrm>
            <a:off x="457200" y="685800"/>
            <a:ext cx="8229600" cy="548640"/>
          </a:xfrm>
          <a:prstGeom prst="rect">
            <a:avLst/>
          </a:prstGeom>
          <a:noFill/>
          <a:ln/>
        </p:spPr>
        <p:txBody>
          <a:bodyPr wrap="square" rtlCol="0" anchor="ctr"/>
          <a:lstStyle/>
          <a:p>
            <a:pPr marL="0" indent="0">
              <a:buNone/>
            </a:pPr>
            <a:r>
              <a:rPr lang="en-US" sz="2400" b="1" dirty="0">
                <a:solidFill>
                  <a:srgbClr val="FFFFFF"/>
                </a:solidFill>
              </a:rPr>
              <a:t>Stack completo, 3+ líneas del programa.</a:t>
            </a:r>
            <a:endParaRPr lang="en-US" sz="2400" dirty="0"/>
          </a:p>
        </p:txBody>
      </p:sp>
      <p:sp>
        <p:nvSpPr>
          <p:cNvPr id="5" name="Shape 3"/>
          <p:cNvSpPr/>
          <p:nvPr/>
        </p:nvSpPr>
        <p:spPr>
          <a:xfrm>
            <a:off x="457200" y="1371600"/>
            <a:ext cx="4114800" cy="1737360"/>
          </a:xfrm>
          <a:prstGeom prst="roundRect">
            <a:avLst>
              <a:gd name="adj" fmla="val 5263"/>
            </a:avLst>
          </a:prstGeom>
          <a:solidFill>
            <a:srgbClr val="1E3A5F"/>
          </a:solidFill>
          <a:ln w="10160">
            <a:solidFill>
              <a:srgbClr val="0D9488"/>
            </a:solidFill>
            <a:prstDash val="solid"/>
          </a:ln>
          <a:effectLst>
            <a:outerShdw blurRad="101600" dist="38100" dir="2700000" algn="bl" rotWithShape="0">
              <a:srgbClr val="000000">
                <a:alpha val="18000"/>
              </a:srgbClr>
            </a:outerShdw>
          </a:effectLst>
        </p:spPr>
        <p:txBody>
          <a:bodyPr/>
          <a:lstStyle/>
          <a:p>
            <a:endParaRPr lang="es-AR"/>
          </a:p>
        </p:txBody>
      </p:sp>
      <p:sp>
        <p:nvSpPr>
          <p:cNvPr id="6" name="Text 4"/>
          <p:cNvSpPr/>
          <p:nvPr/>
        </p:nvSpPr>
        <p:spPr>
          <a:xfrm>
            <a:off x="594360" y="1463040"/>
            <a:ext cx="3840480" cy="365760"/>
          </a:xfrm>
          <a:prstGeom prst="rect">
            <a:avLst/>
          </a:prstGeom>
          <a:noFill/>
          <a:ln/>
        </p:spPr>
        <p:txBody>
          <a:bodyPr wrap="square" rtlCol="0" anchor="ctr"/>
          <a:lstStyle/>
          <a:p>
            <a:pPr marL="0" indent="0">
              <a:buNone/>
            </a:pPr>
            <a:r>
              <a:rPr lang="en-US" sz="1300" b="1" dirty="0">
                <a:solidFill>
                  <a:srgbClr val="14B8A6"/>
                </a:solidFill>
              </a:rPr>
              <a:t>🖥️  Lenguaje &amp; Framework</a:t>
            </a:r>
            <a:endParaRPr lang="en-US" sz="1300" dirty="0"/>
          </a:p>
        </p:txBody>
      </p:sp>
      <p:sp>
        <p:nvSpPr>
          <p:cNvPr id="7" name="Text 5"/>
          <p:cNvSpPr/>
          <p:nvPr/>
        </p:nvSpPr>
        <p:spPr>
          <a:xfrm>
            <a:off x="594360" y="1874520"/>
            <a:ext cx="3840480" cy="1143000"/>
          </a:xfrm>
          <a:prstGeom prst="rect">
            <a:avLst/>
          </a:prstGeom>
          <a:noFill/>
          <a:ln/>
        </p:spPr>
        <p:txBody>
          <a:bodyPr wrap="square" rtlCol="0" anchor="ctr"/>
          <a:lstStyle/>
          <a:p>
            <a:pPr marL="0" indent="0">
              <a:lnSpc>
                <a:spcPct val="130000"/>
              </a:lnSpc>
              <a:buNone/>
            </a:pPr>
            <a:r>
              <a:rPr lang="en-US" sz="1050" dirty="0">
                <a:solidFill>
                  <a:srgbClr val="E2E8F0"/>
                </a:solidFill>
              </a:rPr>
              <a:t>PHP 8 · MVC sin framework</a:t>
            </a:r>
            <a:endParaRPr lang="en-US" sz="1050" dirty="0"/>
          </a:p>
          <a:p>
            <a:pPr marL="0" indent="0">
              <a:lnSpc>
                <a:spcPct val="130000"/>
              </a:lnSpc>
              <a:buNone/>
            </a:pPr>
            <a:r>
              <a:rPr lang="en-US" sz="1050" dirty="0">
                <a:solidFill>
                  <a:srgbClr val="E2E8F0"/>
                </a:solidFill>
              </a:rPr>
              <a:t>PDO + ERRMODE_EXCEPTION</a:t>
            </a:r>
            <a:endParaRPr lang="en-US" sz="1050" dirty="0"/>
          </a:p>
          <a:p>
            <a:pPr marL="0" indent="0">
              <a:lnSpc>
                <a:spcPct val="130000"/>
              </a:lnSpc>
              <a:buNone/>
            </a:pPr>
            <a:r>
              <a:rPr lang="en-US" sz="1050" dirty="0">
                <a:solidFill>
                  <a:srgbClr val="E2E8F0"/>
                </a:solidFill>
              </a:rPr>
              <a:t>password_hash / verify</a:t>
            </a:r>
            <a:endParaRPr lang="en-US" sz="1050" dirty="0"/>
          </a:p>
          <a:p>
            <a:pPr marL="0" indent="0">
              <a:lnSpc>
                <a:spcPct val="130000"/>
              </a:lnSpc>
              <a:buNone/>
            </a:pPr>
            <a:r>
              <a:rPr lang="en-US" sz="1050" dirty="0">
                <a:solidFill>
                  <a:srgbClr val="E2E8F0"/>
                </a:solidFill>
              </a:rPr>
              <a:t>htmlspecialchars en vistas</a:t>
            </a:r>
            <a:endParaRPr lang="en-US" sz="1050" dirty="0"/>
          </a:p>
        </p:txBody>
      </p:sp>
      <p:sp>
        <p:nvSpPr>
          <p:cNvPr id="8" name="Shape 6"/>
          <p:cNvSpPr/>
          <p:nvPr/>
        </p:nvSpPr>
        <p:spPr>
          <a:xfrm>
            <a:off x="4846320" y="1371600"/>
            <a:ext cx="4114800" cy="1737360"/>
          </a:xfrm>
          <a:prstGeom prst="roundRect">
            <a:avLst>
              <a:gd name="adj" fmla="val 5263"/>
            </a:avLst>
          </a:prstGeom>
          <a:solidFill>
            <a:srgbClr val="1E3A5F"/>
          </a:solidFill>
          <a:ln w="10160">
            <a:solidFill>
              <a:srgbClr val="0D9488"/>
            </a:solidFill>
            <a:prstDash val="solid"/>
          </a:ln>
          <a:effectLst>
            <a:outerShdw blurRad="101600" dist="38100" dir="2700000" algn="bl" rotWithShape="0">
              <a:srgbClr val="000000">
                <a:alpha val="18000"/>
              </a:srgbClr>
            </a:outerShdw>
          </a:effectLst>
        </p:spPr>
        <p:txBody>
          <a:bodyPr/>
          <a:lstStyle/>
          <a:p>
            <a:endParaRPr lang="es-AR"/>
          </a:p>
        </p:txBody>
      </p:sp>
      <p:sp>
        <p:nvSpPr>
          <p:cNvPr id="9" name="Text 7"/>
          <p:cNvSpPr/>
          <p:nvPr/>
        </p:nvSpPr>
        <p:spPr>
          <a:xfrm>
            <a:off x="4983480" y="1463040"/>
            <a:ext cx="3840480" cy="365760"/>
          </a:xfrm>
          <a:prstGeom prst="rect">
            <a:avLst/>
          </a:prstGeom>
          <a:noFill/>
          <a:ln/>
        </p:spPr>
        <p:txBody>
          <a:bodyPr wrap="square" rtlCol="0" anchor="ctr"/>
          <a:lstStyle/>
          <a:p>
            <a:pPr marL="0" indent="0">
              <a:buNone/>
            </a:pPr>
            <a:r>
              <a:rPr lang="en-US" sz="1300" b="1" dirty="0">
                <a:solidFill>
                  <a:srgbClr val="14B8A6"/>
                </a:solidFill>
              </a:rPr>
              <a:t>🗄️  Bases de Datos</a:t>
            </a:r>
            <a:endParaRPr lang="en-US" sz="1300" dirty="0"/>
          </a:p>
        </p:txBody>
      </p:sp>
      <p:sp>
        <p:nvSpPr>
          <p:cNvPr id="10" name="Text 8"/>
          <p:cNvSpPr/>
          <p:nvPr/>
        </p:nvSpPr>
        <p:spPr>
          <a:xfrm>
            <a:off x="4983480" y="1874520"/>
            <a:ext cx="3840480" cy="1143000"/>
          </a:xfrm>
          <a:prstGeom prst="rect">
            <a:avLst/>
          </a:prstGeom>
          <a:noFill/>
          <a:ln/>
        </p:spPr>
        <p:txBody>
          <a:bodyPr wrap="square" rtlCol="0" anchor="ctr"/>
          <a:lstStyle/>
          <a:p>
            <a:pPr marL="0" indent="0">
              <a:lnSpc>
                <a:spcPct val="130000"/>
              </a:lnSpc>
              <a:buNone/>
            </a:pPr>
            <a:r>
              <a:rPr lang="en-US" sz="1050" dirty="0">
                <a:solidFill>
                  <a:srgbClr val="E2E8F0"/>
                </a:solidFill>
              </a:rPr>
              <a:t>MySQL / MariaDB</a:t>
            </a:r>
            <a:endParaRPr lang="en-US" sz="1050" dirty="0"/>
          </a:p>
          <a:p>
            <a:pPr marL="0" indent="0">
              <a:lnSpc>
                <a:spcPct val="130000"/>
              </a:lnSpc>
              <a:buNone/>
            </a:pPr>
            <a:r>
              <a:rPr lang="en-US" sz="1050" dirty="0">
                <a:solidFill>
                  <a:srgbClr val="E2E8F0"/>
                </a:solidFill>
              </a:rPr>
              <a:t>2 Triggers (solapamiento + horario)</a:t>
            </a:r>
            <a:endParaRPr lang="en-US" sz="1050" dirty="0"/>
          </a:p>
          <a:p>
            <a:pPr marL="0" indent="0">
              <a:lnSpc>
                <a:spcPct val="130000"/>
              </a:lnSpc>
              <a:buNone/>
            </a:pPr>
            <a:r>
              <a:rPr lang="en-US" sz="1050" dirty="0">
                <a:solidFill>
                  <a:srgbClr val="E2E8F0"/>
                </a:solidFill>
              </a:rPr>
              <a:t>9 tablas relacionales</a:t>
            </a:r>
            <a:endParaRPr lang="en-US" sz="1050" dirty="0"/>
          </a:p>
          <a:p>
            <a:pPr marL="0" indent="0">
              <a:lnSpc>
                <a:spcPct val="130000"/>
              </a:lnSpc>
              <a:buNone/>
            </a:pPr>
            <a:r>
              <a:rPr lang="en-US" sz="1050" dirty="0">
                <a:solidFill>
                  <a:srgbClr val="E2E8F0"/>
                </a:solidFill>
              </a:rPr>
              <a:t>Integridad referencial FK</a:t>
            </a:r>
            <a:endParaRPr lang="en-US" sz="1050" dirty="0"/>
          </a:p>
        </p:txBody>
      </p:sp>
      <p:sp>
        <p:nvSpPr>
          <p:cNvPr id="11" name="Shape 9"/>
          <p:cNvSpPr/>
          <p:nvPr/>
        </p:nvSpPr>
        <p:spPr>
          <a:xfrm>
            <a:off x="457200" y="3291840"/>
            <a:ext cx="4114800" cy="1737360"/>
          </a:xfrm>
          <a:prstGeom prst="roundRect">
            <a:avLst>
              <a:gd name="adj" fmla="val 5263"/>
            </a:avLst>
          </a:prstGeom>
          <a:solidFill>
            <a:srgbClr val="1E3A5F"/>
          </a:solidFill>
          <a:ln w="10160">
            <a:solidFill>
              <a:srgbClr val="0D9488"/>
            </a:solidFill>
            <a:prstDash val="solid"/>
          </a:ln>
          <a:effectLst>
            <a:outerShdw blurRad="101600" dist="38100" dir="2700000" algn="bl" rotWithShape="0">
              <a:srgbClr val="000000">
                <a:alpha val="18000"/>
              </a:srgbClr>
            </a:outerShdw>
          </a:effectLst>
        </p:spPr>
        <p:txBody>
          <a:bodyPr/>
          <a:lstStyle/>
          <a:p>
            <a:endParaRPr lang="es-AR"/>
          </a:p>
        </p:txBody>
      </p:sp>
      <p:sp>
        <p:nvSpPr>
          <p:cNvPr id="12" name="Text 10"/>
          <p:cNvSpPr/>
          <p:nvPr/>
        </p:nvSpPr>
        <p:spPr>
          <a:xfrm>
            <a:off x="594360" y="3383280"/>
            <a:ext cx="3840480" cy="365760"/>
          </a:xfrm>
          <a:prstGeom prst="rect">
            <a:avLst/>
          </a:prstGeom>
          <a:noFill/>
          <a:ln/>
        </p:spPr>
        <p:txBody>
          <a:bodyPr wrap="square" rtlCol="0" anchor="ctr"/>
          <a:lstStyle/>
          <a:p>
            <a:pPr marL="0" indent="0">
              <a:buNone/>
            </a:pPr>
            <a:r>
              <a:rPr lang="en-US" sz="1300" b="1" dirty="0">
                <a:solidFill>
                  <a:srgbClr val="14B8A6"/>
                </a:solidFill>
              </a:rPr>
              <a:t>🔗  Blockchain</a:t>
            </a:r>
            <a:endParaRPr lang="en-US" sz="1300" dirty="0"/>
          </a:p>
        </p:txBody>
      </p:sp>
      <p:sp>
        <p:nvSpPr>
          <p:cNvPr id="13" name="Text 11"/>
          <p:cNvSpPr/>
          <p:nvPr/>
        </p:nvSpPr>
        <p:spPr>
          <a:xfrm>
            <a:off x="594360" y="3794760"/>
            <a:ext cx="3840480" cy="1143000"/>
          </a:xfrm>
          <a:prstGeom prst="rect">
            <a:avLst/>
          </a:prstGeom>
          <a:noFill/>
          <a:ln/>
        </p:spPr>
        <p:txBody>
          <a:bodyPr wrap="square" rtlCol="0" anchor="ctr"/>
          <a:lstStyle/>
          <a:p>
            <a:pPr marL="0" indent="0">
              <a:lnSpc>
                <a:spcPct val="130000"/>
              </a:lnSpc>
              <a:buNone/>
            </a:pPr>
            <a:r>
              <a:rPr lang="en-US" sz="1050" dirty="0">
                <a:solidFill>
                  <a:srgbClr val="E2E8F0"/>
                </a:solidFill>
              </a:rPr>
              <a:t>Sepolia Testnet (simulado)</a:t>
            </a:r>
            <a:endParaRPr lang="en-US" sz="1050" dirty="0"/>
          </a:p>
          <a:p>
            <a:pPr marL="0" indent="0">
              <a:lnSpc>
                <a:spcPct val="130000"/>
              </a:lnSpc>
              <a:buNone/>
            </a:pPr>
            <a:r>
              <a:rPr lang="en-US" sz="1050" dirty="0">
                <a:solidFill>
                  <a:srgbClr val="E2E8F0"/>
                </a:solidFill>
              </a:rPr>
              <a:t>tx_hash SHA-256 determinista</a:t>
            </a:r>
            <a:endParaRPr lang="en-US" sz="1050" dirty="0"/>
          </a:p>
          <a:p>
            <a:pPr marL="0" indent="0">
              <a:lnSpc>
                <a:spcPct val="130000"/>
              </a:lnSpc>
              <a:buNone/>
            </a:pPr>
            <a:r>
              <a:rPr lang="en-US" sz="1050" dirty="0">
                <a:solidFill>
                  <a:srgbClr val="E2E8F0"/>
                </a:solidFill>
              </a:rPr>
              <a:t>Tabla blockchain_pagos</a:t>
            </a:r>
            <a:endParaRPr lang="en-US" sz="1050" dirty="0"/>
          </a:p>
          <a:p>
            <a:pPr marL="0" indent="0">
              <a:lnSpc>
                <a:spcPct val="130000"/>
              </a:lnSpc>
              <a:buNone/>
            </a:pPr>
            <a:r>
              <a:rPr lang="en-US" sz="1050" dirty="0">
                <a:solidFill>
                  <a:srgbClr val="E2E8F0"/>
                </a:solidFill>
              </a:rPr>
              <a:t>Arq. lista para web3.php real</a:t>
            </a:r>
            <a:endParaRPr lang="en-US" sz="1050" dirty="0"/>
          </a:p>
        </p:txBody>
      </p:sp>
      <p:sp>
        <p:nvSpPr>
          <p:cNvPr id="14" name="Shape 12"/>
          <p:cNvSpPr/>
          <p:nvPr/>
        </p:nvSpPr>
        <p:spPr>
          <a:xfrm>
            <a:off x="4846320" y="3291840"/>
            <a:ext cx="4114800" cy="1737360"/>
          </a:xfrm>
          <a:prstGeom prst="roundRect">
            <a:avLst>
              <a:gd name="adj" fmla="val 5263"/>
            </a:avLst>
          </a:prstGeom>
          <a:solidFill>
            <a:srgbClr val="1E3A5F"/>
          </a:solidFill>
          <a:ln w="10160">
            <a:solidFill>
              <a:srgbClr val="0D9488"/>
            </a:solidFill>
            <a:prstDash val="solid"/>
          </a:ln>
          <a:effectLst>
            <a:outerShdw blurRad="101600" dist="38100" dir="2700000" algn="bl" rotWithShape="0">
              <a:srgbClr val="000000">
                <a:alpha val="18000"/>
              </a:srgbClr>
            </a:outerShdw>
          </a:effectLst>
        </p:spPr>
        <p:txBody>
          <a:bodyPr/>
          <a:lstStyle/>
          <a:p>
            <a:endParaRPr lang="es-AR"/>
          </a:p>
        </p:txBody>
      </p:sp>
      <p:sp>
        <p:nvSpPr>
          <p:cNvPr id="15" name="Text 13"/>
          <p:cNvSpPr/>
          <p:nvPr/>
        </p:nvSpPr>
        <p:spPr>
          <a:xfrm>
            <a:off x="4983480" y="3383280"/>
            <a:ext cx="3840480" cy="365760"/>
          </a:xfrm>
          <a:prstGeom prst="rect">
            <a:avLst/>
          </a:prstGeom>
          <a:noFill/>
          <a:ln/>
        </p:spPr>
        <p:txBody>
          <a:bodyPr wrap="square" rtlCol="0" anchor="ctr"/>
          <a:lstStyle/>
          <a:p>
            <a:r>
              <a:rPr lang="es-AR" sz="1300" dirty="0"/>
              <a:t>📈</a:t>
            </a:r>
            <a:r>
              <a:rPr lang="en-US" sz="1300" b="1" dirty="0">
                <a:solidFill>
                  <a:srgbClr val="14B8A6"/>
                </a:solidFill>
              </a:rPr>
              <a:t> </a:t>
            </a:r>
            <a:r>
              <a:rPr lang="en-US" sz="1300" b="1" dirty="0" err="1">
                <a:solidFill>
                  <a:srgbClr val="14B8A6"/>
                </a:solidFill>
              </a:rPr>
              <a:t>Escalabilidad</a:t>
            </a:r>
            <a:endParaRPr lang="en-US" sz="1300" dirty="0"/>
          </a:p>
        </p:txBody>
      </p:sp>
      <p:sp>
        <p:nvSpPr>
          <p:cNvPr id="16" name="Text 14"/>
          <p:cNvSpPr/>
          <p:nvPr/>
        </p:nvSpPr>
        <p:spPr>
          <a:xfrm>
            <a:off x="4983480" y="3794760"/>
            <a:ext cx="3840480" cy="1143000"/>
          </a:xfrm>
          <a:prstGeom prst="rect">
            <a:avLst/>
          </a:prstGeom>
          <a:noFill/>
          <a:ln/>
        </p:spPr>
        <p:txBody>
          <a:bodyPr wrap="square" rtlCol="0" anchor="ctr"/>
          <a:lstStyle/>
          <a:p>
            <a:pPr marL="0" indent="0">
              <a:lnSpc>
                <a:spcPct val="130000"/>
              </a:lnSpc>
              <a:buNone/>
            </a:pPr>
            <a:r>
              <a:rPr lang="en-US" sz="1050" dirty="0">
                <a:solidFill>
                  <a:srgbClr val="E2E8F0"/>
                </a:solidFill>
              </a:rPr>
              <a:t>Score ponderado por materia</a:t>
            </a:r>
            <a:endParaRPr lang="en-US" sz="1050" dirty="0"/>
          </a:p>
          <a:p>
            <a:pPr marL="0" indent="0">
              <a:lnSpc>
                <a:spcPct val="130000"/>
              </a:lnSpc>
              <a:buNone/>
            </a:pPr>
            <a:r>
              <a:rPr lang="en-US" sz="1050" dirty="0">
                <a:solidFill>
                  <a:srgbClr val="E2E8F0"/>
                </a:solidFill>
              </a:rPr>
              <a:t>Coincidencia alumno ↔ tutor</a:t>
            </a:r>
            <a:endParaRPr lang="en-US" sz="1050" dirty="0"/>
          </a:p>
          <a:p>
            <a:pPr marL="0" indent="0">
              <a:lnSpc>
                <a:spcPct val="130000"/>
              </a:lnSpc>
              <a:buNone/>
            </a:pPr>
            <a:r>
              <a:rPr lang="en-US" sz="1050" dirty="0">
                <a:solidFill>
                  <a:srgbClr val="E2E8F0"/>
                </a:solidFill>
              </a:rPr>
              <a:t>Filtro por área y calificación</a:t>
            </a:r>
            <a:endParaRPr lang="en-US" sz="1050" dirty="0"/>
          </a:p>
          <a:p>
            <a:pPr marL="0" indent="0">
              <a:lnSpc>
                <a:spcPct val="130000"/>
              </a:lnSpc>
              <a:buNone/>
            </a:pPr>
            <a:r>
              <a:rPr lang="en-US" sz="1050" dirty="0">
                <a:solidFill>
                  <a:srgbClr val="E2E8F0"/>
                </a:solidFill>
              </a:rPr>
              <a:t>Extensible a ML en producción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274320"/>
            <a:ext cx="1920240" cy="301752"/>
          </a:xfrm>
          <a:prstGeom prst="roundRect">
            <a:avLst>
              <a:gd name="adj" fmla="val 18182"/>
            </a:avLst>
          </a:prstGeom>
          <a:solidFill>
            <a:srgbClr val="0D9488"/>
          </a:solidFill>
          <a:ln w="12700">
            <a:solidFill>
              <a:srgbClr val="0D9488"/>
            </a:solidFill>
            <a:prstDash val="solid"/>
          </a:ln>
        </p:spPr>
        <p:txBody>
          <a:bodyPr/>
          <a:lstStyle/>
          <a:p>
            <a:endParaRPr lang="es-AR"/>
          </a:p>
        </p:txBody>
      </p:sp>
      <p:sp>
        <p:nvSpPr>
          <p:cNvPr id="3" name="Text 1"/>
          <p:cNvSpPr/>
          <p:nvPr/>
        </p:nvSpPr>
        <p:spPr>
          <a:xfrm>
            <a:off x="457200" y="274320"/>
            <a:ext cx="1920240" cy="301752"/>
          </a:xfrm>
          <a:prstGeom prst="rect">
            <a:avLst/>
          </a:prstGeom>
          <a:noFill/>
          <a:ln/>
        </p:spPr>
        <p:txBody>
          <a:bodyPr wrap="square" lIns="0" tIns="0" rIns="0" bIns="0" rtlCol="0" anchor="ctr"/>
          <a:lstStyle/>
          <a:p>
            <a:pPr marL="0" indent="0" algn="ctr">
              <a:buNone/>
            </a:pPr>
            <a:r>
              <a:rPr lang="en-US" sz="900" b="1" dirty="0">
                <a:solidFill>
                  <a:srgbClr val="FFFFFF"/>
                </a:solidFill>
              </a:rPr>
              <a:t>05 · SEGURIDAD &amp; TIPOS</a:t>
            </a:r>
            <a:endParaRPr lang="en-US" sz="900" dirty="0"/>
          </a:p>
        </p:txBody>
      </p:sp>
      <p:sp>
        <p:nvSpPr>
          <p:cNvPr id="4" name="Text 2"/>
          <p:cNvSpPr/>
          <p:nvPr/>
        </p:nvSpPr>
        <p:spPr>
          <a:xfrm>
            <a:off x="457200" y="685800"/>
            <a:ext cx="8229600" cy="548640"/>
          </a:xfrm>
          <a:prstGeom prst="rect">
            <a:avLst/>
          </a:prstGeom>
          <a:noFill/>
          <a:ln/>
        </p:spPr>
        <p:txBody>
          <a:bodyPr wrap="square" rtlCol="0" anchor="ctr"/>
          <a:lstStyle/>
          <a:p>
            <a:pPr marL="0" indent="0">
              <a:buNone/>
            </a:pPr>
            <a:r>
              <a:rPr lang="en-US" sz="2600" b="1" dirty="0">
                <a:solidFill>
                  <a:srgbClr val="0F172A"/>
                </a:solidFill>
              </a:rPr>
              <a:t>Código seguro desde el diseño.</a:t>
            </a:r>
            <a:endParaRPr lang="en-US" sz="2600" dirty="0"/>
          </a:p>
        </p:txBody>
      </p:sp>
      <p:sp>
        <p:nvSpPr>
          <p:cNvPr id="5" name="Shape 3"/>
          <p:cNvSpPr/>
          <p:nvPr/>
        </p:nvSpPr>
        <p:spPr>
          <a:xfrm>
            <a:off x="457200" y="1371600"/>
            <a:ext cx="2651760" cy="1600200"/>
          </a:xfrm>
          <a:prstGeom prst="roundRect">
            <a:avLst>
              <a:gd name="adj" fmla="val 5714"/>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6" name="Text 4"/>
          <p:cNvSpPr/>
          <p:nvPr/>
        </p:nvSpPr>
        <p:spPr>
          <a:xfrm>
            <a:off x="566928" y="1463040"/>
            <a:ext cx="2423160" cy="365760"/>
          </a:xfrm>
          <a:prstGeom prst="rect">
            <a:avLst/>
          </a:prstGeom>
          <a:noFill/>
          <a:ln/>
        </p:spPr>
        <p:txBody>
          <a:bodyPr wrap="square" rtlCol="0" anchor="ctr"/>
          <a:lstStyle/>
          <a:p>
            <a:pPr marL="0" indent="0">
              <a:buNone/>
            </a:pPr>
            <a:r>
              <a:rPr lang="en-US" sz="1300" b="1" dirty="0">
                <a:solidFill>
                  <a:srgbClr val="0F172A"/>
                </a:solidFill>
              </a:rPr>
              <a:t>🔐  Autenticación</a:t>
            </a:r>
            <a:endParaRPr lang="en-US" sz="1300" dirty="0"/>
          </a:p>
        </p:txBody>
      </p:sp>
      <p:sp>
        <p:nvSpPr>
          <p:cNvPr id="7" name="Text 5"/>
          <p:cNvSpPr/>
          <p:nvPr/>
        </p:nvSpPr>
        <p:spPr>
          <a:xfrm>
            <a:off x="566928" y="1874520"/>
            <a:ext cx="2423160" cy="914400"/>
          </a:xfrm>
          <a:prstGeom prst="rect">
            <a:avLst/>
          </a:prstGeom>
          <a:noFill/>
          <a:ln/>
        </p:spPr>
        <p:txBody>
          <a:bodyPr wrap="square" rtlCol="0" anchor="ctr"/>
          <a:lstStyle/>
          <a:p>
            <a:pPr marL="0" indent="0">
              <a:lnSpc>
                <a:spcPct val="130000"/>
              </a:lnSpc>
              <a:buNone/>
            </a:pPr>
            <a:r>
              <a:rPr lang="en-US" sz="1050" dirty="0">
                <a:solidFill>
                  <a:srgbClr val="475569"/>
                </a:solidFill>
              </a:rPr>
              <a:t>password_hash + verify</a:t>
            </a:r>
            <a:endParaRPr lang="en-US" sz="1050" dirty="0"/>
          </a:p>
          <a:p>
            <a:pPr marL="0" indent="0">
              <a:lnSpc>
                <a:spcPct val="130000"/>
              </a:lnSpc>
              <a:buNone/>
            </a:pPr>
            <a:r>
              <a:rPr lang="en-US" sz="1050" dirty="0">
                <a:solidFill>
                  <a:srgbClr val="475569"/>
                </a:solidFill>
              </a:rPr>
              <a:t>session_regenerate_id()</a:t>
            </a:r>
            <a:endParaRPr lang="en-US" sz="1050" dirty="0"/>
          </a:p>
          <a:p>
            <a:pPr marL="0" indent="0">
              <a:lnSpc>
                <a:spcPct val="130000"/>
              </a:lnSpc>
              <a:buNone/>
            </a:pPr>
            <a:r>
              <a:rPr lang="en-US" sz="1050" dirty="0">
                <a:solidFill>
                  <a:srgbClr val="475569"/>
                </a:solidFill>
              </a:rPr>
              <a:t>Control de roles estricto</a:t>
            </a:r>
            <a:endParaRPr lang="en-US" sz="1050" dirty="0"/>
          </a:p>
        </p:txBody>
      </p:sp>
      <p:sp>
        <p:nvSpPr>
          <p:cNvPr id="8" name="Shape 6"/>
          <p:cNvSpPr/>
          <p:nvPr/>
        </p:nvSpPr>
        <p:spPr>
          <a:xfrm>
            <a:off x="3291840" y="1371600"/>
            <a:ext cx="2651760" cy="1600200"/>
          </a:xfrm>
          <a:prstGeom prst="roundRect">
            <a:avLst>
              <a:gd name="adj" fmla="val 5714"/>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9" name="Text 7"/>
          <p:cNvSpPr/>
          <p:nvPr/>
        </p:nvSpPr>
        <p:spPr>
          <a:xfrm>
            <a:off x="3401568" y="1463040"/>
            <a:ext cx="2423160" cy="365760"/>
          </a:xfrm>
          <a:prstGeom prst="rect">
            <a:avLst/>
          </a:prstGeom>
          <a:noFill/>
          <a:ln/>
        </p:spPr>
        <p:txBody>
          <a:bodyPr wrap="square" rtlCol="0" anchor="ctr"/>
          <a:lstStyle/>
          <a:p>
            <a:pPr marL="0" indent="0">
              <a:buNone/>
            </a:pPr>
            <a:r>
              <a:rPr lang="en-US" sz="1300" b="1" dirty="0">
                <a:solidFill>
                  <a:srgbClr val="0F172A"/>
                </a:solidFill>
              </a:rPr>
              <a:t>🛡️  Inyección SQL</a:t>
            </a:r>
            <a:endParaRPr lang="en-US" sz="1300" dirty="0"/>
          </a:p>
        </p:txBody>
      </p:sp>
      <p:sp>
        <p:nvSpPr>
          <p:cNvPr id="10" name="Text 8"/>
          <p:cNvSpPr/>
          <p:nvPr/>
        </p:nvSpPr>
        <p:spPr>
          <a:xfrm>
            <a:off x="3401568" y="1874520"/>
            <a:ext cx="2423160" cy="914400"/>
          </a:xfrm>
          <a:prstGeom prst="rect">
            <a:avLst/>
          </a:prstGeom>
          <a:noFill/>
          <a:ln/>
        </p:spPr>
        <p:txBody>
          <a:bodyPr wrap="square" rtlCol="0" anchor="ctr"/>
          <a:lstStyle/>
          <a:p>
            <a:pPr marL="0" indent="0">
              <a:lnSpc>
                <a:spcPct val="130000"/>
              </a:lnSpc>
              <a:buNone/>
            </a:pPr>
            <a:r>
              <a:rPr lang="en-US" sz="1050" dirty="0">
                <a:solidFill>
                  <a:srgbClr val="475569"/>
                </a:solidFill>
              </a:rPr>
              <a:t>PDO + prepared statements</a:t>
            </a:r>
            <a:endParaRPr lang="en-US" sz="1050" dirty="0"/>
          </a:p>
          <a:p>
            <a:pPr marL="0" indent="0">
              <a:lnSpc>
                <a:spcPct val="130000"/>
              </a:lnSpc>
              <a:buNone/>
            </a:pPr>
            <a:r>
              <a:rPr lang="en-US" sz="1050" dirty="0">
                <a:solidFill>
                  <a:srgbClr val="475569"/>
                </a:solidFill>
              </a:rPr>
              <a:t>EMULATE_PREPARES = false</a:t>
            </a:r>
            <a:endParaRPr lang="en-US" sz="1050" dirty="0"/>
          </a:p>
          <a:p>
            <a:pPr marL="0" indent="0">
              <a:lnSpc>
                <a:spcPct val="130000"/>
              </a:lnSpc>
              <a:buNone/>
            </a:pPr>
            <a:r>
              <a:rPr lang="en-US" sz="1050" dirty="0">
                <a:solidFill>
                  <a:srgbClr val="475569"/>
                </a:solidFill>
              </a:rPr>
              <a:t>FETCH_ASSOC por defecto</a:t>
            </a:r>
            <a:endParaRPr lang="en-US" sz="1050" dirty="0"/>
          </a:p>
        </p:txBody>
      </p:sp>
      <p:sp>
        <p:nvSpPr>
          <p:cNvPr id="11" name="Shape 9"/>
          <p:cNvSpPr/>
          <p:nvPr/>
        </p:nvSpPr>
        <p:spPr>
          <a:xfrm>
            <a:off x="6126480" y="1371600"/>
            <a:ext cx="2651760" cy="1600200"/>
          </a:xfrm>
          <a:prstGeom prst="roundRect">
            <a:avLst>
              <a:gd name="adj" fmla="val 5714"/>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12" name="Text 10"/>
          <p:cNvSpPr/>
          <p:nvPr/>
        </p:nvSpPr>
        <p:spPr>
          <a:xfrm>
            <a:off x="6236208" y="1463040"/>
            <a:ext cx="2423160" cy="365760"/>
          </a:xfrm>
          <a:prstGeom prst="rect">
            <a:avLst/>
          </a:prstGeom>
          <a:noFill/>
          <a:ln/>
        </p:spPr>
        <p:txBody>
          <a:bodyPr wrap="square" rtlCol="0" anchor="ctr"/>
          <a:lstStyle/>
          <a:p>
            <a:pPr marL="0" indent="0">
              <a:buNone/>
            </a:pPr>
            <a:r>
              <a:rPr lang="en-US" sz="1300" b="1" dirty="0">
                <a:solidFill>
                  <a:srgbClr val="0F172A"/>
                </a:solidFill>
              </a:rPr>
              <a:t>✏️  XSS / Output</a:t>
            </a:r>
            <a:endParaRPr lang="en-US" sz="1300" dirty="0"/>
          </a:p>
        </p:txBody>
      </p:sp>
      <p:sp>
        <p:nvSpPr>
          <p:cNvPr id="13" name="Text 11"/>
          <p:cNvSpPr/>
          <p:nvPr/>
        </p:nvSpPr>
        <p:spPr>
          <a:xfrm>
            <a:off x="6236208" y="1874520"/>
            <a:ext cx="2423160" cy="914400"/>
          </a:xfrm>
          <a:prstGeom prst="rect">
            <a:avLst/>
          </a:prstGeom>
          <a:noFill/>
          <a:ln/>
        </p:spPr>
        <p:txBody>
          <a:bodyPr wrap="square" rtlCol="0" anchor="ctr"/>
          <a:lstStyle/>
          <a:p>
            <a:pPr marL="0" indent="0">
              <a:lnSpc>
                <a:spcPct val="130000"/>
              </a:lnSpc>
              <a:buNone/>
            </a:pPr>
            <a:r>
              <a:rPr lang="en-US" sz="1050" dirty="0">
                <a:solidFill>
                  <a:srgbClr val="475569"/>
                </a:solidFill>
              </a:rPr>
              <a:t>htmlspecialchars() en todas</a:t>
            </a:r>
            <a:endParaRPr lang="en-US" sz="1050" dirty="0"/>
          </a:p>
          <a:p>
            <a:pPr marL="0" indent="0">
              <a:lnSpc>
                <a:spcPct val="130000"/>
              </a:lnSpc>
              <a:buNone/>
            </a:pPr>
            <a:r>
              <a:rPr lang="en-US" sz="1050" dirty="0">
                <a:solidFill>
                  <a:srgbClr val="475569"/>
                </a:solidFill>
              </a:rPr>
              <a:t>las vistas antes de mostrar</a:t>
            </a:r>
            <a:endParaRPr lang="en-US" sz="1050" dirty="0"/>
          </a:p>
          <a:p>
            <a:pPr marL="0" indent="0">
              <a:lnSpc>
                <a:spcPct val="130000"/>
              </a:lnSpc>
              <a:buNone/>
            </a:pPr>
            <a:r>
              <a:rPr lang="en-US" sz="1050" dirty="0">
                <a:solidFill>
                  <a:srgbClr val="475569"/>
                </a:solidFill>
              </a:rPr>
              <a:t>datos del usuario</a:t>
            </a:r>
            <a:endParaRPr lang="en-US" sz="1050" dirty="0"/>
          </a:p>
        </p:txBody>
      </p:sp>
      <p:sp>
        <p:nvSpPr>
          <p:cNvPr id="14" name="Shape 12"/>
          <p:cNvSpPr/>
          <p:nvPr/>
        </p:nvSpPr>
        <p:spPr>
          <a:xfrm>
            <a:off x="457200" y="3154680"/>
            <a:ext cx="2651760" cy="1600200"/>
          </a:xfrm>
          <a:prstGeom prst="roundRect">
            <a:avLst>
              <a:gd name="adj" fmla="val 5714"/>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15" name="Text 13"/>
          <p:cNvSpPr/>
          <p:nvPr/>
        </p:nvSpPr>
        <p:spPr>
          <a:xfrm>
            <a:off x="566928" y="3246120"/>
            <a:ext cx="2423160" cy="365760"/>
          </a:xfrm>
          <a:prstGeom prst="rect">
            <a:avLst/>
          </a:prstGeom>
          <a:noFill/>
          <a:ln/>
        </p:spPr>
        <p:txBody>
          <a:bodyPr wrap="square" rtlCol="0" anchor="ctr"/>
          <a:lstStyle/>
          <a:p>
            <a:pPr marL="0" indent="0">
              <a:buNone/>
            </a:pPr>
            <a:r>
              <a:rPr lang="en-US" sz="1300" b="1" dirty="0">
                <a:solidFill>
                  <a:srgbClr val="0F172A"/>
                </a:solidFill>
              </a:rPr>
              <a:t>📂  Upload seguro</a:t>
            </a:r>
            <a:endParaRPr lang="en-US" sz="1300" dirty="0"/>
          </a:p>
        </p:txBody>
      </p:sp>
      <p:sp>
        <p:nvSpPr>
          <p:cNvPr id="16" name="Text 14"/>
          <p:cNvSpPr/>
          <p:nvPr/>
        </p:nvSpPr>
        <p:spPr>
          <a:xfrm>
            <a:off x="566928" y="3657600"/>
            <a:ext cx="2423160" cy="914400"/>
          </a:xfrm>
          <a:prstGeom prst="rect">
            <a:avLst/>
          </a:prstGeom>
          <a:noFill/>
          <a:ln/>
        </p:spPr>
        <p:txBody>
          <a:bodyPr wrap="square" rtlCol="0" anchor="ctr"/>
          <a:lstStyle/>
          <a:p>
            <a:pPr marL="0" indent="0">
              <a:lnSpc>
                <a:spcPct val="130000"/>
              </a:lnSpc>
              <a:buNone/>
            </a:pPr>
            <a:r>
              <a:rPr lang="en-US" sz="1050" dirty="0">
                <a:solidFill>
                  <a:srgbClr val="475569"/>
                </a:solidFill>
              </a:rPr>
              <a:t>Validación de tipo MIME</a:t>
            </a:r>
            <a:endParaRPr lang="en-US" sz="1050" dirty="0"/>
          </a:p>
          <a:p>
            <a:pPr marL="0" indent="0">
              <a:lnSpc>
                <a:spcPct val="130000"/>
              </a:lnSpc>
              <a:buNone/>
            </a:pPr>
            <a:r>
              <a:rPr lang="en-US" sz="1050" dirty="0">
                <a:solidFill>
                  <a:srgbClr val="475569"/>
                </a:solidFill>
              </a:rPr>
              <a:t>Límite 2 MB</a:t>
            </a:r>
            <a:endParaRPr lang="en-US" sz="1050" dirty="0"/>
          </a:p>
          <a:p>
            <a:pPr marL="0" indent="0">
              <a:lnSpc>
                <a:spcPct val="130000"/>
              </a:lnSpc>
              <a:buNone/>
            </a:pPr>
            <a:r>
              <a:rPr lang="en-US" sz="1050" dirty="0">
                <a:solidFill>
                  <a:srgbClr val="475569"/>
                </a:solidFill>
              </a:rPr>
              <a:t>Nombre único uniqid()</a:t>
            </a:r>
            <a:endParaRPr lang="en-US" sz="1050" dirty="0"/>
          </a:p>
        </p:txBody>
      </p:sp>
      <p:sp>
        <p:nvSpPr>
          <p:cNvPr id="17" name="Shape 15"/>
          <p:cNvSpPr/>
          <p:nvPr/>
        </p:nvSpPr>
        <p:spPr>
          <a:xfrm>
            <a:off x="3291840" y="3154680"/>
            <a:ext cx="2651760" cy="1600200"/>
          </a:xfrm>
          <a:prstGeom prst="roundRect">
            <a:avLst>
              <a:gd name="adj" fmla="val 5714"/>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18" name="Text 16"/>
          <p:cNvSpPr/>
          <p:nvPr/>
        </p:nvSpPr>
        <p:spPr>
          <a:xfrm>
            <a:off x="3401568" y="3246120"/>
            <a:ext cx="2423160" cy="365760"/>
          </a:xfrm>
          <a:prstGeom prst="rect">
            <a:avLst/>
          </a:prstGeom>
          <a:noFill/>
          <a:ln/>
        </p:spPr>
        <p:txBody>
          <a:bodyPr wrap="square" rtlCol="0" anchor="ctr"/>
          <a:lstStyle/>
          <a:p>
            <a:pPr marL="0" indent="0">
              <a:buNone/>
            </a:pPr>
            <a:r>
              <a:rPr lang="en-US" sz="1300" b="1" dirty="0">
                <a:solidFill>
                  <a:srgbClr val="0F172A"/>
                </a:solidFill>
              </a:rPr>
              <a:t>🏷️  Sistema de Tipos</a:t>
            </a:r>
            <a:endParaRPr lang="en-US" sz="1300" dirty="0"/>
          </a:p>
        </p:txBody>
      </p:sp>
      <p:sp>
        <p:nvSpPr>
          <p:cNvPr id="19" name="Text 17"/>
          <p:cNvSpPr/>
          <p:nvPr/>
        </p:nvSpPr>
        <p:spPr>
          <a:xfrm>
            <a:off x="3401568" y="3657600"/>
            <a:ext cx="2423160" cy="914400"/>
          </a:xfrm>
          <a:prstGeom prst="rect">
            <a:avLst/>
          </a:prstGeom>
          <a:noFill/>
          <a:ln/>
        </p:spPr>
        <p:txBody>
          <a:bodyPr wrap="square" rtlCol="0" anchor="ctr"/>
          <a:lstStyle/>
          <a:p>
            <a:pPr marL="0" indent="0">
              <a:lnSpc>
                <a:spcPct val="130000"/>
              </a:lnSpc>
              <a:buNone/>
            </a:pPr>
            <a:r>
              <a:rPr lang="en-US" sz="1050" dirty="0">
                <a:solidFill>
                  <a:srgbClr val="475569"/>
                </a:solidFill>
              </a:rPr>
              <a:t>declare(strict_types=1)</a:t>
            </a:r>
            <a:endParaRPr lang="en-US" sz="1050" dirty="0"/>
          </a:p>
          <a:p>
            <a:pPr marL="0" indent="0">
              <a:lnSpc>
                <a:spcPct val="130000"/>
              </a:lnSpc>
              <a:buNone/>
            </a:pPr>
            <a:r>
              <a:rPr lang="en-US" sz="1050" dirty="0">
                <a:solidFill>
                  <a:srgbClr val="475569"/>
                </a:solidFill>
              </a:rPr>
              <a:t>Type hints </a:t>
            </a:r>
            <a:r>
              <a:rPr lang="en-US" sz="1050" dirty="0" err="1">
                <a:solidFill>
                  <a:srgbClr val="475569"/>
                </a:solidFill>
              </a:rPr>
              <a:t>en</a:t>
            </a:r>
            <a:r>
              <a:rPr lang="en-US" sz="1050" dirty="0">
                <a:solidFill>
                  <a:srgbClr val="475569"/>
                </a:solidFill>
              </a:rPr>
              <a:t> </a:t>
            </a:r>
            <a:r>
              <a:rPr lang="en-US" sz="1050" dirty="0" err="1">
                <a:solidFill>
                  <a:srgbClr val="475569"/>
                </a:solidFill>
              </a:rPr>
              <a:t>métodos</a:t>
            </a:r>
            <a:endParaRPr lang="en-US" sz="1050" dirty="0"/>
          </a:p>
        </p:txBody>
      </p:sp>
      <p:sp>
        <p:nvSpPr>
          <p:cNvPr id="20" name="Shape 18"/>
          <p:cNvSpPr/>
          <p:nvPr/>
        </p:nvSpPr>
        <p:spPr>
          <a:xfrm>
            <a:off x="6126480" y="3154680"/>
            <a:ext cx="2651760" cy="1600200"/>
          </a:xfrm>
          <a:prstGeom prst="roundRect">
            <a:avLst>
              <a:gd name="adj" fmla="val 5714"/>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21" name="Text 19"/>
          <p:cNvSpPr/>
          <p:nvPr/>
        </p:nvSpPr>
        <p:spPr>
          <a:xfrm>
            <a:off x="6236208" y="3246120"/>
            <a:ext cx="2423160" cy="365760"/>
          </a:xfrm>
          <a:prstGeom prst="rect">
            <a:avLst/>
          </a:prstGeom>
          <a:noFill/>
          <a:ln/>
        </p:spPr>
        <p:txBody>
          <a:bodyPr wrap="square" rtlCol="0" anchor="ctr"/>
          <a:lstStyle/>
          <a:p>
            <a:pPr marL="0" indent="0">
              <a:buNone/>
            </a:pPr>
            <a:r>
              <a:rPr lang="en-US" sz="1300" b="1" dirty="0">
                <a:solidFill>
                  <a:srgbClr val="0F172A"/>
                </a:solidFill>
              </a:rPr>
              <a:t>⚡  Triggers BD</a:t>
            </a:r>
            <a:endParaRPr lang="en-US" sz="1300" dirty="0"/>
          </a:p>
        </p:txBody>
      </p:sp>
      <p:sp>
        <p:nvSpPr>
          <p:cNvPr id="22" name="Text 20"/>
          <p:cNvSpPr/>
          <p:nvPr/>
        </p:nvSpPr>
        <p:spPr>
          <a:xfrm>
            <a:off x="6236208" y="3657600"/>
            <a:ext cx="2423160" cy="914400"/>
          </a:xfrm>
          <a:prstGeom prst="rect">
            <a:avLst/>
          </a:prstGeom>
          <a:noFill/>
          <a:ln/>
        </p:spPr>
        <p:txBody>
          <a:bodyPr wrap="square" rtlCol="0" anchor="ctr"/>
          <a:lstStyle/>
          <a:p>
            <a:pPr marL="0" indent="0">
              <a:lnSpc>
                <a:spcPct val="130000"/>
              </a:lnSpc>
              <a:buNone/>
            </a:pPr>
            <a:r>
              <a:rPr lang="en-US" sz="1050" dirty="0">
                <a:solidFill>
                  <a:srgbClr val="475569"/>
                </a:solidFill>
              </a:rPr>
              <a:t>trg_horario_no_solapamiento</a:t>
            </a:r>
            <a:endParaRPr lang="en-US" sz="1050" dirty="0"/>
          </a:p>
          <a:p>
            <a:pPr marL="0" indent="0">
              <a:lnSpc>
                <a:spcPct val="130000"/>
              </a:lnSpc>
              <a:buNone/>
            </a:pPr>
            <a:r>
              <a:rPr lang="en-US" sz="1050" dirty="0">
                <a:solidFill>
                  <a:srgbClr val="475569"/>
                </a:solidFill>
              </a:rPr>
              <a:t>trg_solicitud_aceptada</a:t>
            </a:r>
            <a:endParaRPr lang="en-US" sz="1050" dirty="0"/>
          </a:p>
          <a:p>
            <a:pPr marL="0" indent="0">
              <a:lnSpc>
                <a:spcPct val="130000"/>
              </a:lnSpc>
              <a:buNone/>
            </a:pPr>
            <a:r>
              <a:rPr lang="en-US" sz="1050" dirty="0">
                <a:solidFill>
                  <a:srgbClr val="475569"/>
                </a:solidFill>
              </a:rPr>
              <a:t>Integridad en capa de datos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457200" y="274320"/>
            <a:ext cx="1645920" cy="301752"/>
          </a:xfrm>
          <a:prstGeom prst="roundRect">
            <a:avLst>
              <a:gd name="adj" fmla="val 18182"/>
            </a:avLst>
          </a:prstGeom>
          <a:solidFill>
            <a:srgbClr val="F59E0B"/>
          </a:solidFill>
          <a:ln w="12700">
            <a:solidFill>
              <a:srgbClr val="F59E0B"/>
            </a:solidFill>
            <a:prstDash val="solid"/>
          </a:ln>
        </p:spPr>
        <p:txBody>
          <a:bodyPr/>
          <a:lstStyle/>
          <a:p>
            <a:endParaRPr lang="es-AR"/>
          </a:p>
        </p:txBody>
      </p:sp>
      <p:sp>
        <p:nvSpPr>
          <p:cNvPr id="3" name="Text 1"/>
          <p:cNvSpPr/>
          <p:nvPr/>
        </p:nvSpPr>
        <p:spPr>
          <a:xfrm>
            <a:off x="457200" y="274320"/>
            <a:ext cx="1645920" cy="301752"/>
          </a:xfrm>
          <a:prstGeom prst="rect">
            <a:avLst/>
          </a:prstGeom>
          <a:noFill/>
          <a:ln/>
        </p:spPr>
        <p:txBody>
          <a:bodyPr wrap="square" lIns="0" tIns="0" rIns="0" bIns="0" rtlCol="0" anchor="ctr"/>
          <a:lstStyle/>
          <a:p>
            <a:pPr marL="0" indent="0" algn="ctr">
              <a:buNone/>
            </a:pPr>
            <a:r>
              <a:rPr lang="en-US" sz="900" b="1" dirty="0">
                <a:solidFill>
                  <a:srgbClr val="0F172A"/>
                </a:solidFill>
              </a:rPr>
              <a:t>06 · BLOCKCHAIN</a:t>
            </a:r>
            <a:endParaRPr lang="en-US" sz="900" dirty="0"/>
          </a:p>
        </p:txBody>
      </p:sp>
      <p:sp>
        <p:nvSpPr>
          <p:cNvPr id="4" name="Text 2"/>
          <p:cNvSpPr/>
          <p:nvPr/>
        </p:nvSpPr>
        <p:spPr>
          <a:xfrm>
            <a:off x="457200" y="685800"/>
            <a:ext cx="8229600" cy="548640"/>
          </a:xfrm>
          <a:prstGeom prst="rect">
            <a:avLst/>
          </a:prstGeom>
          <a:noFill/>
          <a:ln/>
        </p:spPr>
        <p:txBody>
          <a:bodyPr wrap="square" rtlCol="0" anchor="ctr"/>
          <a:lstStyle/>
          <a:p>
            <a:pPr marL="0" indent="0">
              <a:buNone/>
            </a:pPr>
            <a:r>
              <a:rPr lang="en-US" sz="2600" b="1" dirty="0">
                <a:solidFill>
                  <a:srgbClr val="FFFFFF"/>
                </a:solidFill>
              </a:rPr>
              <a:t>Registro inmutable de tutorías.</a:t>
            </a:r>
            <a:endParaRPr lang="en-US" sz="2600" dirty="0"/>
          </a:p>
        </p:txBody>
      </p:sp>
      <p:sp>
        <p:nvSpPr>
          <p:cNvPr id="5" name="Shape 3"/>
          <p:cNvSpPr/>
          <p:nvPr/>
        </p:nvSpPr>
        <p:spPr>
          <a:xfrm>
            <a:off x="457200" y="1371600"/>
            <a:ext cx="1920240" cy="1005840"/>
          </a:xfrm>
          <a:prstGeom prst="roundRect">
            <a:avLst>
              <a:gd name="adj" fmla="val 9091"/>
            </a:avLst>
          </a:prstGeom>
          <a:solidFill>
            <a:srgbClr val="1E3A5F"/>
          </a:solidFill>
          <a:ln w="12700">
            <a:solidFill>
              <a:srgbClr val="F59E0B"/>
            </a:solidFill>
            <a:prstDash val="solid"/>
          </a:ln>
        </p:spPr>
        <p:txBody>
          <a:bodyPr/>
          <a:lstStyle/>
          <a:p>
            <a:endParaRPr lang="es-AR"/>
          </a:p>
        </p:txBody>
      </p:sp>
      <p:sp>
        <p:nvSpPr>
          <p:cNvPr id="6" name="Text 4"/>
          <p:cNvSpPr/>
          <p:nvPr/>
        </p:nvSpPr>
        <p:spPr>
          <a:xfrm>
            <a:off x="457200" y="1371600"/>
            <a:ext cx="1920240" cy="1005840"/>
          </a:xfrm>
          <a:prstGeom prst="rect">
            <a:avLst/>
          </a:prstGeom>
          <a:noFill/>
          <a:ln/>
        </p:spPr>
        <p:txBody>
          <a:bodyPr wrap="square" rtlCol="0" anchor="ctr"/>
          <a:lstStyle/>
          <a:p>
            <a:pPr marL="0" indent="0" algn="ctr">
              <a:buNone/>
            </a:pPr>
            <a:r>
              <a:rPr lang="en-US" sz="1100" dirty="0">
                <a:solidFill>
                  <a:srgbClr val="FFFFFF"/>
                </a:solidFill>
              </a:rPr>
              <a:t>Tutoría</a:t>
            </a:r>
            <a:endParaRPr lang="en-US" sz="1100" dirty="0"/>
          </a:p>
          <a:p>
            <a:pPr marL="0" indent="0" algn="ctr">
              <a:buNone/>
            </a:pPr>
            <a:r>
              <a:rPr lang="en-US" sz="1100" dirty="0">
                <a:solidFill>
                  <a:srgbClr val="FFFFFF"/>
                </a:solidFill>
              </a:rPr>
              <a:t>Finalizada</a:t>
            </a:r>
            <a:endParaRPr lang="en-US" sz="1100" dirty="0"/>
          </a:p>
        </p:txBody>
      </p:sp>
      <p:sp>
        <p:nvSpPr>
          <p:cNvPr id="7" name="Text 5"/>
          <p:cNvSpPr/>
          <p:nvPr/>
        </p:nvSpPr>
        <p:spPr>
          <a:xfrm>
            <a:off x="2377440" y="1371600"/>
            <a:ext cx="228600" cy="1005840"/>
          </a:xfrm>
          <a:prstGeom prst="rect">
            <a:avLst/>
          </a:prstGeom>
          <a:noFill/>
          <a:ln/>
        </p:spPr>
        <p:txBody>
          <a:bodyPr wrap="square" rtlCol="0" anchor="ctr"/>
          <a:lstStyle/>
          <a:p>
            <a:pPr marL="0" indent="0" algn="ctr">
              <a:buNone/>
            </a:pPr>
            <a:r>
              <a:rPr lang="en-US" sz="1600" dirty="0">
                <a:solidFill>
                  <a:srgbClr val="F59E0B"/>
                </a:solidFill>
              </a:rPr>
              <a:t>→</a:t>
            </a:r>
            <a:endParaRPr lang="en-US" sz="1600" dirty="0"/>
          </a:p>
        </p:txBody>
      </p:sp>
      <p:sp>
        <p:nvSpPr>
          <p:cNvPr id="8" name="Shape 6"/>
          <p:cNvSpPr/>
          <p:nvPr/>
        </p:nvSpPr>
        <p:spPr>
          <a:xfrm>
            <a:off x="2606040" y="1371600"/>
            <a:ext cx="1920240" cy="1005840"/>
          </a:xfrm>
          <a:prstGeom prst="roundRect">
            <a:avLst>
              <a:gd name="adj" fmla="val 9091"/>
            </a:avLst>
          </a:prstGeom>
          <a:solidFill>
            <a:srgbClr val="1E3A5F"/>
          </a:solidFill>
          <a:ln w="12700">
            <a:solidFill>
              <a:srgbClr val="F59E0B"/>
            </a:solidFill>
            <a:prstDash val="solid"/>
          </a:ln>
        </p:spPr>
        <p:txBody>
          <a:bodyPr/>
          <a:lstStyle/>
          <a:p>
            <a:endParaRPr lang="es-AR"/>
          </a:p>
        </p:txBody>
      </p:sp>
      <p:sp>
        <p:nvSpPr>
          <p:cNvPr id="9" name="Text 7"/>
          <p:cNvSpPr/>
          <p:nvPr/>
        </p:nvSpPr>
        <p:spPr>
          <a:xfrm>
            <a:off x="2606040" y="1371600"/>
            <a:ext cx="1920240" cy="1005840"/>
          </a:xfrm>
          <a:prstGeom prst="rect">
            <a:avLst/>
          </a:prstGeom>
          <a:noFill/>
          <a:ln/>
        </p:spPr>
        <p:txBody>
          <a:bodyPr wrap="square" rtlCol="0" anchor="ctr"/>
          <a:lstStyle/>
          <a:p>
            <a:pPr marL="0" indent="0" algn="ctr">
              <a:buNone/>
            </a:pPr>
            <a:r>
              <a:rPr lang="en-US" sz="1100" dirty="0">
                <a:solidFill>
                  <a:srgbClr val="FFFFFF"/>
                </a:solidFill>
              </a:rPr>
              <a:t>Sistema genera</a:t>
            </a:r>
            <a:endParaRPr lang="en-US" sz="1100" dirty="0"/>
          </a:p>
          <a:p>
            <a:pPr marL="0" indent="0" algn="ctr">
              <a:buNone/>
            </a:pPr>
            <a:r>
              <a:rPr lang="en-US" sz="1100" dirty="0">
                <a:solidFill>
                  <a:srgbClr val="FFFFFF"/>
                </a:solidFill>
              </a:rPr>
              <a:t>tx_hash SHA-256</a:t>
            </a:r>
            <a:endParaRPr lang="en-US" sz="1100" dirty="0"/>
          </a:p>
        </p:txBody>
      </p:sp>
      <p:sp>
        <p:nvSpPr>
          <p:cNvPr id="10" name="Text 8"/>
          <p:cNvSpPr/>
          <p:nvPr/>
        </p:nvSpPr>
        <p:spPr>
          <a:xfrm>
            <a:off x="4526280" y="1371600"/>
            <a:ext cx="228600" cy="1005840"/>
          </a:xfrm>
          <a:prstGeom prst="rect">
            <a:avLst/>
          </a:prstGeom>
          <a:noFill/>
          <a:ln/>
        </p:spPr>
        <p:txBody>
          <a:bodyPr wrap="square" rtlCol="0" anchor="ctr"/>
          <a:lstStyle/>
          <a:p>
            <a:pPr marL="0" indent="0" algn="ctr">
              <a:buNone/>
            </a:pPr>
            <a:r>
              <a:rPr lang="en-US" sz="1600" dirty="0">
                <a:solidFill>
                  <a:srgbClr val="F59E0B"/>
                </a:solidFill>
              </a:rPr>
              <a:t>→</a:t>
            </a:r>
            <a:endParaRPr lang="en-US" sz="1600" dirty="0"/>
          </a:p>
        </p:txBody>
      </p:sp>
      <p:sp>
        <p:nvSpPr>
          <p:cNvPr id="11" name="Shape 9"/>
          <p:cNvSpPr/>
          <p:nvPr/>
        </p:nvSpPr>
        <p:spPr>
          <a:xfrm>
            <a:off x="4754880" y="1371600"/>
            <a:ext cx="1920240" cy="1005840"/>
          </a:xfrm>
          <a:prstGeom prst="roundRect">
            <a:avLst>
              <a:gd name="adj" fmla="val 9091"/>
            </a:avLst>
          </a:prstGeom>
          <a:solidFill>
            <a:srgbClr val="1E3A5F"/>
          </a:solidFill>
          <a:ln w="12700">
            <a:solidFill>
              <a:srgbClr val="F59E0B"/>
            </a:solidFill>
            <a:prstDash val="solid"/>
          </a:ln>
        </p:spPr>
        <p:txBody>
          <a:bodyPr/>
          <a:lstStyle/>
          <a:p>
            <a:endParaRPr lang="es-AR"/>
          </a:p>
        </p:txBody>
      </p:sp>
      <p:sp>
        <p:nvSpPr>
          <p:cNvPr id="12" name="Text 10"/>
          <p:cNvSpPr/>
          <p:nvPr/>
        </p:nvSpPr>
        <p:spPr>
          <a:xfrm>
            <a:off x="4754880" y="1371600"/>
            <a:ext cx="1920240" cy="1005840"/>
          </a:xfrm>
          <a:prstGeom prst="rect">
            <a:avLst/>
          </a:prstGeom>
          <a:noFill/>
          <a:ln/>
        </p:spPr>
        <p:txBody>
          <a:bodyPr wrap="square" rtlCol="0" anchor="ctr"/>
          <a:lstStyle/>
          <a:p>
            <a:pPr marL="0" indent="0" algn="ctr">
              <a:buNone/>
            </a:pPr>
            <a:r>
              <a:rPr lang="en-US" sz="1100" dirty="0">
                <a:solidFill>
                  <a:srgbClr val="FFFFFF"/>
                </a:solidFill>
              </a:rPr>
              <a:t>Registro en</a:t>
            </a:r>
            <a:endParaRPr lang="en-US" sz="1100" dirty="0"/>
          </a:p>
          <a:p>
            <a:pPr marL="0" indent="0" algn="ctr">
              <a:buNone/>
            </a:pPr>
            <a:r>
              <a:rPr lang="en-US" sz="1100" dirty="0">
                <a:solidFill>
                  <a:srgbClr val="FFFFFF"/>
                </a:solidFill>
              </a:rPr>
              <a:t>blockchain_pagos</a:t>
            </a:r>
            <a:endParaRPr lang="en-US" sz="1100" dirty="0"/>
          </a:p>
        </p:txBody>
      </p:sp>
      <p:sp>
        <p:nvSpPr>
          <p:cNvPr id="13" name="Text 11"/>
          <p:cNvSpPr/>
          <p:nvPr/>
        </p:nvSpPr>
        <p:spPr>
          <a:xfrm>
            <a:off x="6675120" y="1371600"/>
            <a:ext cx="228600" cy="1005840"/>
          </a:xfrm>
          <a:prstGeom prst="rect">
            <a:avLst/>
          </a:prstGeom>
          <a:noFill/>
          <a:ln/>
        </p:spPr>
        <p:txBody>
          <a:bodyPr wrap="square" rtlCol="0" anchor="ctr"/>
          <a:lstStyle/>
          <a:p>
            <a:pPr marL="0" indent="0" algn="ctr">
              <a:buNone/>
            </a:pPr>
            <a:r>
              <a:rPr lang="en-US" sz="1600" dirty="0">
                <a:solidFill>
                  <a:srgbClr val="F59E0B"/>
                </a:solidFill>
              </a:rPr>
              <a:t>→</a:t>
            </a:r>
            <a:endParaRPr lang="en-US" sz="1600" dirty="0"/>
          </a:p>
        </p:txBody>
      </p:sp>
      <p:sp>
        <p:nvSpPr>
          <p:cNvPr id="14" name="Shape 12"/>
          <p:cNvSpPr/>
          <p:nvPr/>
        </p:nvSpPr>
        <p:spPr>
          <a:xfrm>
            <a:off x="6903720" y="1371600"/>
            <a:ext cx="1920240" cy="1005840"/>
          </a:xfrm>
          <a:prstGeom prst="roundRect">
            <a:avLst>
              <a:gd name="adj" fmla="val 9091"/>
            </a:avLst>
          </a:prstGeom>
          <a:solidFill>
            <a:srgbClr val="1E3A5F"/>
          </a:solidFill>
          <a:ln w="12700">
            <a:solidFill>
              <a:srgbClr val="F59E0B"/>
            </a:solidFill>
            <a:prstDash val="solid"/>
          </a:ln>
        </p:spPr>
        <p:txBody>
          <a:bodyPr/>
          <a:lstStyle/>
          <a:p>
            <a:endParaRPr lang="es-AR"/>
          </a:p>
        </p:txBody>
      </p:sp>
      <p:sp>
        <p:nvSpPr>
          <p:cNvPr id="15" name="Text 13"/>
          <p:cNvSpPr/>
          <p:nvPr/>
        </p:nvSpPr>
        <p:spPr>
          <a:xfrm>
            <a:off x="6903720" y="1371600"/>
            <a:ext cx="1920240" cy="1005840"/>
          </a:xfrm>
          <a:prstGeom prst="rect">
            <a:avLst/>
          </a:prstGeom>
          <a:noFill/>
          <a:ln/>
        </p:spPr>
        <p:txBody>
          <a:bodyPr wrap="square" rtlCol="0" anchor="ctr"/>
          <a:lstStyle/>
          <a:p>
            <a:pPr marL="0" indent="0" algn="ctr">
              <a:buNone/>
            </a:pPr>
            <a:r>
              <a:rPr lang="en-US" sz="1100" dirty="0">
                <a:solidFill>
                  <a:srgbClr val="FFFFFF"/>
                </a:solidFill>
              </a:rPr>
              <a:t>Panel Admin</a:t>
            </a:r>
            <a:endParaRPr lang="en-US" sz="1100" dirty="0"/>
          </a:p>
          <a:p>
            <a:pPr marL="0" indent="0" algn="ctr">
              <a:buNone/>
            </a:pPr>
            <a:r>
              <a:rPr lang="en-US" sz="1100" dirty="0">
                <a:solidFill>
                  <a:srgbClr val="FFFFFF"/>
                </a:solidFill>
              </a:rPr>
              <a:t>verifica TX</a:t>
            </a:r>
            <a:endParaRPr lang="en-US" sz="1100" dirty="0"/>
          </a:p>
        </p:txBody>
      </p:sp>
      <p:sp>
        <p:nvSpPr>
          <p:cNvPr id="16" name="Shape 14"/>
          <p:cNvSpPr/>
          <p:nvPr/>
        </p:nvSpPr>
        <p:spPr>
          <a:xfrm>
            <a:off x="457200" y="2606040"/>
            <a:ext cx="8229600" cy="2286000"/>
          </a:xfrm>
          <a:prstGeom prst="roundRect">
            <a:avLst>
              <a:gd name="adj" fmla="val 4800"/>
            </a:avLst>
          </a:prstGeom>
          <a:solidFill>
            <a:srgbClr val="1E3A5F"/>
          </a:solidFill>
          <a:ln w="10160">
            <a:solidFill>
              <a:srgbClr val="F59E0B"/>
            </a:solidFill>
            <a:prstDash val="solid"/>
          </a:ln>
        </p:spPr>
        <p:txBody>
          <a:bodyPr/>
          <a:lstStyle/>
          <a:p>
            <a:endParaRPr lang="es-AR"/>
          </a:p>
        </p:txBody>
      </p:sp>
      <p:sp>
        <p:nvSpPr>
          <p:cNvPr id="17" name="Text 15"/>
          <p:cNvSpPr/>
          <p:nvPr/>
        </p:nvSpPr>
        <p:spPr>
          <a:xfrm>
            <a:off x="640080" y="2697480"/>
            <a:ext cx="7863840" cy="411480"/>
          </a:xfrm>
          <a:prstGeom prst="rect">
            <a:avLst/>
          </a:prstGeom>
          <a:noFill/>
          <a:ln/>
        </p:spPr>
        <p:txBody>
          <a:bodyPr wrap="square" rtlCol="0" anchor="ctr"/>
          <a:lstStyle/>
          <a:p>
            <a:pPr marL="0" indent="0">
              <a:buNone/>
            </a:pPr>
            <a:r>
              <a:rPr lang="en-US" sz="1400" b="1" dirty="0">
                <a:solidFill>
                  <a:srgbClr val="F59E0B"/>
                </a:solidFill>
              </a:rPr>
              <a:t>🏗️  Decisión Arquitectónica MVP</a:t>
            </a:r>
            <a:endParaRPr lang="en-US" sz="1400" dirty="0"/>
          </a:p>
        </p:txBody>
      </p:sp>
      <p:sp>
        <p:nvSpPr>
          <p:cNvPr id="18" name="Text 16"/>
          <p:cNvSpPr/>
          <p:nvPr/>
        </p:nvSpPr>
        <p:spPr>
          <a:xfrm>
            <a:off x="640080" y="3154680"/>
            <a:ext cx="7863840" cy="1554480"/>
          </a:xfrm>
          <a:prstGeom prst="rect">
            <a:avLst/>
          </a:prstGeom>
          <a:noFill/>
          <a:ln/>
        </p:spPr>
        <p:txBody>
          <a:bodyPr wrap="square" rtlCol="0" anchor="ctr"/>
          <a:lstStyle/>
          <a:p>
            <a:pPr marL="0" indent="0">
              <a:lnSpc>
                <a:spcPct val="130000"/>
              </a:lnSpc>
              <a:buNone/>
            </a:pPr>
            <a:r>
              <a:rPr lang="en-US" sz="1150" dirty="0">
                <a:solidFill>
                  <a:srgbClr val="E2E8F0"/>
                </a:solidFill>
              </a:rPr>
              <a:t>En producción real se usaría Infura/Alchemy + web3.php para firmar transacciones reales en Sepolia Testnet. Para el MVP, generamos un tx_hash determinista con SHA-256 (como los 32 bytes hexadecimales de un hash Ethereum real). La arquitectura está preparada para intercambiar la función simulada por una llamada RPC real sin cambiar el resto del código.</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274320"/>
            <a:ext cx="1645920" cy="301752"/>
          </a:xfrm>
          <a:prstGeom prst="roundRect">
            <a:avLst>
              <a:gd name="adj" fmla="val 18182"/>
            </a:avLst>
          </a:prstGeom>
          <a:solidFill>
            <a:srgbClr val="0D9488"/>
          </a:solidFill>
          <a:ln w="12700">
            <a:solidFill>
              <a:srgbClr val="0D9488"/>
            </a:solidFill>
            <a:prstDash val="solid"/>
          </a:ln>
        </p:spPr>
        <p:txBody>
          <a:bodyPr/>
          <a:lstStyle/>
          <a:p>
            <a:endParaRPr lang="es-AR"/>
          </a:p>
        </p:txBody>
      </p:sp>
      <p:sp>
        <p:nvSpPr>
          <p:cNvPr id="3" name="Text 1"/>
          <p:cNvSpPr/>
          <p:nvPr/>
        </p:nvSpPr>
        <p:spPr>
          <a:xfrm>
            <a:off x="457200" y="274320"/>
            <a:ext cx="1645920" cy="301752"/>
          </a:xfrm>
          <a:prstGeom prst="rect">
            <a:avLst/>
          </a:prstGeom>
          <a:noFill/>
          <a:ln/>
        </p:spPr>
        <p:txBody>
          <a:bodyPr wrap="square" lIns="0" tIns="0" rIns="0" bIns="0" rtlCol="0" anchor="ctr"/>
          <a:lstStyle/>
          <a:p>
            <a:pPr marL="0" indent="0" algn="ctr">
              <a:buNone/>
            </a:pPr>
            <a:r>
              <a:rPr lang="en-US" sz="900" b="1" dirty="0">
                <a:solidFill>
                  <a:srgbClr val="FFFFFF"/>
                </a:solidFill>
              </a:rPr>
              <a:t>07 · IMPACTO SOCIAL</a:t>
            </a:r>
            <a:endParaRPr lang="en-US" sz="900" dirty="0"/>
          </a:p>
        </p:txBody>
      </p:sp>
      <p:sp>
        <p:nvSpPr>
          <p:cNvPr id="4" name="Text 2"/>
          <p:cNvSpPr/>
          <p:nvPr/>
        </p:nvSpPr>
        <p:spPr>
          <a:xfrm>
            <a:off x="457200" y="685800"/>
            <a:ext cx="8229600" cy="914400"/>
          </a:xfrm>
          <a:prstGeom prst="rect">
            <a:avLst/>
          </a:prstGeom>
          <a:noFill/>
          <a:ln/>
        </p:spPr>
        <p:txBody>
          <a:bodyPr wrap="square" rtlCol="0" anchor="ctr"/>
          <a:lstStyle/>
          <a:p>
            <a:pPr marL="0" indent="0">
              <a:lnSpc>
                <a:spcPct val="120000"/>
              </a:lnSpc>
              <a:buNone/>
            </a:pPr>
            <a:r>
              <a:rPr lang="en-US" sz="2600" b="1" dirty="0">
                <a:solidFill>
                  <a:srgbClr val="0F172A"/>
                </a:solidFill>
              </a:rPr>
              <a:t>Democratizar el acceso</a:t>
            </a:r>
            <a:endParaRPr lang="en-US" sz="2600" dirty="0"/>
          </a:p>
          <a:p>
            <a:pPr marL="0" indent="0">
              <a:lnSpc>
                <a:spcPct val="120000"/>
              </a:lnSpc>
              <a:buNone/>
            </a:pPr>
            <a:r>
              <a:rPr lang="en-US" sz="2600" b="1" dirty="0">
                <a:solidFill>
                  <a:srgbClr val="0F172A"/>
                </a:solidFill>
              </a:rPr>
              <a:t>al conocimiento universitario.</a:t>
            </a:r>
            <a:endParaRPr lang="en-US" sz="2600" dirty="0"/>
          </a:p>
        </p:txBody>
      </p:sp>
      <p:sp>
        <p:nvSpPr>
          <p:cNvPr id="5" name="Shape 3"/>
          <p:cNvSpPr/>
          <p:nvPr/>
        </p:nvSpPr>
        <p:spPr>
          <a:xfrm>
            <a:off x="457200" y="1737360"/>
            <a:ext cx="2651760" cy="1371600"/>
          </a:xfrm>
          <a:prstGeom prst="roundRect">
            <a:avLst>
              <a:gd name="adj" fmla="val 6667"/>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6" name="Text 4"/>
          <p:cNvSpPr/>
          <p:nvPr/>
        </p:nvSpPr>
        <p:spPr>
          <a:xfrm>
            <a:off x="457200" y="1828800"/>
            <a:ext cx="2651760" cy="640080"/>
          </a:xfrm>
          <a:prstGeom prst="rect">
            <a:avLst/>
          </a:prstGeom>
          <a:noFill/>
          <a:ln/>
        </p:spPr>
        <p:txBody>
          <a:bodyPr wrap="square" rtlCol="0" anchor="ctr"/>
          <a:lstStyle/>
          <a:p>
            <a:pPr marL="0" indent="0" algn="ctr">
              <a:buNone/>
            </a:pPr>
            <a:r>
              <a:rPr lang="en-US" sz="3600" b="1" dirty="0">
                <a:solidFill>
                  <a:srgbClr val="0D9488"/>
                </a:solidFill>
              </a:rPr>
              <a:t>2M+</a:t>
            </a:r>
            <a:endParaRPr lang="en-US" sz="3600" dirty="0"/>
          </a:p>
        </p:txBody>
      </p:sp>
      <p:sp>
        <p:nvSpPr>
          <p:cNvPr id="7" name="Text 5"/>
          <p:cNvSpPr/>
          <p:nvPr/>
        </p:nvSpPr>
        <p:spPr>
          <a:xfrm>
            <a:off x="548640" y="2487168"/>
            <a:ext cx="2468880" cy="530352"/>
          </a:xfrm>
          <a:prstGeom prst="rect">
            <a:avLst/>
          </a:prstGeom>
          <a:noFill/>
          <a:ln/>
        </p:spPr>
        <p:txBody>
          <a:bodyPr wrap="square" rtlCol="0" anchor="ctr"/>
          <a:lstStyle/>
          <a:p>
            <a:pPr marL="0" indent="0" algn="ctr">
              <a:lnSpc>
                <a:spcPct val="125000"/>
              </a:lnSpc>
              <a:buNone/>
            </a:pPr>
            <a:r>
              <a:rPr lang="en-US" sz="1050" dirty="0">
                <a:solidFill>
                  <a:srgbClr val="475569"/>
                </a:solidFill>
              </a:rPr>
              <a:t>estudiantes universitarios</a:t>
            </a:r>
            <a:endParaRPr lang="en-US" sz="1050" dirty="0"/>
          </a:p>
          <a:p>
            <a:pPr marL="0" indent="0" algn="ctr">
              <a:lnSpc>
                <a:spcPct val="125000"/>
              </a:lnSpc>
              <a:buNone/>
            </a:pPr>
            <a:r>
              <a:rPr lang="en-US" sz="1050" dirty="0">
                <a:solidFill>
                  <a:srgbClr val="475569"/>
                </a:solidFill>
              </a:rPr>
              <a:t>en Argentina</a:t>
            </a:r>
            <a:endParaRPr lang="en-US" sz="1050" dirty="0"/>
          </a:p>
        </p:txBody>
      </p:sp>
      <p:sp>
        <p:nvSpPr>
          <p:cNvPr id="8" name="Shape 6"/>
          <p:cNvSpPr/>
          <p:nvPr/>
        </p:nvSpPr>
        <p:spPr>
          <a:xfrm>
            <a:off x="3291840" y="1737360"/>
            <a:ext cx="2651760" cy="1371600"/>
          </a:xfrm>
          <a:prstGeom prst="roundRect">
            <a:avLst>
              <a:gd name="adj" fmla="val 6667"/>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9" name="Text 7"/>
          <p:cNvSpPr/>
          <p:nvPr/>
        </p:nvSpPr>
        <p:spPr>
          <a:xfrm>
            <a:off x="3291840" y="1828800"/>
            <a:ext cx="2651760" cy="640080"/>
          </a:xfrm>
          <a:prstGeom prst="rect">
            <a:avLst/>
          </a:prstGeom>
          <a:noFill/>
          <a:ln/>
        </p:spPr>
        <p:txBody>
          <a:bodyPr wrap="square" rtlCol="0" anchor="ctr"/>
          <a:lstStyle/>
          <a:p>
            <a:pPr marL="0" indent="0" algn="ctr">
              <a:buNone/>
            </a:pPr>
            <a:r>
              <a:rPr lang="en-US" sz="3600" b="1" dirty="0">
                <a:solidFill>
                  <a:srgbClr val="0D9488"/>
                </a:solidFill>
              </a:rPr>
              <a:t>&gt;40%</a:t>
            </a:r>
            <a:endParaRPr lang="en-US" sz="3600" dirty="0"/>
          </a:p>
        </p:txBody>
      </p:sp>
      <p:sp>
        <p:nvSpPr>
          <p:cNvPr id="10" name="Text 8"/>
          <p:cNvSpPr/>
          <p:nvPr/>
        </p:nvSpPr>
        <p:spPr>
          <a:xfrm>
            <a:off x="3383280" y="2487168"/>
            <a:ext cx="2468880" cy="530352"/>
          </a:xfrm>
          <a:prstGeom prst="rect">
            <a:avLst/>
          </a:prstGeom>
          <a:noFill/>
          <a:ln/>
        </p:spPr>
        <p:txBody>
          <a:bodyPr wrap="square" rtlCol="0" anchor="ctr"/>
          <a:lstStyle/>
          <a:p>
            <a:pPr marL="0" indent="0" algn="ctr">
              <a:lnSpc>
                <a:spcPct val="125000"/>
              </a:lnSpc>
              <a:buNone/>
            </a:pPr>
            <a:r>
              <a:rPr lang="en-US" sz="1050" dirty="0">
                <a:solidFill>
                  <a:srgbClr val="475569"/>
                </a:solidFill>
              </a:rPr>
              <a:t>reprobación en 1er año</a:t>
            </a:r>
            <a:endParaRPr lang="en-US" sz="1050" dirty="0"/>
          </a:p>
          <a:p>
            <a:pPr marL="0" indent="0" algn="ctr">
              <a:lnSpc>
                <a:spcPct val="125000"/>
              </a:lnSpc>
              <a:buNone/>
            </a:pPr>
            <a:r>
              <a:rPr lang="en-US" sz="1050" dirty="0">
                <a:solidFill>
                  <a:srgbClr val="475569"/>
                </a:solidFill>
              </a:rPr>
              <a:t>por falta de apoyo</a:t>
            </a:r>
            <a:endParaRPr lang="en-US" sz="1050" dirty="0"/>
          </a:p>
        </p:txBody>
      </p:sp>
      <p:sp>
        <p:nvSpPr>
          <p:cNvPr id="11" name="Shape 9"/>
          <p:cNvSpPr/>
          <p:nvPr/>
        </p:nvSpPr>
        <p:spPr>
          <a:xfrm>
            <a:off x="6126480" y="1737360"/>
            <a:ext cx="2651760" cy="1371600"/>
          </a:xfrm>
          <a:prstGeom prst="roundRect">
            <a:avLst>
              <a:gd name="adj" fmla="val 6667"/>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12" name="Text 10"/>
          <p:cNvSpPr/>
          <p:nvPr/>
        </p:nvSpPr>
        <p:spPr>
          <a:xfrm>
            <a:off x="6126480" y="1828800"/>
            <a:ext cx="2651760" cy="640080"/>
          </a:xfrm>
          <a:prstGeom prst="rect">
            <a:avLst/>
          </a:prstGeom>
          <a:noFill/>
          <a:ln/>
        </p:spPr>
        <p:txBody>
          <a:bodyPr wrap="square" rtlCol="0" anchor="ctr"/>
          <a:lstStyle/>
          <a:p>
            <a:pPr marL="0" indent="0" algn="ctr">
              <a:buNone/>
            </a:pPr>
            <a:r>
              <a:rPr lang="en-US" sz="3600" b="1" dirty="0">
                <a:solidFill>
                  <a:srgbClr val="0D9488"/>
                </a:solidFill>
              </a:rPr>
              <a:t>$0</a:t>
            </a:r>
            <a:endParaRPr lang="en-US" sz="3600" dirty="0"/>
          </a:p>
        </p:txBody>
      </p:sp>
      <p:sp>
        <p:nvSpPr>
          <p:cNvPr id="13" name="Text 11"/>
          <p:cNvSpPr/>
          <p:nvPr/>
        </p:nvSpPr>
        <p:spPr>
          <a:xfrm>
            <a:off x="6217920" y="2487168"/>
            <a:ext cx="2468880" cy="530352"/>
          </a:xfrm>
          <a:prstGeom prst="rect">
            <a:avLst/>
          </a:prstGeom>
          <a:noFill/>
          <a:ln/>
        </p:spPr>
        <p:txBody>
          <a:bodyPr wrap="square" rtlCol="0" anchor="ctr"/>
          <a:lstStyle/>
          <a:p>
            <a:pPr marL="0" indent="0" algn="ctr">
              <a:lnSpc>
                <a:spcPct val="125000"/>
              </a:lnSpc>
              <a:buNone/>
            </a:pPr>
            <a:r>
              <a:rPr lang="en-US" sz="1050" dirty="0">
                <a:solidFill>
                  <a:srgbClr val="475569"/>
                </a:solidFill>
              </a:rPr>
              <a:t>costo para el alumno</a:t>
            </a:r>
            <a:endParaRPr lang="en-US" sz="1050" dirty="0"/>
          </a:p>
          <a:p>
            <a:pPr marL="0" indent="0" algn="ctr">
              <a:lnSpc>
                <a:spcPct val="125000"/>
              </a:lnSpc>
              <a:buNone/>
            </a:pPr>
            <a:r>
              <a:rPr lang="en-US" sz="1050" dirty="0">
                <a:solidFill>
                  <a:srgbClr val="475569"/>
                </a:solidFill>
              </a:rPr>
              <a:t>en la versión comunitaria</a:t>
            </a:r>
            <a:endParaRPr lang="en-US" sz="1050" dirty="0"/>
          </a:p>
        </p:txBody>
      </p:sp>
      <p:sp>
        <p:nvSpPr>
          <p:cNvPr id="14" name="Text 12"/>
          <p:cNvSpPr/>
          <p:nvPr/>
        </p:nvSpPr>
        <p:spPr>
          <a:xfrm>
            <a:off x="548640" y="3291840"/>
            <a:ext cx="8046720" cy="347472"/>
          </a:xfrm>
          <a:prstGeom prst="rect">
            <a:avLst/>
          </a:prstGeom>
          <a:noFill/>
          <a:ln/>
        </p:spPr>
        <p:txBody>
          <a:bodyPr wrap="square" rtlCol="0" anchor="ctr"/>
          <a:lstStyle/>
          <a:p>
            <a:pPr marL="0" indent="0">
              <a:buNone/>
            </a:pPr>
            <a:r>
              <a:rPr lang="en-US" sz="1250" dirty="0">
                <a:solidFill>
                  <a:srgbClr val="0F172A"/>
                </a:solidFill>
              </a:rPr>
              <a:t>✅  Reduce la deserción universitaria</a:t>
            </a:r>
            <a:endParaRPr lang="en-US" sz="1250" dirty="0"/>
          </a:p>
        </p:txBody>
      </p:sp>
      <p:sp>
        <p:nvSpPr>
          <p:cNvPr id="15" name="Text 13"/>
          <p:cNvSpPr/>
          <p:nvPr/>
        </p:nvSpPr>
        <p:spPr>
          <a:xfrm>
            <a:off x="548640" y="3657600"/>
            <a:ext cx="8046720" cy="347472"/>
          </a:xfrm>
          <a:prstGeom prst="rect">
            <a:avLst/>
          </a:prstGeom>
          <a:noFill/>
          <a:ln/>
        </p:spPr>
        <p:txBody>
          <a:bodyPr wrap="square" rtlCol="0" anchor="ctr"/>
          <a:lstStyle/>
          <a:p>
            <a:pPr marL="0" indent="0">
              <a:buNone/>
            </a:pPr>
            <a:r>
              <a:rPr lang="en-US" sz="1250" dirty="0">
                <a:solidFill>
                  <a:srgbClr val="0F172A"/>
                </a:solidFill>
              </a:rPr>
              <a:t>✅  Genera ingresos para tutores (ETH simbólico como reputación)</a:t>
            </a:r>
            <a:endParaRPr lang="en-US" sz="1250" dirty="0"/>
          </a:p>
        </p:txBody>
      </p:sp>
      <p:sp>
        <p:nvSpPr>
          <p:cNvPr id="16" name="Text 14"/>
          <p:cNvSpPr/>
          <p:nvPr/>
        </p:nvSpPr>
        <p:spPr>
          <a:xfrm>
            <a:off x="548640" y="4023360"/>
            <a:ext cx="8046720" cy="347472"/>
          </a:xfrm>
          <a:prstGeom prst="rect">
            <a:avLst/>
          </a:prstGeom>
          <a:noFill/>
          <a:ln/>
        </p:spPr>
        <p:txBody>
          <a:bodyPr wrap="square" rtlCol="0" anchor="ctr"/>
          <a:lstStyle/>
          <a:p>
            <a:pPr marL="0" indent="0">
              <a:buNone/>
            </a:pPr>
            <a:r>
              <a:rPr lang="en-US" sz="1250" dirty="0">
                <a:solidFill>
                  <a:srgbClr val="0F172A"/>
                </a:solidFill>
              </a:rPr>
              <a:t>✅  Escalable a toda universidad o red de instituciones</a:t>
            </a:r>
            <a:endParaRPr lang="en-US" sz="1250" dirty="0"/>
          </a:p>
        </p:txBody>
      </p:sp>
      <p:sp>
        <p:nvSpPr>
          <p:cNvPr id="17" name="Text 15"/>
          <p:cNvSpPr/>
          <p:nvPr/>
        </p:nvSpPr>
        <p:spPr>
          <a:xfrm>
            <a:off x="548640" y="4389120"/>
            <a:ext cx="8046720" cy="347472"/>
          </a:xfrm>
          <a:prstGeom prst="rect">
            <a:avLst/>
          </a:prstGeom>
          <a:noFill/>
          <a:ln/>
        </p:spPr>
        <p:txBody>
          <a:bodyPr wrap="square" rtlCol="0" anchor="ctr"/>
          <a:lstStyle/>
          <a:p>
            <a:pPr marL="0" indent="0">
              <a:buNone/>
            </a:pPr>
            <a:r>
              <a:rPr lang="en-US" sz="1250" dirty="0">
                <a:solidFill>
                  <a:srgbClr val="0F172A"/>
                </a:solidFill>
              </a:rPr>
              <a:t>✅  Transparencia con registro inmutable de cada sesión</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457200" y="274320"/>
            <a:ext cx="1188720" cy="301752"/>
          </a:xfrm>
          <a:prstGeom prst="roundRect">
            <a:avLst>
              <a:gd name="adj" fmla="val 18182"/>
            </a:avLst>
          </a:prstGeom>
          <a:solidFill>
            <a:srgbClr val="0D9488"/>
          </a:solidFill>
          <a:ln w="12700">
            <a:solidFill>
              <a:srgbClr val="0D9488"/>
            </a:solidFill>
            <a:prstDash val="solid"/>
          </a:ln>
        </p:spPr>
        <p:txBody>
          <a:bodyPr/>
          <a:lstStyle/>
          <a:p>
            <a:endParaRPr lang="es-AR"/>
          </a:p>
        </p:txBody>
      </p:sp>
      <p:sp>
        <p:nvSpPr>
          <p:cNvPr id="3" name="Text 1"/>
          <p:cNvSpPr/>
          <p:nvPr/>
        </p:nvSpPr>
        <p:spPr>
          <a:xfrm>
            <a:off x="457200" y="274320"/>
            <a:ext cx="1188720" cy="301752"/>
          </a:xfrm>
          <a:prstGeom prst="rect">
            <a:avLst/>
          </a:prstGeom>
          <a:noFill/>
          <a:ln/>
        </p:spPr>
        <p:txBody>
          <a:bodyPr wrap="square" lIns="0" tIns="0" rIns="0" bIns="0" rtlCol="0" anchor="ctr"/>
          <a:lstStyle/>
          <a:p>
            <a:pPr marL="0" indent="0" algn="ctr">
              <a:buNone/>
            </a:pPr>
            <a:r>
              <a:rPr lang="en-US" sz="900" b="1" dirty="0">
                <a:solidFill>
                  <a:srgbClr val="FFFFFF"/>
                </a:solidFill>
              </a:rPr>
              <a:t>08 · EQUIPO</a:t>
            </a:r>
            <a:endParaRPr lang="en-US" sz="900" dirty="0"/>
          </a:p>
        </p:txBody>
      </p:sp>
      <p:sp>
        <p:nvSpPr>
          <p:cNvPr id="4" name="Text 2"/>
          <p:cNvSpPr/>
          <p:nvPr/>
        </p:nvSpPr>
        <p:spPr>
          <a:xfrm>
            <a:off x="457200" y="685800"/>
            <a:ext cx="8229600" cy="548640"/>
          </a:xfrm>
          <a:prstGeom prst="rect">
            <a:avLst/>
          </a:prstGeom>
          <a:noFill/>
          <a:ln/>
        </p:spPr>
        <p:txBody>
          <a:bodyPr wrap="square" rtlCol="0" anchor="ctr"/>
          <a:lstStyle/>
          <a:p>
            <a:pPr marL="0" indent="0">
              <a:buNone/>
            </a:pPr>
            <a:r>
              <a:rPr lang="en-US" sz="2600" b="1" dirty="0">
                <a:solidFill>
                  <a:srgbClr val="FFFFFF"/>
                </a:solidFill>
              </a:rPr>
              <a:t>El equipo detrás de SkillSwap.</a:t>
            </a:r>
            <a:endParaRPr lang="en-US" sz="2600" dirty="0"/>
          </a:p>
        </p:txBody>
      </p:sp>
      <p:sp>
        <p:nvSpPr>
          <p:cNvPr id="5" name="Shape 3"/>
          <p:cNvSpPr/>
          <p:nvPr/>
        </p:nvSpPr>
        <p:spPr>
          <a:xfrm>
            <a:off x="457200" y="1371600"/>
            <a:ext cx="4114800" cy="1508760"/>
          </a:xfrm>
          <a:prstGeom prst="roundRect">
            <a:avLst>
              <a:gd name="adj" fmla="val 6061"/>
            </a:avLst>
          </a:prstGeom>
          <a:solidFill>
            <a:srgbClr val="1E3A5F"/>
          </a:solidFill>
          <a:ln w="10160">
            <a:solidFill>
              <a:srgbClr val="0D9488"/>
            </a:solidFill>
            <a:prstDash val="solid"/>
          </a:ln>
          <a:effectLst>
            <a:outerShdw blurRad="101600" dist="38100" dir="2700000" algn="bl" rotWithShape="0">
              <a:srgbClr val="000000">
                <a:alpha val="18000"/>
              </a:srgbClr>
            </a:outerShdw>
          </a:effectLst>
        </p:spPr>
        <p:txBody>
          <a:bodyPr/>
          <a:lstStyle/>
          <a:p>
            <a:endParaRPr lang="es-AR" dirty="0"/>
          </a:p>
        </p:txBody>
      </p:sp>
      <p:sp>
        <p:nvSpPr>
          <p:cNvPr id="6" name="Shape 4"/>
          <p:cNvSpPr/>
          <p:nvPr/>
        </p:nvSpPr>
        <p:spPr>
          <a:xfrm>
            <a:off x="594360" y="1554480"/>
            <a:ext cx="685800" cy="685800"/>
          </a:xfrm>
          <a:prstGeom prst="ellipse">
            <a:avLst/>
          </a:prstGeom>
          <a:solidFill>
            <a:srgbClr val="0D9488"/>
          </a:solidFill>
          <a:ln w="12700">
            <a:solidFill>
              <a:srgbClr val="0D9488"/>
            </a:solidFill>
            <a:prstDash val="solid"/>
          </a:ln>
        </p:spPr>
        <p:txBody>
          <a:bodyPr/>
          <a:lstStyle/>
          <a:p>
            <a:endParaRPr lang="es-AR"/>
          </a:p>
        </p:txBody>
      </p:sp>
      <p:sp>
        <p:nvSpPr>
          <p:cNvPr id="7" name="Text 5"/>
          <p:cNvSpPr/>
          <p:nvPr/>
        </p:nvSpPr>
        <p:spPr>
          <a:xfrm>
            <a:off x="594360" y="1554480"/>
            <a:ext cx="685800" cy="685800"/>
          </a:xfrm>
          <a:prstGeom prst="rect">
            <a:avLst/>
          </a:prstGeom>
          <a:noFill/>
          <a:ln/>
        </p:spPr>
        <p:txBody>
          <a:bodyPr wrap="square" lIns="0" tIns="0" rIns="0" bIns="0" rtlCol="0" anchor="ctr"/>
          <a:lstStyle/>
          <a:p>
            <a:pPr marL="0" indent="0" algn="ctr">
              <a:buNone/>
            </a:pPr>
            <a:r>
              <a:rPr lang="en-US" sz="1600" b="1" dirty="0">
                <a:solidFill>
                  <a:srgbClr val="FFFFFF"/>
                </a:solidFill>
              </a:rPr>
              <a:t>S</a:t>
            </a:r>
            <a:endParaRPr lang="en-US" sz="1600" dirty="0"/>
          </a:p>
        </p:txBody>
      </p:sp>
      <p:sp>
        <p:nvSpPr>
          <p:cNvPr id="8" name="Text 6"/>
          <p:cNvSpPr/>
          <p:nvPr/>
        </p:nvSpPr>
        <p:spPr>
          <a:xfrm>
            <a:off x="1417320" y="1508760"/>
            <a:ext cx="3017520" cy="347472"/>
          </a:xfrm>
          <a:prstGeom prst="rect">
            <a:avLst/>
          </a:prstGeom>
          <a:noFill/>
          <a:ln/>
        </p:spPr>
        <p:txBody>
          <a:bodyPr wrap="square" rtlCol="0" anchor="ctr"/>
          <a:lstStyle/>
          <a:p>
            <a:pPr marL="0" indent="0">
              <a:buNone/>
            </a:pPr>
            <a:r>
              <a:rPr lang="en-US" sz="1300" b="1" dirty="0">
                <a:solidFill>
                  <a:srgbClr val="FFFFFF"/>
                </a:solidFill>
              </a:rPr>
              <a:t>Albornoz Sofia</a:t>
            </a:r>
            <a:endParaRPr lang="en-US" sz="1300" dirty="0"/>
          </a:p>
        </p:txBody>
      </p:sp>
      <p:sp>
        <p:nvSpPr>
          <p:cNvPr id="9" name="Text 7"/>
          <p:cNvSpPr/>
          <p:nvPr/>
        </p:nvSpPr>
        <p:spPr>
          <a:xfrm>
            <a:off x="1417320" y="1847088"/>
            <a:ext cx="3017520" cy="274320"/>
          </a:xfrm>
          <a:prstGeom prst="rect">
            <a:avLst/>
          </a:prstGeom>
          <a:noFill/>
          <a:ln/>
        </p:spPr>
        <p:txBody>
          <a:bodyPr wrap="square" rtlCol="0" anchor="ctr"/>
          <a:lstStyle/>
          <a:p>
            <a:pPr marL="0" indent="0">
              <a:buNone/>
            </a:pPr>
            <a:r>
              <a:rPr lang="en-US" sz="1100" b="1" dirty="0">
                <a:solidFill>
                  <a:srgbClr val="14B8A6"/>
                </a:solidFill>
              </a:rPr>
              <a:t>Backend &amp; BD</a:t>
            </a:r>
            <a:endParaRPr lang="en-US" sz="1100" dirty="0"/>
          </a:p>
        </p:txBody>
      </p:sp>
      <p:sp>
        <p:nvSpPr>
          <p:cNvPr id="10" name="Text 8"/>
          <p:cNvSpPr/>
          <p:nvPr/>
        </p:nvSpPr>
        <p:spPr>
          <a:xfrm>
            <a:off x="1417320" y="2148840"/>
            <a:ext cx="3017520" cy="548640"/>
          </a:xfrm>
          <a:prstGeom prst="rect">
            <a:avLst/>
          </a:prstGeom>
          <a:noFill/>
          <a:ln/>
        </p:spPr>
        <p:txBody>
          <a:bodyPr wrap="square" rtlCol="0" anchor="ctr"/>
          <a:lstStyle/>
          <a:p>
            <a:pPr marL="0" indent="0">
              <a:lnSpc>
                <a:spcPct val="125000"/>
              </a:lnSpc>
              <a:buNone/>
            </a:pPr>
            <a:r>
              <a:rPr lang="en-US" sz="1000" dirty="0">
                <a:solidFill>
                  <a:srgbClr val="94A3B8"/>
                </a:solidFill>
              </a:rPr>
              <a:t>Modelos PDO, triggers, schema SQL</a:t>
            </a:r>
            <a:endParaRPr lang="en-US" sz="1000" dirty="0"/>
          </a:p>
        </p:txBody>
      </p:sp>
      <p:sp>
        <p:nvSpPr>
          <p:cNvPr id="11" name="Shape 9"/>
          <p:cNvSpPr/>
          <p:nvPr/>
        </p:nvSpPr>
        <p:spPr>
          <a:xfrm>
            <a:off x="4800600" y="1371600"/>
            <a:ext cx="4114800" cy="1508760"/>
          </a:xfrm>
          <a:prstGeom prst="roundRect">
            <a:avLst>
              <a:gd name="adj" fmla="val 6061"/>
            </a:avLst>
          </a:prstGeom>
          <a:solidFill>
            <a:srgbClr val="1E3A5F"/>
          </a:solidFill>
          <a:ln w="10160">
            <a:solidFill>
              <a:srgbClr val="0D9488"/>
            </a:solidFill>
            <a:prstDash val="solid"/>
          </a:ln>
          <a:effectLst>
            <a:outerShdw blurRad="101600" dist="38100" dir="2700000" algn="bl" rotWithShape="0">
              <a:srgbClr val="000000">
                <a:alpha val="18000"/>
              </a:srgbClr>
            </a:outerShdw>
          </a:effectLst>
        </p:spPr>
        <p:txBody>
          <a:bodyPr/>
          <a:lstStyle/>
          <a:p>
            <a:endParaRPr lang="es-AR"/>
          </a:p>
        </p:txBody>
      </p:sp>
      <p:sp>
        <p:nvSpPr>
          <p:cNvPr id="12" name="Shape 10"/>
          <p:cNvSpPr/>
          <p:nvPr/>
        </p:nvSpPr>
        <p:spPr>
          <a:xfrm>
            <a:off x="4937760" y="1554480"/>
            <a:ext cx="685800" cy="685800"/>
          </a:xfrm>
          <a:prstGeom prst="ellipse">
            <a:avLst/>
          </a:prstGeom>
          <a:solidFill>
            <a:srgbClr val="0D9488"/>
          </a:solidFill>
          <a:ln w="12700">
            <a:solidFill>
              <a:srgbClr val="0D9488"/>
            </a:solidFill>
            <a:prstDash val="solid"/>
          </a:ln>
        </p:spPr>
        <p:txBody>
          <a:bodyPr/>
          <a:lstStyle/>
          <a:p>
            <a:endParaRPr lang="es-AR"/>
          </a:p>
        </p:txBody>
      </p:sp>
      <p:sp>
        <p:nvSpPr>
          <p:cNvPr id="13" name="Text 11"/>
          <p:cNvSpPr/>
          <p:nvPr/>
        </p:nvSpPr>
        <p:spPr>
          <a:xfrm>
            <a:off x="4937760" y="1554480"/>
            <a:ext cx="685800" cy="685800"/>
          </a:xfrm>
          <a:prstGeom prst="rect">
            <a:avLst/>
          </a:prstGeom>
          <a:noFill/>
          <a:ln/>
        </p:spPr>
        <p:txBody>
          <a:bodyPr wrap="square" lIns="0" tIns="0" rIns="0" bIns="0" rtlCol="0" anchor="ctr"/>
          <a:lstStyle/>
          <a:p>
            <a:pPr marL="0" indent="0" algn="ctr">
              <a:buNone/>
            </a:pPr>
            <a:r>
              <a:rPr lang="en-US" sz="1600" b="1" dirty="0">
                <a:solidFill>
                  <a:srgbClr val="FFFFFF"/>
                </a:solidFill>
              </a:rPr>
              <a:t>M</a:t>
            </a:r>
            <a:endParaRPr lang="en-US" sz="1600" dirty="0"/>
          </a:p>
        </p:txBody>
      </p:sp>
      <p:sp>
        <p:nvSpPr>
          <p:cNvPr id="14" name="Text 12"/>
          <p:cNvSpPr/>
          <p:nvPr/>
        </p:nvSpPr>
        <p:spPr>
          <a:xfrm>
            <a:off x="5760720" y="1508760"/>
            <a:ext cx="3017520" cy="347472"/>
          </a:xfrm>
          <a:prstGeom prst="rect">
            <a:avLst/>
          </a:prstGeom>
          <a:noFill/>
          <a:ln/>
        </p:spPr>
        <p:txBody>
          <a:bodyPr wrap="square" rtlCol="0" anchor="ctr"/>
          <a:lstStyle/>
          <a:p>
            <a:pPr marL="0" indent="0">
              <a:buNone/>
            </a:pPr>
            <a:r>
              <a:rPr lang="en-US" sz="1300" b="1" dirty="0">
                <a:solidFill>
                  <a:srgbClr val="FFFFFF"/>
                </a:solidFill>
              </a:rPr>
              <a:t>Jofre Matías</a:t>
            </a:r>
            <a:endParaRPr lang="en-US" sz="1300" dirty="0"/>
          </a:p>
        </p:txBody>
      </p:sp>
      <p:sp>
        <p:nvSpPr>
          <p:cNvPr id="15" name="Text 13"/>
          <p:cNvSpPr/>
          <p:nvPr/>
        </p:nvSpPr>
        <p:spPr>
          <a:xfrm>
            <a:off x="5760720" y="1847088"/>
            <a:ext cx="3017520" cy="274320"/>
          </a:xfrm>
          <a:prstGeom prst="rect">
            <a:avLst/>
          </a:prstGeom>
          <a:noFill/>
          <a:ln/>
        </p:spPr>
        <p:txBody>
          <a:bodyPr wrap="square" rtlCol="0" anchor="ctr"/>
          <a:lstStyle/>
          <a:p>
            <a:pPr marL="0" indent="0">
              <a:buNone/>
            </a:pPr>
            <a:r>
              <a:rPr lang="en-US" sz="1100" b="1" dirty="0">
                <a:solidFill>
                  <a:srgbClr val="14B8A6"/>
                </a:solidFill>
              </a:rPr>
              <a:t>Frontend &amp; UX</a:t>
            </a:r>
            <a:endParaRPr lang="en-US" sz="1100" dirty="0"/>
          </a:p>
        </p:txBody>
      </p:sp>
      <p:sp>
        <p:nvSpPr>
          <p:cNvPr id="16" name="Text 14"/>
          <p:cNvSpPr/>
          <p:nvPr/>
        </p:nvSpPr>
        <p:spPr>
          <a:xfrm>
            <a:off x="5760720" y="2148840"/>
            <a:ext cx="3017520" cy="548640"/>
          </a:xfrm>
          <a:prstGeom prst="rect">
            <a:avLst/>
          </a:prstGeom>
          <a:noFill/>
          <a:ln/>
        </p:spPr>
        <p:txBody>
          <a:bodyPr wrap="square" rtlCol="0" anchor="ctr"/>
          <a:lstStyle/>
          <a:p>
            <a:pPr marL="0" indent="0">
              <a:lnSpc>
                <a:spcPct val="125000"/>
              </a:lnSpc>
              <a:buNone/>
            </a:pPr>
            <a:r>
              <a:rPr lang="en-US" sz="1000" dirty="0">
                <a:solidFill>
                  <a:srgbClr val="94A3B8"/>
                </a:solidFill>
              </a:rPr>
              <a:t>Vistas PHP, CSS, flujo de usuario</a:t>
            </a:r>
            <a:endParaRPr lang="en-US" sz="1000" dirty="0"/>
          </a:p>
        </p:txBody>
      </p:sp>
      <p:sp>
        <p:nvSpPr>
          <p:cNvPr id="17" name="Shape 15"/>
          <p:cNvSpPr/>
          <p:nvPr/>
        </p:nvSpPr>
        <p:spPr>
          <a:xfrm>
            <a:off x="457200" y="3063240"/>
            <a:ext cx="4114800" cy="1508760"/>
          </a:xfrm>
          <a:prstGeom prst="roundRect">
            <a:avLst>
              <a:gd name="adj" fmla="val 6061"/>
            </a:avLst>
          </a:prstGeom>
          <a:solidFill>
            <a:srgbClr val="1E3A5F"/>
          </a:solidFill>
          <a:ln w="10160">
            <a:solidFill>
              <a:srgbClr val="0D9488"/>
            </a:solidFill>
            <a:prstDash val="solid"/>
          </a:ln>
          <a:effectLst>
            <a:outerShdw blurRad="101600" dist="38100" dir="2700000" algn="bl" rotWithShape="0">
              <a:srgbClr val="000000">
                <a:alpha val="18000"/>
              </a:srgbClr>
            </a:outerShdw>
          </a:effectLst>
        </p:spPr>
        <p:txBody>
          <a:bodyPr/>
          <a:lstStyle/>
          <a:p>
            <a:endParaRPr lang="es-AR"/>
          </a:p>
        </p:txBody>
      </p:sp>
      <p:sp>
        <p:nvSpPr>
          <p:cNvPr id="18" name="Shape 16"/>
          <p:cNvSpPr/>
          <p:nvPr/>
        </p:nvSpPr>
        <p:spPr>
          <a:xfrm>
            <a:off x="594360" y="3246120"/>
            <a:ext cx="685800" cy="685800"/>
          </a:xfrm>
          <a:prstGeom prst="ellipse">
            <a:avLst/>
          </a:prstGeom>
          <a:solidFill>
            <a:srgbClr val="0D9488"/>
          </a:solidFill>
          <a:ln w="12700">
            <a:solidFill>
              <a:srgbClr val="0D9488"/>
            </a:solidFill>
            <a:prstDash val="solid"/>
          </a:ln>
        </p:spPr>
        <p:txBody>
          <a:bodyPr/>
          <a:lstStyle/>
          <a:p>
            <a:endParaRPr lang="es-AR"/>
          </a:p>
        </p:txBody>
      </p:sp>
      <p:sp>
        <p:nvSpPr>
          <p:cNvPr id="19" name="Text 17"/>
          <p:cNvSpPr/>
          <p:nvPr/>
        </p:nvSpPr>
        <p:spPr>
          <a:xfrm>
            <a:off x="594360" y="3246120"/>
            <a:ext cx="685800" cy="685800"/>
          </a:xfrm>
          <a:prstGeom prst="rect">
            <a:avLst/>
          </a:prstGeom>
          <a:noFill/>
          <a:ln/>
        </p:spPr>
        <p:txBody>
          <a:bodyPr wrap="square" lIns="0" tIns="0" rIns="0" bIns="0" rtlCol="0" anchor="ctr"/>
          <a:lstStyle/>
          <a:p>
            <a:pPr marL="0" indent="0" algn="ctr">
              <a:buNone/>
            </a:pPr>
            <a:r>
              <a:rPr lang="en-US" sz="1600" b="1" dirty="0">
                <a:solidFill>
                  <a:srgbClr val="FFFFFF"/>
                </a:solidFill>
              </a:rPr>
              <a:t>L</a:t>
            </a:r>
            <a:endParaRPr lang="en-US" sz="1600" dirty="0"/>
          </a:p>
        </p:txBody>
      </p:sp>
      <p:sp>
        <p:nvSpPr>
          <p:cNvPr id="20" name="Text 18"/>
          <p:cNvSpPr/>
          <p:nvPr/>
        </p:nvSpPr>
        <p:spPr>
          <a:xfrm>
            <a:off x="1417320" y="3200400"/>
            <a:ext cx="3017520" cy="347472"/>
          </a:xfrm>
          <a:prstGeom prst="rect">
            <a:avLst/>
          </a:prstGeom>
          <a:noFill/>
          <a:ln/>
        </p:spPr>
        <p:txBody>
          <a:bodyPr wrap="square" rtlCol="0" anchor="ctr"/>
          <a:lstStyle/>
          <a:p>
            <a:pPr marL="0" indent="0">
              <a:buNone/>
            </a:pPr>
            <a:r>
              <a:rPr lang="en-US" sz="1300" b="1" dirty="0">
                <a:solidFill>
                  <a:srgbClr val="FFFFFF"/>
                </a:solidFill>
              </a:rPr>
              <a:t>Montuori Lucila</a:t>
            </a:r>
            <a:endParaRPr lang="en-US" sz="1300" dirty="0"/>
          </a:p>
        </p:txBody>
      </p:sp>
      <p:sp>
        <p:nvSpPr>
          <p:cNvPr id="21" name="Text 19"/>
          <p:cNvSpPr/>
          <p:nvPr/>
        </p:nvSpPr>
        <p:spPr>
          <a:xfrm>
            <a:off x="1417320" y="3538728"/>
            <a:ext cx="3017520" cy="274320"/>
          </a:xfrm>
          <a:prstGeom prst="rect">
            <a:avLst/>
          </a:prstGeom>
          <a:noFill/>
          <a:ln/>
        </p:spPr>
        <p:txBody>
          <a:bodyPr wrap="square" rtlCol="0" anchor="ctr"/>
          <a:lstStyle/>
          <a:p>
            <a:pPr marL="0" indent="0">
              <a:buNone/>
            </a:pPr>
            <a:r>
              <a:rPr lang="en-US" sz="1100" b="1" dirty="0">
                <a:solidFill>
                  <a:srgbClr val="14B8A6"/>
                </a:solidFill>
              </a:rPr>
              <a:t>Blockchain &amp; IA</a:t>
            </a:r>
            <a:endParaRPr lang="en-US" sz="1100" dirty="0"/>
          </a:p>
        </p:txBody>
      </p:sp>
      <p:sp>
        <p:nvSpPr>
          <p:cNvPr id="22" name="Text 20"/>
          <p:cNvSpPr/>
          <p:nvPr/>
        </p:nvSpPr>
        <p:spPr>
          <a:xfrm>
            <a:off x="1417320" y="3840480"/>
            <a:ext cx="3017520" cy="548640"/>
          </a:xfrm>
          <a:prstGeom prst="rect">
            <a:avLst/>
          </a:prstGeom>
          <a:noFill/>
          <a:ln/>
        </p:spPr>
        <p:txBody>
          <a:bodyPr wrap="square" rtlCol="0" anchor="ctr"/>
          <a:lstStyle/>
          <a:p>
            <a:pPr marL="0" indent="0">
              <a:lnSpc>
                <a:spcPct val="125000"/>
              </a:lnSpc>
              <a:buNone/>
            </a:pPr>
            <a:r>
              <a:rPr lang="en-US" sz="1000" dirty="0">
                <a:solidFill>
                  <a:srgbClr val="94A3B8"/>
                </a:solidFill>
              </a:rPr>
              <a:t>Módulo Blockchain, lógica de recomendación</a:t>
            </a:r>
            <a:endParaRPr lang="en-US" sz="1000" dirty="0"/>
          </a:p>
        </p:txBody>
      </p:sp>
      <p:sp>
        <p:nvSpPr>
          <p:cNvPr id="23" name="Shape 21"/>
          <p:cNvSpPr/>
          <p:nvPr/>
        </p:nvSpPr>
        <p:spPr>
          <a:xfrm>
            <a:off x="4800600" y="3063240"/>
            <a:ext cx="4114800" cy="1508760"/>
          </a:xfrm>
          <a:prstGeom prst="roundRect">
            <a:avLst>
              <a:gd name="adj" fmla="val 6061"/>
            </a:avLst>
          </a:prstGeom>
          <a:solidFill>
            <a:srgbClr val="1E3A5F"/>
          </a:solidFill>
          <a:ln w="10160">
            <a:solidFill>
              <a:srgbClr val="0D9488"/>
            </a:solidFill>
            <a:prstDash val="solid"/>
          </a:ln>
          <a:effectLst>
            <a:outerShdw blurRad="101600" dist="38100" dir="2700000" algn="bl" rotWithShape="0">
              <a:srgbClr val="000000">
                <a:alpha val="18000"/>
              </a:srgbClr>
            </a:outerShdw>
          </a:effectLst>
        </p:spPr>
        <p:txBody>
          <a:bodyPr/>
          <a:lstStyle/>
          <a:p>
            <a:endParaRPr lang="es-AR"/>
          </a:p>
        </p:txBody>
      </p:sp>
      <p:sp>
        <p:nvSpPr>
          <p:cNvPr id="24" name="Shape 22"/>
          <p:cNvSpPr/>
          <p:nvPr/>
        </p:nvSpPr>
        <p:spPr>
          <a:xfrm>
            <a:off x="4937760" y="3246120"/>
            <a:ext cx="685800" cy="685800"/>
          </a:xfrm>
          <a:prstGeom prst="ellipse">
            <a:avLst/>
          </a:prstGeom>
          <a:solidFill>
            <a:srgbClr val="0D9488"/>
          </a:solidFill>
          <a:ln w="12700">
            <a:solidFill>
              <a:srgbClr val="0D9488"/>
            </a:solidFill>
            <a:prstDash val="solid"/>
          </a:ln>
        </p:spPr>
        <p:txBody>
          <a:bodyPr/>
          <a:lstStyle/>
          <a:p>
            <a:endParaRPr lang="es-AR"/>
          </a:p>
        </p:txBody>
      </p:sp>
      <p:sp>
        <p:nvSpPr>
          <p:cNvPr id="25" name="Text 23"/>
          <p:cNvSpPr/>
          <p:nvPr/>
        </p:nvSpPr>
        <p:spPr>
          <a:xfrm>
            <a:off x="4937760" y="3246120"/>
            <a:ext cx="685800" cy="685800"/>
          </a:xfrm>
          <a:prstGeom prst="rect">
            <a:avLst/>
          </a:prstGeom>
          <a:noFill/>
          <a:ln/>
        </p:spPr>
        <p:txBody>
          <a:bodyPr wrap="square" lIns="0" tIns="0" rIns="0" bIns="0" rtlCol="0" anchor="ctr"/>
          <a:lstStyle/>
          <a:p>
            <a:pPr marL="0" indent="0" algn="ctr">
              <a:buNone/>
            </a:pPr>
            <a:r>
              <a:rPr lang="en-US" sz="1600" b="1" dirty="0">
                <a:solidFill>
                  <a:srgbClr val="FFFFFF"/>
                </a:solidFill>
              </a:rPr>
              <a:t>G</a:t>
            </a:r>
            <a:endParaRPr lang="en-US" sz="1600" dirty="0"/>
          </a:p>
        </p:txBody>
      </p:sp>
      <p:sp>
        <p:nvSpPr>
          <p:cNvPr id="26" name="Text 24"/>
          <p:cNvSpPr/>
          <p:nvPr/>
        </p:nvSpPr>
        <p:spPr>
          <a:xfrm>
            <a:off x="5760720" y="3200400"/>
            <a:ext cx="3017520" cy="347472"/>
          </a:xfrm>
          <a:prstGeom prst="rect">
            <a:avLst/>
          </a:prstGeom>
          <a:noFill/>
          <a:ln/>
        </p:spPr>
        <p:txBody>
          <a:bodyPr wrap="square" rtlCol="0" anchor="ctr"/>
          <a:lstStyle/>
          <a:p>
            <a:pPr marL="0" indent="0">
              <a:buNone/>
            </a:pPr>
            <a:r>
              <a:rPr lang="en-US" sz="1300" b="1" dirty="0">
                <a:solidFill>
                  <a:srgbClr val="FFFFFF"/>
                </a:solidFill>
              </a:rPr>
              <a:t>Antón Gonzalo</a:t>
            </a:r>
            <a:endParaRPr lang="en-US" sz="1300" dirty="0"/>
          </a:p>
        </p:txBody>
      </p:sp>
      <p:sp>
        <p:nvSpPr>
          <p:cNvPr id="27" name="Text 25"/>
          <p:cNvSpPr/>
          <p:nvPr/>
        </p:nvSpPr>
        <p:spPr>
          <a:xfrm>
            <a:off x="5760720" y="3538728"/>
            <a:ext cx="3017520" cy="274320"/>
          </a:xfrm>
          <a:prstGeom prst="rect">
            <a:avLst/>
          </a:prstGeom>
          <a:noFill/>
          <a:ln/>
        </p:spPr>
        <p:txBody>
          <a:bodyPr wrap="square" rtlCol="0" anchor="ctr"/>
          <a:lstStyle/>
          <a:p>
            <a:pPr marL="0" indent="0">
              <a:buNone/>
            </a:pPr>
            <a:r>
              <a:rPr lang="en-US" sz="1100" b="1" dirty="0">
                <a:solidFill>
                  <a:srgbClr val="14B8A6"/>
                </a:solidFill>
              </a:rPr>
              <a:t>Scrum Master &amp; Docs</a:t>
            </a:r>
            <a:endParaRPr lang="en-US" sz="1100" dirty="0"/>
          </a:p>
        </p:txBody>
      </p:sp>
      <p:sp>
        <p:nvSpPr>
          <p:cNvPr id="28" name="Text 26"/>
          <p:cNvSpPr/>
          <p:nvPr/>
        </p:nvSpPr>
        <p:spPr>
          <a:xfrm>
            <a:off x="5760720" y="3840480"/>
            <a:ext cx="3017520" cy="548640"/>
          </a:xfrm>
          <a:prstGeom prst="rect">
            <a:avLst/>
          </a:prstGeom>
          <a:noFill/>
          <a:ln/>
        </p:spPr>
        <p:txBody>
          <a:bodyPr wrap="square" rtlCol="0" anchor="ctr"/>
          <a:lstStyle/>
          <a:p>
            <a:pPr marL="0" indent="0">
              <a:lnSpc>
                <a:spcPct val="125000"/>
              </a:lnSpc>
              <a:buNone/>
            </a:pPr>
            <a:r>
              <a:rPr lang="en-US" sz="1000" dirty="0">
                <a:solidFill>
                  <a:srgbClr val="94A3B8"/>
                </a:solidFill>
              </a:rPr>
              <a:t>Backlog, repositorio, documentación técnica</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457200" y="303335"/>
            <a:ext cx="1463040" cy="301752"/>
          </a:xfrm>
          <a:prstGeom prst="roundRect">
            <a:avLst>
              <a:gd name="adj" fmla="val 18182"/>
            </a:avLst>
          </a:prstGeom>
          <a:solidFill>
            <a:srgbClr val="0D9488"/>
          </a:solidFill>
          <a:ln w="12700">
            <a:solidFill>
              <a:srgbClr val="0D9488"/>
            </a:solidFill>
            <a:prstDash val="solid"/>
          </a:ln>
        </p:spPr>
        <p:txBody>
          <a:bodyPr/>
          <a:lstStyle/>
          <a:p>
            <a:endParaRPr lang="es-AR"/>
          </a:p>
        </p:txBody>
      </p:sp>
      <p:sp>
        <p:nvSpPr>
          <p:cNvPr id="3" name="Text 1"/>
          <p:cNvSpPr/>
          <p:nvPr/>
        </p:nvSpPr>
        <p:spPr>
          <a:xfrm>
            <a:off x="457200" y="303335"/>
            <a:ext cx="1463040" cy="301752"/>
          </a:xfrm>
          <a:prstGeom prst="rect">
            <a:avLst/>
          </a:prstGeom>
          <a:noFill/>
          <a:ln/>
        </p:spPr>
        <p:txBody>
          <a:bodyPr wrap="square" lIns="0" tIns="0" rIns="0" bIns="0" rtlCol="0" anchor="ctr"/>
          <a:lstStyle/>
          <a:p>
            <a:pPr marL="0" indent="0" algn="ctr">
              <a:buNone/>
            </a:pPr>
            <a:r>
              <a:rPr lang="en-US" sz="900" b="1" dirty="0">
                <a:solidFill>
                  <a:srgbClr val="FFFFFF"/>
                </a:solidFill>
              </a:rPr>
              <a:t>09 · BASE DE DATOS</a:t>
            </a:r>
            <a:endParaRPr lang="en-US" sz="900" dirty="0"/>
          </a:p>
        </p:txBody>
      </p:sp>
      <p:sp>
        <p:nvSpPr>
          <p:cNvPr id="4" name="Text 2"/>
          <p:cNvSpPr/>
          <p:nvPr/>
        </p:nvSpPr>
        <p:spPr>
          <a:xfrm>
            <a:off x="3384452" y="194310"/>
            <a:ext cx="2466535" cy="502920"/>
          </a:xfrm>
          <a:prstGeom prst="rect">
            <a:avLst/>
          </a:prstGeom>
          <a:noFill/>
          <a:ln/>
        </p:spPr>
        <p:txBody>
          <a:bodyPr wrap="square" rtlCol="0" anchor="ctr"/>
          <a:lstStyle/>
          <a:p>
            <a:pPr marL="0" indent="0">
              <a:buNone/>
            </a:pPr>
            <a:r>
              <a:rPr lang="en-US" sz="1600" b="1" dirty="0">
                <a:solidFill>
                  <a:srgbClr val="FFFFFF"/>
                </a:solidFill>
              </a:rPr>
              <a:t>9 tablas · 16 FK · 2 triggers</a:t>
            </a:r>
            <a:endParaRPr lang="en-US" sz="1600" dirty="0"/>
          </a:p>
        </p:txBody>
      </p:sp>
      <p:sp>
        <p:nvSpPr>
          <p:cNvPr id="5" name="Shape 3"/>
          <p:cNvSpPr/>
          <p:nvPr/>
        </p:nvSpPr>
        <p:spPr>
          <a:xfrm>
            <a:off x="3566160" y="1828800"/>
            <a:ext cx="2011680" cy="658368"/>
          </a:xfrm>
          <a:prstGeom prst="roundRect">
            <a:avLst>
              <a:gd name="adj" fmla="val 13889"/>
            </a:avLst>
          </a:prstGeom>
          <a:solidFill>
            <a:srgbClr val="0D9488"/>
          </a:solidFill>
          <a:ln w="12700">
            <a:solidFill>
              <a:srgbClr val="0D9488"/>
            </a:solidFill>
            <a:prstDash val="solid"/>
          </a:ln>
        </p:spPr>
        <p:txBody>
          <a:bodyPr/>
          <a:lstStyle/>
          <a:p>
            <a:endParaRPr lang="es-AR"/>
          </a:p>
        </p:txBody>
      </p:sp>
      <p:sp>
        <p:nvSpPr>
          <p:cNvPr id="6" name="Text 4"/>
          <p:cNvSpPr/>
          <p:nvPr/>
        </p:nvSpPr>
        <p:spPr>
          <a:xfrm>
            <a:off x="3566160" y="1828800"/>
            <a:ext cx="2011680" cy="658368"/>
          </a:xfrm>
          <a:prstGeom prst="rect">
            <a:avLst/>
          </a:prstGeom>
          <a:noFill/>
          <a:ln/>
        </p:spPr>
        <p:txBody>
          <a:bodyPr wrap="square" lIns="0" tIns="0" rIns="0" bIns="0" rtlCol="0" anchor="ctr"/>
          <a:lstStyle/>
          <a:p>
            <a:pPr marL="0" indent="0" algn="ctr">
              <a:buNone/>
            </a:pPr>
            <a:r>
              <a:rPr lang="en-US" sz="1200" b="1" dirty="0">
                <a:solidFill>
                  <a:srgbClr val="FFFFFF"/>
                </a:solidFill>
              </a:rPr>
              <a:t>👤 usuarios</a:t>
            </a:r>
            <a:endParaRPr lang="en-US" sz="1200" dirty="0"/>
          </a:p>
        </p:txBody>
      </p:sp>
      <p:sp>
        <p:nvSpPr>
          <p:cNvPr id="7" name="Shape 5"/>
          <p:cNvSpPr/>
          <p:nvPr/>
        </p:nvSpPr>
        <p:spPr>
          <a:xfrm>
            <a:off x="457200" y="1188720"/>
            <a:ext cx="1737360" cy="548640"/>
          </a:xfrm>
          <a:prstGeom prst="roundRect">
            <a:avLst>
              <a:gd name="adj" fmla="val 13333"/>
            </a:avLst>
          </a:prstGeom>
          <a:solidFill>
            <a:srgbClr val="1E3A5F"/>
          </a:solidFill>
          <a:ln w="12700">
            <a:solidFill>
              <a:srgbClr val="14B8A6"/>
            </a:solidFill>
            <a:prstDash val="solid"/>
          </a:ln>
        </p:spPr>
        <p:txBody>
          <a:bodyPr/>
          <a:lstStyle/>
          <a:p>
            <a:endParaRPr lang="es-AR"/>
          </a:p>
        </p:txBody>
      </p:sp>
      <p:sp>
        <p:nvSpPr>
          <p:cNvPr id="8" name="Text 6"/>
          <p:cNvSpPr/>
          <p:nvPr/>
        </p:nvSpPr>
        <p:spPr>
          <a:xfrm>
            <a:off x="457200" y="1188720"/>
            <a:ext cx="1737360" cy="548640"/>
          </a:xfrm>
          <a:prstGeom prst="rect">
            <a:avLst/>
          </a:prstGeom>
          <a:noFill/>
          <a:ln/>
        </p:spPr>
        <p:txBody>
          <a:bodyPr wrap="square" lIns="0" tIns="0" rIns="0" bIns="0" rtlCol="0" anchor="ctr"/>
          <a:lstStyle/>
          <a:p>
            <a:pPr marL="0" indent="0" algn="ctr">
              <a:buNone/>
            </a:pPr>
            <a:r>
              <a:rPr lang="en-US" sz="1000" b="1" dirty="0">
                <a:solidFill>
                  <a:srgbClr val="14B8A6"/>
                </a:solidFill>
              </a:rPr>
              <a:t>📚 materias</a:t>
            </a:r>
            <a:endParaRPr lang="en-US" sz="1000" dirty="0"/>
          </a:p>
        </p:txBody>
      </p:sp>
      <p:sp>
        <p:nvSpPr>
          <p:cNvPr id="9" name="Shape 7"/>
          <p:cNvSpPr/>
          <p:nvPr/>
        </p:nvSpPr>
        <p:spPr>
          <a:xfrm>
            <a:off x="457200" y="2011680"/>
            <a:ext cx="1737360" cy="548640"/>
          </a:xfrm>
          <a:prstGeom prst="roundRect">
            <a:avLst>
              <a:gd name="adj" fmla="val 13333"/>
            </a:avLst>
          </a:prstGeom>
          <a:solidFill>
            <a:srgbClr val="1E3A5F"/>
          </a:solidFill>
          <a:ln w="12700">
            <a:solidFill>
              <a:srgbClr val="14B8A6"/>
            </a:solidFill>
            <a:prstDash val="solid"/>
          </a:ln>
        </p:spPr>
        <p:txBody>
          <a:bodyPr/>
          <a:lstStyle/>
          <a:p>
            <a:endParaRPr lang="es-AR"/>
          </a:p>
        </p:txBody>
      </p:sp>
      <p:sp>
        <p:nvSpPr>
          <p:cNvPr id="10" name="Text 8"/>
          <p:cNvSpPr/>
          <p:nvPr/>
        </p:nvSpPr>
        <p:spPr>
          <a:xfrm>
            <a:off x="457200" y="2011680"/>
            <a:ext cx="1737360" cy="548640"/>
          </a:xfrm>
          <a:prstGeom prst="rect">
            <a:avLst/>
          </a:prstGeom>
          <a:noFill/>
          <a:ln/>
        </p:spPr>
        <p:txBody>
          <a:bodyPr wrap="square" lIns="0" tIns="0" rIns="0" bIns="0" rtlCol="0" anchor="ctr"/>
          <a:lstStyle/>
          <a:p>
            <a:pPr marL="0" indent="0" algn="ctr">
              <a:buNone/>
            </a:pPr>
            <a:r>
              <a:rPr lang="en-US" sz="1000" b="1" dirty="0">
                <a:solidFill>
                  <a:srgbClr val="14B8A6"/>
                </a:solidFill>
              </a:rPr>
              <a:t>tutor_materias</a:t>
            </a:r>
            <a:endParaRPr lang="en-US" sz="1000" dirty="0"/>
          </a:p>
        </p:txBody>
      </p:sp>
      <p:sp>
        <p:nvSpPr>
          <p:cNvPr id="11" name="Shape 9"/>
          <p:cNvSpPr/>
          <p:nvPr/>
        </p:nvSpPr>
        <p:spPr>
          <a:xfrm>
            <a:off x="457200" y="2834640"/>
            <a:ext cx="1737360" cy="548640"/>
          </a:xfrm>
          <a:prstGeom prst="roundRect">
            <a:avLst>
              <a:gd name="adj" fmla="val 13333"/>
            </a:avLst>
          </a:prstGeom>
          <a:solidFill>
            <a:srgbClr val="1E3A5F"/>
          </a:solidFill>
          <a:ln w="12700">
            <a:solidFill>
              <a:srgbClr val="14B8A6"/>
            </a:solidFill>
            <a:prstDash val="solid"/>
          </a:ln>
        </p:spPr>
        <p:txBody>
          <a:bodyPr/>
          <a:lstStyle/>
          <a:p>
            <a:endParaRPr lang="es-AR"/>
          </a:p>
        </p:txBody>
      </p:sp>
      <p:sp>
        <p:nvSpPr>
          <p:cNvPr id="12" name="Text 10"/>
          <p:cNvSpPr/>
          <p:nvPr/>
        </p:nvSpPr>
        <p:spPr>
          <a:xfrm>
            <a:off x="457200" y="2834640"/>
            <a:ext cx="1737360" cy="548640"/>
          </a:xfrm>
          <a:prstGeom prst="rect">
            <a:avLst/>
          </a:prstGeom>
          <a:noFill/>
          <a:ln/>
        </p:spPr>
        <p:txBody>
          <a:bodyPr wrap="square" lIns="0" tIns="0" rIns="0" bIns="0" rtlCol="0" anchor="ctr"/>
          <a:lstStyle/>
          <a:p>
            <a:pPr marL="0" indent="0" algn="ctr">
              <a:buNone/>
            </a:pPr>
            <a:r>
              <a:rPr lang="en-US" sz="1000" b="1" dirty="0">
                <a:solidFill>
                  <a:srgbClr val="14B8A6"/>
                </a:solidFill>
              </a:rPr>
              <a:t>alumno_materias</a:t>
            </a:r>
            <a:endParaRPr lang="en-US" sz="1000" dirty="0"/>
          </a:p>
        </p:txBody>
      </p:sp>
      <p:sp>
        <p:nvSpPr>
          <p:cNvPr id="13" name="Shape 11"/>
          <p:cNvSpPr/>
          <p:nvPr/>
        </p:nvSpPr>
        <p:spPr>
          <a:xfrm>
            <a:off x="3703320" y="914400"/>
            <a:ext cx="1737360" cy="548640"/>
          </a:xfrm>
          <a:prstGeom prst="roundRect">
            <a:avLst>
              <a:gd name="adj" fmla="val 13333"/>
            </a:avLst>
          </a:prstGeom>
          <a:solidFill>
            <a:srgbClr val="1E3A5F"/>
          </a:solidFill>
          <a:ln w="12700">
            <a:solidFill>
              <a:srgbClr val="14B8A6"/>
            </a:solidFill>
            <a:prstDash val="solid"/>
          </a:ln>
        </p:spPr>
        <p:txBody>
          <a:bodyPr/>
          <a:lstStyle/>
          <a:p>
            <a:endParaRPr lang="es-AR" dirty="0"/>
          </a:p>
        </p:txBody>
      </p:sp>
      <p:sp>
        <p:nvSpPr>
          <p:cNvPr id="14" name="Text 12"/>
          <p:cNvSpPr/>
          <p:nvPr/>
        </p:nvSpPr>
        <p:spPr>
          <a:xfrm>
            <a:off x="3703320" y="914400"/>
            <a:ext cx="1737360" cy="548640"/>
          </a:xfrm>
          <a:prstGeom prst="rect">
            <a:avLst/>
          </a:prstGeom>
          <a:noFill/>
          <a:ln/>
        </p:spPr>
        <p:txBody>
          <a:bodyPr wrap="square" lIns="0" tIns="0" rIns="0" bIns="0" rtlCol="0" anchor="ctr"/>
          <a:lstStyle/>
          <a:p>
            <a:pPr marL="0" indent="0" algn="ctr">
              <a:buNone/>
            </a:pPr>
            <a:r>
              <a:rPr lang="en-US" sz="1000" b="1" dirty="0">
                <a:solidFill>
                  <a:srgbClr val="14B8A6"/>
                </a:solidFill>
              </a:rPr>
              <a:t>🕐 horarios</a:t>
            </a:r>
            <a:endParaRPr lang="en-US" sz="1000" dirty="0"/>
          </a:p>
        </p:txBody>
      </p:sp>
      <p:sp>
        <p:nvSpPr>
          <p:cNvPr id="15" name="Shape 13"/>
          <p:cNvSpPr/>
          <p:nvPr/>
        </p:nvSpPr>
        <p:spPr>
          <a:xfrm>
            <a:off x="3566160" y="2834640"/>
            <a:ext cx="2011680" cy="548640"/>
          </a:xfrm>
          <a:prstGeom prst="roundRect">
            <a:avLst>
              <a:gd name="adj" fmla="val 13333"/>
            </a:avLst>
          </a:prstGeom>
          <a:solidFill>
            <a:srgbClr val="7C3AED"/>
          </a:solidFill>
          <a:ln w="12700">
            <a:solidFill>
              <a:srgbClr val="A78BFA"/>
            </a:solidFill>
            <a:prstDash val="solid"/>
          </a:ln>
        </p:spPr>
        <p:txBody>
          <a:bodyPr/>
          <a:lstStyle/>
          <a:p>
            <a:endParaRPr lang="es-AR"/>
          </a:p>
        </p:txBody>
      </p:sp>
      <p:sp>
        <p:nvSpPr>
          <p:cNvPr id="16" name="Text 14"/>
          <p:cNvSpPr/>
          <p:nvPr/>
        </p:nvSpPr>
        <p:spPr>
          <a:xfrm>
            <a:off x="3566160" y="2834640"/>
            <a:ext cx="2011680" cy="548640"/>
          </a:xfrm>
          <a:prstGeom prst="rect">
            <a:avLst/>
          </a:prstGeom>
          <a:noFill/>
          <a:ln/>
        </p:spPr>
        <p:txBody>
          <a:bodyPr wrap="square" lIns="0" tIns="0" rIns="0" bIns="0" rtlCol="0" anchor="ctr"/>
          <a:lstStyle/>
          <a:p>
            <a:pPr marL="0" indent="0" algn="ctr">
              <a:buNone/>
            </a:pPr>
            <a:r>
              <a:rPr lang="en-US" sz="1000" b="1" dirty="0">
                <a:solidFill>
                  <a:srgbClr val="FFFFFF"/>
                </a:solidFill>
              </a:rPr>
              <a:t>📋 solicitudes</a:t>
            </a:r>
            <a:endParaRPr lang="en-US" sz="1000" dirty="0"/>
          </a:p>
        </p:txBody>
      </p:sp>
      <p:sp>
        <p:nvSpPr>
          <p:cNvPr id="17" name="Shape 15"/>
          <p:cNvSpPr/>
          <p:nvPr/>
        </p:nvSpPr>
        <p:spPr>
          <a:xfrm>
            <a:off x="6812280" y="2857500"/>
            <a:ext cx="2011680" cy="548640"/>
          </a:xfrm>
          <a:prstGeom prst="roundRect">
            <a:avLst>
              <a:gd name="adj" fmla="val 13333"/>
            </a:avLst>
          </a:prstGeom>
          <a:solidFill>
            <a:srgbClr val="1E3A5F"/>
          </a:solidFill>
          <a:ln w="12700">
            <a:solidFill>
              <a:srgbClr val="14B8A6"/>
            </a:solidFill>
            <a:prstDash val="solid"/>
          </a:ln>
        </p:spPr>
        <p:txBody>
          <a:bodyPr/>
          <a:lstStyle/>
          <a:p>
            <a:endParaRPr lang="es-AR"/>
          </a:p>
        </p:txBody>
      </p:sp>
      <p:sp>
        <p:nvSpPr>
          <p:cNvPr id="18" name="Text 16"/>
          <p:cNvSpPr/>
          <p:nvPr/>
        </p:nvSpPr>
        <p:spPr>
          <a:xfrm>
            <a:off x="6812280" y="2857500"/>
            <a:ext cx="2011680" cy="548640"/>
          </a:xfrm>
          <a:prstGeom prst="rect">
            <a:avLst/>
          </a:prstGeom>
          <a:noFill/>
          <a:ln/>
        </p:spPr>
        <p:txBody>
          <a:bodyPr wrap="square" lIns="0" tIns="0" rIns="0" bIns="0" rtlCol="0" anchor="ctr"/>
          <a:lstStyle/>
          <a:p>
            <a:pPr marL="0" indent="0" algn="ctr">
              <a:buNone/>
            </a:pPr>
            <a:r>
              <a:rPr lang="en-US" sz="1000" b="1" dirty="0">
                <a:solidFill>
                  <a:srgbClr val="14B8A6"/>
                </a:solidFill>
              </a:rPr>
              <a:t>💬 chat_mensajes</a:t>
            </a:r>
            <a:endParaRPr lang="en-US" sz="1000" dirty="0"/>
          </a:p>
        </p:txBody>
      </p:sp>
      <p:sp>
        <p:nvSpPr>
          <p:cNvPr id="19" name="Shape 17"/>
          <p:cNvSpPr/>
          <p:nvPr/>
        </p:nvSpPr>
        <p:spPr>
          <a:xfrm>
            <a:off x="6812280" y="1851660"/>
            <a:ext cx="2011680" cy="548640"/>
          </a:xfrm>
          <a:prstGeom prst="roundRect">
            <a:avLst>
              <a:gd name="adj" fmla="val 13333"/>
            </a:avLst>
          </a:prstGeom>
          <a:solidFill>
            <a:srgbClr val="1E3A5F"/>
          </a:solidFill>
          <a:ln w="12700">
            <a:solidFill>
              <a:srgbClr val="14B8A6"/>
            </a:solidFill>
            <a:prstDash val="solid"/>
          </a:ln>
        </p:spPr>
        <p:txBody>
          <a:bodyPr/>
          <a:lstStyle/>
          <a:p>
            <a:endParaRPr lang="es-AR"/>
          </a:p>
        </p:txBody>
      </p:sp>
      <p:sp>
        <p:nvSpPr>
          <p:cNvPr id="20" name="Text 18"/>
          <p:cNvSpPr/>
          <p:nvPr/>
        </p:nvSpPr>
        <p:spPr>
          <a:xfrm>
            <a:off x="6812280" y="1851660"/>
            <a:ext cx="2011680" cy="548640"/>
          </a:xfrm>
          <a:prstGeom prst="rect">
            <a:avLst/>
          </a:prstGeom>
          <a:noFill/>
          <a:ln/>
        </p:spPr>
        <p:txBody>
          <a:bodyPr wrap="square" lIns="0" tIns="0" rIns="0" bIns="0" rtlCol="0" anchor="ctr"/>
          <a:lstStyle/>
          <a:p>
            <a:pPr marL="0" indent="0" algn="ctr">
              <a:buNone/>
            </a:pPr>
            <a:r>
              <a:rPr lang="en-US" sz="1000" b="1" dirty="0">
                <a:solidFill>
                  <a:srgbClr val="14B8A6"/>
                </a:solidFill>
              </a:rPr>
              <a:t>🚨 denuncias</a:t>
            </a:r>
            <a:endParaRPr lang="en-US" sz="1000" dirty="0"/>
          </a:p>
        </p:txBody>
      </p:sp>
      <p:sp>
        <p:nvSpPr>
          <p:cNvPr id="21" name="Shape 19"/>
          <p:cNvSpPr/>
          <p:nvPr/>
        </p:nvSpPr>
        <p:spPr>
          <a:xfrm>
            <a:off x="6812280" y="937260"/>
            <a:ext cx="2011680" cy="548640"/>
          </a:xfrm>
          <a:prstGeom prst="roundRect">
            <a:avLst>
              <a:gd name="adj" fmla="val 13333"/>
            </a:avLst>
          </a:prstGeom>
          <a:solidFill>
            <a:srgbClr val="92400E"/>
          </a:solidFill>
          <a:ln w="12700">
            <a:solidFill>
              <a:srgbClr val="F59E0B"/>
            </a:solidFill>
            <a:prstDash val="solid"/>
          </a:ln>
        </p:spPr>
        <p:txBody>
          <a:bodyPr/>
          <a:lstStyle/>
          <a:p>
            <a:endParaRPr lang="es-AR"/>
          </a:p>
        </p:txBody>
      </p:sp>
      <p:sp>
        <p:nvSpPr>
          <p:cNvPr id="22" name="Text 20"/>
          <p:cNvSpPr/>
          <p:nvPr/>
        </p:nvSpPr>
        <p:spPr>
          <a:xfrm>
            <a:off x="6812280" y="937260"/>
            <a:ext cx="2011680" cy="548640"/>
          </a:xfrm>
          <a:prstGeom prst="rect">
            <a:avLst/>
          </a:prstGeom>
          <a:noFill/>
          <a:ln/>
        </p:spPr>
        <p:txBody>
          <a:bodyPr wrap="square" lIns="0" tIns="0" rIns="0" bIns="0" rtlCol="0" anchor="ctr"/>
          <a:lstStyle/>
          <a:p>
            <a:pPr marL="0" indent="0" algn="ctr">
              <a:buNone/>
            </a:pPr>
            <a:r>
              <a:rPr lang="en-US" sz="1000" b="1" dirty="0">
                <a:solidFill>
                  <a:srgbClr val="F59E0B"/>
                </a:solidFill>
              </a:rPr>
              <a:t>🔗 blockchain_pagos</a:t>
            </a:r>
            <a:endParaRPr lang="en-US" sz="1000" dirty="0"/>
          </a:p>
        </p:txBody>
      </p:sp>
      <p:sp>
        <p:nvSpPr>
          <p:cNvPr id="23" name="Shape 21"/>
          <p:cNvSpPr/>
          <p:nvPr/>
        </p:nvSpPr>
        <p:spPr>
          <a:xfrm>
            <a:off x="457200" y="3749040"/>
            <a:ext cx="1371600" cy="274320"/>
          </a:xfrm>
          <a:prstGeom prst="roundRect">
            <a:avLst>
              <a:gd name="adj" fmla="val 16667"/>
            </a:avLst>
          </a:prstGeom>
          <a:solidFill>
            <a:srgbClr val="0D9488"/>
          </a:solidFill>
          <a:ln w="12700">
            <a:solidFill>
              <a:srgbClr val="0D9488"/>
            </a:solidFill>
            <a:prstDash val="solid"/>
          </a:ln>
        </p:spPr>
        <p:txBody>
          <a:bodyPr/>
          <a:lstStyle/>
          <a:p>
            <a:endParaRPr lang="es-AR"/>
          </a:p>
        </p:txBody>
      </p:sp>
      <p:sp>
        <p:nvSpPr>
          <p:cNvPr id="24" name="Text 22"/>
          <p:cNvSpPr/>
          <p:nvPr/>
        </p:nvSpPr>
        <p:spPr>
          <a:xfrm>
            <a:off x="1920240" y="3749040"/>
            <a:ext cx="1828800" cy="274320"/>
          </a:xfrm>
          <a:prstGeom prst="rect">
            <a:avLst/>
          </a:prstGeom>
          <a:noFill/>
          <a:ln/>
        </p:spPr>
        <p:txBody>
          <a:bodyPr wrap="square" rtlCol="0" anchor="ctr"/>
          <a:lstStyle/>
          <a:p>
            <a:pPr marL="0" indent="0">
              <a:buNone/>
            </a:pPr>
            <a:r>
              <a:rPr lang="en-US" sz="1000" dirty="0">
                <a:solidFill>
                  <a:srgbClr val="94A3B8"/>
                </a:solidFill>
              </a:rPr>
              <a:t>Tabla principal</a:t>
            </a:r>
            <a:endParaRPr lang="en-US" sz="1000" dirty="0"/>
          </a:p>
        </p:txBody>
      </p:sp>
      <p:sp>
        <p:nvSpPr>
          <p:cNvPr id="25" name="Shape 23"/>
          <p:cNvSpPr/>
          <p:nvPr/>
        </p:nvSpPr>
        <p:spPr>
          <a:xfrm>
            <a:off x="3931920" y="3749040"/>
            <a:ext cx="1371600" cy="274320"/>
          </a:xfrm>
          <a:prstGeom prst="roundRect">
            <a:avLst>
              <a:gd name="adj" fmla="val 16667"/>
            </a:avLst>
          </a:prstGeom>
          <a:solidFill>
            <a:srgbClr val="7C3AED"/>
          </a:solidFill>
          <a:ln w="12700">
            <a:solidFill>
              <a:srgbClr val="7C3AED"/>
            </a:solidFill>
            <a:prstDash val="solid"/>
          </a:ln>
        </p:spPr>
        <p:txBody>
          <a:bodyPr/>
          <a:lstStyle/>
          <a:p>
            <a:endParaRPr lang="es-AR"/>
          </a:p>
        </p:txBody>
      </p:sp>
      <p:sp>
        <p:nvSpPr>
          <p:cNvPr id="26" name="Text 24"/>
          <p:cNvSpPr/>
          <p:nvPr/>
        </p:nvSpPr>
        <p:spPr>
          <a:xfrm>
            <a:off x="5394960" y="3749040"/>
            <a:ext cx="2286000" cy="274320"/>
          </a:xfrm>
          <a:prstGeom prst="rect">
            <a:avLst/>
          </a:prstGeom>
          <a:noFill/>
          <a:ln/>
        </p:spPr>
        <p:txBody>
          <a:bodyPr wrap="square" rtlCol="0" anchor="ctr"/>
          <a:lstStyle/>
          <a:p>
            <a:pPr marL="0" indent="0">
              <a:buNone/>
            </a:pPr>
            <a:r>
              <a:rPr lang="en-US" sz="1000" dirty="0">
                <a:solidFill>
                  <a:srgbClr val="94A3B8"/>
                </a:solidFill>
              </a:rPr>
              <a:t>Tabla hub (+ 2 triggers)</a:t>
            </a:r>
            <a:endParaRPr lang="en-US" sz="1000" dirty="0"/>
          </a:p>
        </p:txBody>
      </p:sp>
      <p:sp>
        <p:nvSpPr>
          <p:cNvPr id="27" name="Shape 25"/>
          <p:cNvSpPr/>
          <p:nvPr/>
        </p:nvSpPr>
        <p:spPr>
          <a:xfrm>
            <a:off x="457200" y="4160520"/>
            <a:ext cx="8229600" cy="685800"/>
          </a:xfrm>
          <a:prstGeom prst="roundRect">
            <a:avLst>
              <a:gd name="adj" fmla="val 10667"/>
            </a:avLst>
          </a:prstGeom>
          <a:solidFill>
            <a:srgbClr val="1E3A5F"/>
          </a:solidFill>
          <a:ln w="6350">
            <a:solidFill>
              <a:srgbClr val="0D9488"/>
            </a:solidFill>
            <a:prstDash val="solid"/>
          </a:ln>
        </p:spPr>
        <p:txBody>
          <a:bodyPr/>
          <a:lstStyle/>
          <a:p>
            <a:endParaRPr lang="es-AR"/>
          </a:p>
        </p:txBody>
      </p:sp>
      <p:sp>
        <p:nvSpPr>
          <p:cNvPr id="28" name="Text 26"/>
          <p:cNvSpPr/>
          <p:nvPr/>
        </p:nvSpPr>
        <p:spPr>
          <a:xfrm>
            <a:off x="594360" y="4206240"/>
            <a:ext cx="7955280" cy="594360"/>
          </a:xfrm>
          <a:prstGeom prst="rect">
            <a:avLst/>
          </a:prstGeom>
          <a:noFill/>
          <a:ln/>
        </p:spPr>
        <p:txBody>
          <a:bodyPr wrap="square" rtlCol="0" anchor="ctr"/>
          <a:lstStyle/>
          <a:p>
            <a:pPr marL="0" indent="0">
              <a:lnSpc>
                <a:spcPct val="130000"/>
              </a:lnSpc>
              <a:buNone/>
            </a:pPr>
            <a:r>
              <a:rPr lang="en-US" sz="950" dirty="0">
                <a:solidFill>
                  <a:srgbClr val="14B8A6"/>
                </a:solidFill>
              </a:rPr>
              <a:t>16 FK con CONSTRAINT nombrado explícitamente · fk_sol_alumno · fk_sol_tutor · fk_den_denunciante · fk_den_denunciado · fk_bp_tutor · fk_bp_alumno · ...</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0" cy="301752"/>
          </a:xfrm>
          <a:prstGeom prst="roundRect">
            <a:avLst>
              <a:gd name="adj" fmla="val 18182"/>
            </a:avLst>
          </a:prstGeom>
          <a:solidFill>
            <a:srgbClr val="0D9488"/>
          </a:solidFill>
          <a:ln w="12700">
            <a:solidFill>
              <a:srgbClr val="0D9488"/>
            </a:solidFill>
            <a:prstDash val="solid"/>
          </a:ln>
        </p:spPr>
        <p:txBody>
          <a:bodyPr/>
          <a:lstStyle/>
          <a:p>
            <a:endParaRPr lang="es-AR"/>
          </a:p>
        </p:txBody>
      </p:sp>
      <p:sp>
        <p:nvSpPr>
          <p:cNvPr id="3" name="Text 1"/>
          <p:cNvSpPr/>
          <p:nvPr/>
        </p:nvSpPr>
        <p:spPr>
          <a:xfrm>
            <a:off x="457200" y="274320"/>
            <a:ext cx="1463040" cy="301752"/>
          </a:xfrm>
          <a:prstGeom prst="rect">
            <a:avLst/>
          </a:prstGeom>
          <a:noFill/>
          <a:ln/>
        </p:spPr>
        <p:txBody>
          <a:bodyPr wrap="square" lIns="0" tIns="0" rIns="0" bIns="0" rtlCol="0" anchor="ctr"/>
          <a:lstStyle/>
          <a:p>
            <a:pPr marL="0" indent="0" algn="ctr">
              <a:buNone/>
            </a:pPr>
            <a:r>
              <a:rPr lang="en-US" sz="900" b="1" dirty="0">
                <a:solidFill>
                  <a:srgbClr val="FFFFFF"/>
                </a:solidFill>
              </a:rPr>
              <a:t>10 · TRIGGERS SQL</a:t>
            </a:r>
            <a:endParaRPr lang="en-US" sz="900" dirty="0"/>
          </a:p>
        </p:txBody>
      </p:sp>
      <p:sp>
        <p:nvSpPr>
          <p:cNvPr id="4" name="Text 2"/>
          <p:cNvSpPr/>
          <p:nvPr/>
        </p:nvSpPr>
        <p:spPr>
          <a:xfrm>
            <a:off x="457200" y="685800"/>
            <a:ext cx="8229600" cy="502920"/>
          </a:xfrm>
          <a:prstGeom prst="rect">
            <a:avLst/>
          </a:prstGeom>
          <a:noFill/>
          <a:ln/>
        </p:spPr>
        <p:txBody>
          <a:bodyPr wrap="square" rtlCol="0" anchor="ctr"/>
          <a:lstStyle/>
          <a:p>
            <a:pPr marL="0" indent="0">
              <a:buNone/>
            </a:pPr>
            <a:r>
              <a:rPr lang="en-US" sz="2400" b="1" dirty="0">
                <a:solidFill>
                  <a:srgbClr val="0F172A"/>
                </a:solidFill>
              </a:rPr>
              <a:t>Integridad garantizada a nivel de motor.</a:t>
            </a:r>
            <a:endParaRPr lang="en-US" sz="2400" dirty="0"/>
          </a:p>
        </p:txBody>
      </p:sp>
      <p:sp>
        <p:nvSpPr>
          <p:cNvPr id="5" name="Shape 3"/>
          <p:cNvSpPr/>
          <p:nvPr/>
        </p:nvSpPr>
        <p:spPr>
          <a:xfrm>
            <a:off x="457200" y="1280160"/>
            <a:ext cx="4114800" cy="3337560"/>
          </a:xfrm>
          <a:prstGeom prst="roundRect">
            <a:avLst>
              <a:gd name="adj" fmla="val 3117"/>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6" name="Shape 4"/>
          <p:cNvSpPr/>
          <p:nvPr/>
        </p:nvSpPr>
        <p:spPr>
          <a:xfrm>
            <a:off x="457200" y="1280160"/>
            <a:ext cx="4114800" cy="457200"/>
          </a:xfrm>
          <a:prstGeom prst="roundRect">
            <a:avLst>
              <a:gd name="adj" fmla="val 24000"/>
            </a:avLst>
          </a:prstGeom>
          <a:solidFill>
            <a:srgbClr val="1E3A5F"/>
          </a:solidFill>
          <a:ln w="12700">
            <a:solidFill>
              <a:srgbClr val="1E3A5F"/>
            </a:solidFill>
            <a:prstDash val="solid"/>
          </a:ln>
        </p:spPr>
        <p:txBody>
          <a:bodyPr/>
          <a:lstStyle/>
          <a:p>
            <a:endParaRPr lang="es-AR"/>
          </a:p>
        </p:txBody>
      </p:sp>
      <p:sp>
        <p:nvSpPr>
          <p:cNvPr id="7" name="Text 5"/>
          <p:cNvSpPr/>
          <p:nvPr/>
        </p:nvSpPr>
        <p:spPr>
          <a:xfrm>
            <a:off x="594360" y="1280160"/>
            <a:ext cx="3840480" cy="457200"/>
          </a:xfrm>
          <a:prstGeom prst="rect">
            <a:avLst/>
          </a:prstGeom>
          <a:noFill/>
          <a:ln/>
        </p:spPr>
        <p:txBody>
          <a:bodyPr wrap="square" rtlCol="0" anchor="ctr"/>
          <a:lstStyle/>
          <a:p>
            <a:pPr marL="0" indent="0">
              <a:buNone/>
            </a:pPr>
            <a:r>
              <a:rPr lang="en-US" sz="1100" b="1" dirty="0">
                <a:solidFill>
                  <a:srgbClr val="14B8A6"/>
                </a:solidFill>
              </a:rPr>
              <a:t>⚡  trg_horario_no_solapamiento</a:t>
            </a:r>
            <a:endParaRPr lang="en-US" sz="1100" dirty="0"/>
          </a:p>
        </p:txBody>
      </p:sp>
      <p:sp>
        <p:nvSpPr>
          <p:cNvPr id="8" name="Text 6"/>
          <p:cNvSpPr/>
          <p:nvPr/>
        </p:nvSpPr>
        <p:spPr>
          <a:xfrm>
            <a:off x="594360" y="1828800"/>
            <a:ext cx="3840480" cy="274320"/>
          </a:xfrm>
          <a:prstGeom prst="rect">
            <a:avLst/>
          </a:prstGeom>
          <a:noFill/>
          <a:ln/>
        </p:spPr>
        <p:txBody>
          <a:bodyPr wrap="square" rtlCol="0" anchor="ctr"/>
          <a:lstStyle/>
          <a:p>
            <a:pPr marL="0" indent="0">
              <a:buNone/>
            </a:pPr>
            <a:r>
              <a:rPr lang="en-US" sz="1000" i="1" dirty="0">
                <a:solidFill>
                  <a:srgbClr val="64748B"/>
                </a:solidFill>
              </a:rPr>
              <a:t>BEFORE INSERT ON horarios</a:t>
            </a:r>
            <a:endParaRPr lang="en-US" sz="1000" dirty="0"/>
          </a:p>
        </p:txBody>
      </p:sp>
      <p:sp>
        <p:nvSpPr>
          <p:cNvPr id="9" name="Text 7"/>
          <p:cNvSpPr/>
          <p:nvPr/>
        </p:nvSpPr>
        <p:spPr>
          <a:xfrm>
            <a:off x="594360" y="2043332"/>
            <a:ext cx="3840480" cy="2468880"/>
          </a:xfrm>
          <a:prstGeom prst="rect">
            <a:avLst/>
          </a:prstGeom>
          <a:noFill/>
          <a:ln/>
        </p:spPr>
        <p:txBody>
          <a:bodyPr wrap="square" rtlCol="0" anchor="ctr"/>
          <a:lstStyle/>
          <a:p>
            <a:pPr marL="0" indent="0">
              <a:lnSpc>
                <a:spcPct val="135000"/>
              </a:lnSpc>
              <a:buNone/>
            </a:pPr>
            <a:r>
              <a:rPr lang="en-US" sz="900" dirty="0">
                <a:solidFill>
                  <a:srgbClr val="1E293B"/>
                </a:solidFill>
                <a:latin typeface="Courier New" pitchFamily="34" charset="0"/>
                <a:ea typeface="Courier New" pitchFamily="34" charset="-122"/>
                <a:cs typeface="Courier New" pitchFamily="34" charset="-120"/>
              </a:rPr>
              <a:t>DECLARE cant INT;</a:t>
            </a:r>
            <a:endParaRPr lang="en-US" sz="900" dirty="0"/>
          </a:p>
          <a:p>
            <a:pPr marL="0" indent="0">
              <a:lnSpc>
                <a:spcPct val="135000"/>
              </a:lnSpc>
              <a:buNone/>
            </a:pPr>
            <a:r>
              <a:rPr lang="en-US" sz="900" dirty="0">
                <a:solidFill>
                  <a:srgbClr val="1E293B"/>
                </a:solidFill>
                <a:latin typeface="Courier New" pitchFamily="34" charset="0"/>
                <a:ea typeface="Courier New" pitchFamily="34" charset="-122"/>
                <a:cs typeface="Courier New" pitchFamily="34" charset="-120"/>
              </a:rPr>
              <a:t>SELECT COUNT(*) INTO cant</a:t>
            </a:r>
            <a:endParaRPr lang="en-US" sz="900" dirty="0"/>
          </a:p>
          <a:p>
            <a:pPr marL="0" indent="0">
              <a:lnSpc>
                <a:spcPct val="135000"/>
              </a:lnSpc>
              <a:buNone/>
            </a:pPr>
            <a:r>
              <a:rPr lang="en-US" sz="900" dirty="0">
                <a:solidFill>
                  <a:srgbClr val="1E293B"/>
                </a:solidFill>
                <a:latin typeface="Courier New" pitchFamily="34" charset="0"/>
                <a:ea typeface="Courier New" pitchFamily="34" charset="-122"/>
                <a:cs typeface="Courier New" pitchFamily="34" charset="-120"/>
              </a:rPr>
              <a:t>  FROM horarios</a:t>
            </a:r>
            <a:endParaRPr lang="en-US" sz="900" dirty="0"/>
          </a:p>
          <a:p>
            <a:pPr marL="0" indent="0">
              <a:lnSpc>
                <a:spcPct val="135000"/>
              </a:lnSpc>
              <a:buNone/>
            </a:pPr>
            <a:r>
              <a:rPr lang="en-US" sz="900" dirty="0">
                <a:solidFill>
                  <a:srgbClr val="1E293B"/>
                </a:solidFill>
                <a:latin typeface="Courier New" pitchFamily="34" charset="0"/>
                <a:ea typeface="Courier New" pitchFamily="34" charset="-122"/>
                <a:cs typeface="Courier New" pitchFamily="34" charset="-120"/>
              </a:rPr>
              <a:t>  WHERE tutor_id = NEW.tutor_id</a:t>
            </a:r>
            <a:endParaRPr lang="en-US" sz="900" dirty="0"/>
          </a:p>
          <a:p>
            <a:pPr marL="0" indent="0">
              <a:lnSpc>
                <a:spcPct val="135000"/>
              </a:lnSpc>
              <a:buNone/>
            </a:pPr>
            <a:r>
              <a:rPr lang="en-US" sz="900" dirty="0">
                <a:solidFill>
                  <a:srgbClr val="1E293B"/>
                </a:solidFill>
                <a:latin typeface="Courier New" pitchFamily="34" charset="0"/>
                <a:ea typeface="Courier New" pitchFamily="34" charset="-122"/>
                <a:cs typeface="Courier New" pitchFamily="34" charset="-120"/>
              </a:rPr>
              <a:t>    AND fecha = NEW.fecha</a:t>
            </a:r>
            <a:endParaRPr lang="en-US" sz="900" dirty="0"/>
          </a:p>
          <a:p>
            <a:pPr marL="0" indent="0">
              <a:lnSpc>
                <a:spcPct val="135000"/>
              </a:lnSpc>
              <a:buNone/>
            </a:pPr>
            <a:r>
              <a:rPr lang="en-US" sz="900" dirty="0">
                <a:solidFill>
                  <a:srgbClr val="1E293B"/>
                </a:solidFill>
                <a:latin typeface="Courier New" pitchFamily="34" charset="0"/>
                <a:ea typeface="Courier New" pitchFamily="34" charset="-122"/>
                <a:cs typeface="Courier New" pitchFamily="34" charset="-120"/>
              </a:rPr>
              <a:t>    AND (NEW.hora_inicio &lt; hora_fin</a:t>
            </a:r>
            <a:endParaRPr lang="en-US" sz="900" dirty="0"/>
          </a:p>
          <a:p>
            <a:pPr marL="0" indent="0">
              <a:lnSpc>
                <a:spcPct val="135000"/>
              </a:lnSpc>
              <a:buNone/>
            </a:pPr>
            <a:r>
              <a:rPr lang="en-US" sz="900" dirty="0">
                <a:solidFill>
                  <a:srgbClr val="1E293B"/>
                </a:solidFill>
                <a:latin typeface="Courier New" pitchFamily="34" charset="0"/>
                <a:ea typeface="Courier New" pitchFamily="34" charset="-122"/>
                <a:cs typeface="Courier New" pitchFamily="34" charset="-120"/>
              </a:rPr>
              <a:t>         AND NEW.hora_fin &gt; hora_inicio);</a:t>
            </a:r>
            <a:endParaRPr lang="en-US" sz="900" dirty="0"/>
          </a:p>
          <a:p>
            <a:pPr marL="0" indent="0">
              <a:lnSpc>
                <a:spcPct val="135000"/>
              </a:lnSpc>
              <a:buNone/>
            </a:pPr>
            <a:r>
              <a:rPr lang="en-US" sz="900" dirty="0">
                <a:solidFill>
                  <a:srgbClr val="1E293B"/>
                </a:solidFill>
                <a:latin typeface="Courier New" pitchFamily="34" charset="0"/>
                <a:ea typeface="Courier New" pitchFamily="34" charset="-122"/>
                <a:cs typeface="Courier New" pitchFamily="34" charset="-120"/>
              </a:rPr>
              <a:t>IF cant &gt; 0 THEN</a:t>
            </a:r>
            <a:endParaRPr lang="en-US" sz="900" dirty="0"/>
          </a:p>
          <a:p>
            <a:pPr marL="0" indent="0">
              <a:lnSpc>
                <a:spcPct val="135000"/>
              </a:lnSpc>
              <a:buNone/>
            </a:pPr>
            <a:r>
              <a:rPr lang="en-US" sz="900" dirty="0">
                <a:solidFill>
                  <a:srgbClr val="1E293B"/>
                </a:solidFill>
                <a:latin typeface="Courier New" pitchFamily="34" charset="0"/>
                <a:ea typeface="Courier New" pitchFamily="34" charset="-122"/>
                <a:cs typeface="Courier New" pitchFamily="34" charset="-120"/>
              </a:rPr>
              <a:t>  SIGNAL SQLSTATE '45000'</a:t>
            </a:r>
            <a:endParaRPr lang="en-US" sz="900" dirty="0"/>
          </a:p>
          <a:p>
            <a:pPr marL="0" indent="0">
              <a:lnSpc>
                <a:spcPct val="135000"/>
              </a:lnSpc>
              <a:buNone/>
            </a:pPr>
            <a:r>
              <a:rPr lang="en-US" sz="900" dirty="0">
                <a:solidFill>
                  <a:srgbClr val="1E293B"/>
                </a:solidFill>
                <a:latin typeface="Courier New" pitchFamily="34" charset="0"/>
                <a:ea typeface="Courier New" pitchFamily="34" charset="-122"/>
                <a:cs typeface="Courier New" pitchFamily="34" charset="-120"/>
              </a:rPr>
              <a:t>    SET MESSAGE_TEXT =</a:t>
            </a:r>
            <a:endParaRPr lang="en-US" sz="900" dirty="0"/>
          </a:p>
          <a:p>
            <a:pPr marL="0" indent="0">
              <a:lnSpc>
                <a:spcPct val="135000"/>
              </a:lnSpc>
              <a:buNone/>
            </a:pPr>
            <a:r>
              <a:rPr lang="en-US" sz="900" dirty="0">
                <a:solidFill>
                  <a:srgbClr val="1E293B"/>
                </a:solidFill>
                <a:latin typeface="Courier New" pitchFamily="34" charset="0"/>
                <a:ea typeface="Courier New" pitchFamily="34" charset="-122"/>
                <a:cs typeface="Courier New" pitchFamily="34" charset="-120"/>
              </a:rPr>
              <a:t>      'Horario solapado.';</a:t>
            </a:r>
            <a:endParaRPr lang="en-US" sz="900" dirty="0"/>
          </a:p>
          <a:p>
            <a:pPr marL="0" indent="0">
              <a:lnSpc>
                <a:spcPct val="135000"/>
              </a:lnSpc>
              <a:buNone/>
            </a:pPr>
            <a:r>
              <a:rPr lang="en-US" sz="900" dirty="0">
                <a:solidFill>
                  <a:srgbClr val="1E293B"/>
                </a:solidFill>
                <a:latin typeface="Courier New" pitchFamily="34" charset="0"/>
                <a:ea typeface="Courier New" pitchFamily="34" charset="-122"/>
                <a:cs typeface="Courier New" pitchFamily="34" charset="-120"/>
              </a:rPr>
              <a:t>END IF;</a:t>
            </a:r>
            <a:endParaRPr lang="en-US" sz="900" dirty="0"/>
          </a:p>
        </p:txBody>
      </p:sp>
      <p:sp>
        <p:nvSpPr>
          <p:cNvPr id="10" name="Shape 8"/>
          <p:cNvSpPr/>
          <p:nvPr/>
        </p:nvSpPr>
        <p:spPr>
          <a:xfrm>
            <a:off x="4663440" y="1280160"/>
            <a:ext cx="4114800" cy="3337560"/>
          </a:xfrm>
          <a:prstGeom prst="roundRect">
            <a:avLst>
              <a:gd name="adj" fmla="val 3117"/>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11" name="Shape 9"/>
          <p:cNvSpPr/>
          <p:nvPr/>
        </p:nvSpPr>
        <p:spPr>
          <a:xfrm>
            <a:off x="4663440" y="1280160"/>
            <a:ext cx="4114800" cy="457200"/>
          </a:xfrm>
          <a:prstGeom prst="roundRect">
            <a:avLst>
              <a:gd name="adj" fmla="val 24000"/>
            </a:avLst>
          </a:prstGeom>
          <a:solidFill>
            <a:srgbClr val="1E3A5F"/>
          </a:solidFill>
          <a:ln w="12700">
            <a:solidFill>
              <a:srgbClr val="1E3A5F"/>
            </a:solidFill>
            <a:prstDash val="solid"/>
          </a:ln>
        </p:spPr>
        <p:txBody>
          <a:bodyPr/>
          <a:lstStyle/>
          <a:p>
            <a:endParaRPr lang="es-AR"/>
          </a:p>
        </p:txBody>
      </p:sp>
      <p:sp>
        <p:nvSpPr>
          <p:cNvPr id="12" name="Text 10"/>
          <p:cNvSpPr/>
          <p:nvPr/>
        </p:nvSpPr>
        <p:spPr>
          <a:xfrm>
            <a:off x="4800600" y="1280160"/>
            <a:ext cx="3840480" cy="457200"/>
          </a:xfrm>
          <a:prstGeom prst="rect">
            <a:avLst/>
          </a:prstGeom>
          <a:noFill/>
          <a:ln/>
        </p:spPr>
        <p:txBody>
          <a:bodyPr wrap="square" rtlCol="0" anchor="ctr"/>
          <a:lstStyle/>
          <a:p>
            <a:pPr marL="0" indent="0">
              <a:buNone/>
            </a:pPr>
            <a:r>
              <a:rPr lang="en-US" sz="1100" b="1" dirty="0">
                <a:solidFill>
                  <a:srgbClr val="14B8A6"/>
                </a:solidFill>
              </a:rPr>
              <a:t>⚡  trg_solicitud_aceptada</a:t>
            </a:r>
            <a:endParaRPr lang="en-US" sz="1100" dirty="0"/>
          </a:p>
        </p:txBody>
      </p:sp>
      <p:sp>
        <p:nvSpPr>
          <p:cNvPr id="13" name="Text 11"/>
          <p:cNvSpPr/>
          <p:nvPr/>
        </p:nvSpPr>
        <p:spPr>
          <a:xfrm>
            <a:off x="4800600" y="1828800"/>
            <a:ext cx="3840480" cy="274320"/>
          </a:xfrm>
          <a:prstGeom prst="rect">
            <a:avLst/>
          </a:prstGeom>
          <a:noFill/>
          <a:ln/>
        </p:spPr>
        <p:txBody>
          <a:bodyPr wrap="square" rtlCol="0" anchor="ctr"/>
          <a:lstStyle/>
          <a:p>
            <a:pPr marL="0" indent="0">
              <a:buNone/>
            </a:pPr>
            <a:r>
              <a:rPr lang="en-US" sz="1000" i="1" dirty="0">
                <a:solidFill>
                  <a:srgbClr val="64748B"/>
                </a:solidFill>
              </a:rPr>
              <a:t>AFTER UPDATE ON solicitudes</a:t>
            </a:r>
            <a:endParaRPr lang="en-US" sz="1000" dirty="0"/>
          </a:p>
        </p:txBody>
      </p:sp>
      <p:sp>
        <p:nvSpPr>
          <p:cNvPr id="14" name="Text 12"/>
          <p:cNvSpPr/>
          <p:nvPr/>
        </p:nvSpPr>
        <p:spPr>
          <a:xfrm>
            <a:off x="4800600" y="2043332"/>
            <a:ext cx="3840480" cy="2468880"/>
          </a:xfrm>
          <a:prstGeom prst="rect">
            <a:avLst/>
          </a:prstGeom>
          <a:noFill/>
          <a:ln/>
        </p:spPr>
        <p:txBody>
          <a:bodyPr wrap="square" rtlCol="0" anchor="ctr"/>
          <a:lstStyle/>
          <a:p>
            <a:pPr marL="0" indent="0">
              <a:lnSpc>
                <a:spcPct val="125000"/>
              </a:lnSpc>
              <a:buNone/>
            </a:pPr>
            <a:r>
              <a:rPr lang="en-US" sz="900" dirty="0">
                <a:solidFill>
                  <a:srgbClr val="1E293B"/>
                </a:solidFill>
                <a:latin typeface="Courier New" pitchFamily="34" charset="0"/>
                <a:ea typeface="Courier New" pitchFamily="34" charset="-122"/>
                <a:cs typeface="Courier New" pitchFamily="34" charset="-120"/>
              </a:rPr>
              <a:t>-- Aceptar → ocupar horario</a:t>
            </a:r>
            <a:endParaRPr lang="en-US" sz="900" dirty="0"/>
          </a:p>
          <a:p>
            <a:pPr marL="0" indent="0">
              <a:lnSpc>
                <a:spcPct val="125000"/>
              </a:lnSpc>
              <a:buNone/>
            </a:pPr>
            <a:r>
              <a:rPr lang="en-US" sz="800" dirty="0">
                <a:solidFill>
                  <a:srgbClr val="1E293B"/>
                </a:solidFill>
                <a:latin typeface="Courier New" pitchFamily="34" charset="0"/>
                <a:ea typeface="Courier New" pitchFamily="34" charset="-122"/>
                <a:cs typeface="Courier New" pitchFamily="34" charset="-120"/>
              </a:rPr>
              <a:t>IF NEW.estado = 'aceptada'</a:t>
            </a:r>
            <a:endParaRPr lang="en-US" sz="800" dirty="0"/>
          </a:p>
          <a:p>
            <a:pPr marL="0" indent="0">
              <a:lnSpc>
                <a:spcPct val="125000"/>
              </a:lnSpc>
              <a:buNone/>
            </a:pPr>
            <a:r>
              <a:rPr lang="en-US" sz="800" dirty="0">
                <a:solidFill>
                  <a:srgbClr val="1E293B"/>
                </a:solidFill>
                <a:latin typeface="Courier New" pitchFamily="34" charset="0"/>
                <a:ea typeface="Courier New" pitchFamily="34" charset="-122"/>
                <a:cs typeface="Courier New" pitchFamily="34" charset="-120"/>
              </a:rPr>
              <a:t>   AND OLD.estado = 'pendiente'</a:t>
            </a:r>
            <a:endParaRPr lang="en-US" sz="800" dirty="0"/>
          </a:p>
          <a:p>
            <a:pPr marL="0" indent="0">
              <a:lnSpc>
                <a:spcPct val="125000"/>
              </a:lnSpc>
              <a:buNone/>
            </a:pPr>
            <a:r>
              <a:rPr lang="en-US" sz="800" dirty="0">
                <a:solidFill>
                  <a:srgbClr val="1E293B"/>
                </a:solidFill>
                <a:latin typeface="Courier New" pitchFamily="34" charset="0"/>
                <a:ea typeface="Courier New" pitchFamily="34" charset="-122"/>
                <a:cs typeface="Courier New" pitchFamily="34" charset="-120"/>
              </a:rPr>
              <a:t>THEN</a:t>
            </a:r>
            <a:endParaRPr lang="en-US" sz="800" dirty="0"/>
          </a:p>
          <a:p>
            <a:pPr marL="0" indent="0">
              <a:lnSpc>
                <a:spcPct val="125000"/>
              </a:lnSpc>
              <a:buNone/>
            </a:pPr>
            <a:r>
              <a:rPr lang="en-US" sz="800" dirty="0">
                <a:solidFill>
                  <a:srgbClr val="1E293B"/>
                </a:solidFill>
                <a:latin typeface="Courier New" pitchFamily="34" charset="0"/>
                <a:ea typeface="Courier New" pitchFamily="34" charset="-122"/>
                <a:cs typeface="Courier New" pitchFamily="34" charset="-120"/>
              </a:rPr>
              <a:t>  UPDATE horarios</a:t>
            </a:r>
            <a:endParaRPr lang="en-US" sz="800" dirty="0"/>
          </a:p>
          <a:p>
            <a:pPr marL="0" indent="0">
              <a:lnSpc>
                <a:spcPct val="125000"/>
              </a:lnSpc>
              <a:buNone/>
            </a:pPr>
            <a:r>
              <a:rPr lang="en-US" sz="800" dirty="0">
                <a:solidFill>
                  <a:srgbClr val="1E293B"/>
                </a:solidFill>
                <a:latin typeface="Courier New" pitchFamily="34" charset="0"/>
                <a:ea typeface="Courier New" pitchFamily="34" charset="-122"/>
                <a:cs typeface="Courier New" pitchFamily="34" charset="-120"/>
              </a:rPr>
              <a:t>  SET estado = 'ocupado'</a:t>
            </a:r>
            <a:endParaRPr lang="en-US" sz="800" dirty="0"/>
          </a:p>
          <a:p>
            <a:pPr marL="0" indent="0">
              <a:lnSpc>
                <a:spcPct val="125000"/>
              </a:lnSpc>
              <a:buNone/>
            </a:pPr>
            <a:r>
              <a:rPr lang="en-US" sz="800" dirty="0">
                <a:solidFill>
                  <a:srgbClr val="1E293B"/>
                </a:solidFill>
                <a:latin typeface="Courier New" pitchFamily="34" charset="0"/>
                <a:ea typeface="Courier New" pitchFamily="34" charset="-122"/>
                <a:cs typeface="Courier New" pitchFamily="34" charset="-120"/>
              </a:rPr>
              <a:t>  WHERE id = NEW.horario_id;</a:t>
            </a:r>
            <a:endParaRPr lang="en-US" sz="800" dirty="0"/>
          </a:p>
          <a:p>
            <a:pPr marL="0" indent="0">
              <a:lnSpc>
                <a:spcPct val="125000"/>
              </a:lnSpc>
              <a:buNone/>
            </a:pPr>
            <a:r>
              <a:rPr lang="en-US" sz="800" dirty="0">
                <a:solidFill>
                  <a:srgbClr val="1E293B"/>
                </a:solidFill>
                <a:latin typeface="Courier New" pitchFamily="34" charset="0"/>
                <a:ea typeface="Courier New" pitchFamily="34" charset="-122"/>
                <a:cs typeface="Courier New" pitchFamily="34" charset="-120"/>
              </a:rPr>
              <a:t>END IF;</a:t>
            </a:r>
            <a:endParaRPr lang="en-US" sz="800" dirty="0"/>
          </a:p>
          <a:p>
            <a:pPr marL="0" indent="0">
              <a:lnSpc>
                <a:spcPct val="125000"/>
              </a:lnSpc>
              <a:buNone/>
            </a:pPr>
            <a:r>
              <a:rPr lang="en-US" sz="800" dirty="0">
                <a:solidFill>
                  <a:srgbClr val="1E293B"/>
                </a:solidFill>
                <a:latin typeface="Courier New" pitchFamily="34" charset="0"/>
                <a:ea typeface="Courier New" pitchFamily="34" charset="-122"/>
                <a:cs typeface="Courier New" pitchFamily="34" charset="-120"/>
              </a:rPr>
              <a:t>-- Cancelar/Rechazar → liberar</a:t>
            </a:r>
            <a:endParaRPr lang="en-US" sz="800" dirty="0"/>
          </a:p>
          <a:p>
            <a:pPr marL="0" indent="0">
              <a:lnSpc>
                <a:spcPct val="125000"/>
              </a:lnSpc>
              <a:buNone/>
            </a:pPr>
            <a:r>
              <a:rPr lang="en-US" sz="800" dirty="0">
                <a:solidFill>
                  <a:srgbClr val="1E293B"/>
                </a:solidFill>
                <a:latin typeface="Courier New" pitchFamily="34" charset="0"/>
                <a:ea typeface="Courier New" pitchFamily="34" charset="-122"/>
                <a:cs typeface="Courier New" pitchFamily="34" charset="-120"/>
              </a:rPr>
              <a:t>IF NEW.estado IN ('cancelada',</a:t>
            </a:r>
            <a:endParaRPr lang="en-US" sz="800" dirty="0"/>
          </a:p>
          <a:p>
            <a:pPr marL="0" indent="0">
              <a:lnSpc>
                <a:spcPct val="125000"/>
              </a:lnSpc>
              <a:buNone/>
            </a:pPr>
            <a:r>
              <a:rPr lang="en-US" sz="800" dirty="0">
                <a:solidFill>
                  <a:srgbClr val="1E293B"/>
                </a:solidFill>
                <a:latin typeface="Courier New" pitchFamily="34" charset="0"/>
                <a:ea typeface="Courier New" pitchFamily="34" charset="-122"/>
                <a:cs typeface="Courier New" pitchFamily="34" charset="-120"/>
              </a:rPr>
              <a:t>   'rechazada')</a:t>
            </a:r>
            <a:endParaRPr lang="en-US" sz="800" dirty="0"/>
          </a:p>
          <a:p>
            <a:pPr marL="0" indent="0">
              <a:lnSpc>
                <a:spcPct val="125000"/>
              </a:lnSpc>
              <a:buNone/>
            </a:pPr>
            <a:r>
              <a:rPr lang="en-US" sz="800" dirty="0">
                <a:solidFill>
                  <a:srgbClr val="1E293B"/>
                </a:solidFill>
                <a:latin typeface="Courier New" pitchFamily="34" charset="0"/>
                <a:ea typeface="Courier New" pitchFamily="34" charset="-122"/>
                <a:cs typeface="Courier New" pitchFamily="34" charset="-120"/>
              </a:rPr>
              <a:t>   AND OLD.estado = 'aceptada'</a:t>
            </a:r>
            <a:endParaRPr lang="en-US" sz="800" dirty="0"/>
          </a:p>
          <a:p>
            <a:pPr marL="0" indent="0">
              <a:lnSpc>
                <a:spcPct val="125000"/>
              </a:lnSpc>
              <a:buNone/>
            </a:pPr>
            <a:r>
              <a:rPr lang="en-US" sz="800" dirty="0">
                <a:solidFill>
                  <a:srgbClr val="1E293B"/>
                </a:solidFill>
                <a:latin typeface="Courier New" pitchFamily="34" charset="0"/>
                <a:ea typeface="Courier New" pitchFamily="34" charset="-122"/>
                <a:cs typeface="Courier New" pitchFamily="34" charset="-120"/>
              </a:rPr>
              <a:t>THEN</a:t>
            </a:r>
            <a:endParaRPr lang="en-US" sz="800" dirty="0"/>
          </a:p>
          <a:p>
            <a:pPr marL="0" indent="0">
              <a:lnSpc>
                <a:spcPct val="125000"/>
              </a:lnSpc>
              <a:buNone/>
            </a:pPr>
            <a:r>
              <a:rPr lang="en-US" sz="800" dirty="0">
                <a:solidFill>
                  <a:srgbClr val="1E293B"/>
                </a:solidFill>
                <a:latin typeface="Courier New" pitchFamily="34" charset="0"/>
                <a:ea typeface="Courier New" pitchFamily="34" charset="-122"/>
                <a:cs typeface="Courier New" pitchFamily="34" charset="-120"/>
              </a:rPr>
              <a:t>  UPDATE horarios</a:t>
            </a:r>
            <a:endParaRPr lang="en-US" sz="800" dirty="0"/>
          </a:p>
          <a:p>
            <a:pPr marL="0" indent="0">
              <a:lnSpc>
                <a:spcPct val="125000"/>
              </a:lnSpc>
              <a:buNone/>
            </a:pPr>
            <a:r>
              <a:rPr lang="en-US" sz="800" dirty="0">
                <a:solidFill>
                  <a:srgbClr val="1E293B"/>
                </a:solidFill>
                <a:latin typeface="Courier New" pitchFamily="34" charset="0"/>
                <a:ea typeface="Courier New" pitchFamily="34" charset="-122"/>
                <a:cs typeface="Courier New" pitchFamily="34" charset="-120"/>
              </a:rPr>
              <a:t>  SET estado = 'libre' ...</a:t>
            </a:r>
            <a:endParaRPr lang="en-US" sz="800" dirty="0"/>
          </a:p>
          <a:p>
            <a:pPr marL="0" indent="0">
              <a:lnSpc>
                <a:spcPct val="125000"/>
              </a:lnSpc>
              <a:buNone/>
            </a:pPr>
            <a:r>
              <a:rPr lang="en-US" sz="800" dirty="0">
                <a:solidFill>
                  <a:srgbClr val="1E293B"/>
                </a:solidFill>
                <a:latin typeface="Courier New" pitchFamily="34" charset="0"/>
                <a:ea typeface="Courier New" pitchFamily="34" charset="-122"/>
                <a:cs typeface="Courier New" pitchFamily="34" charset="-120"/>
              </a:rPr>
              <a:t>END IF;</a:t>
            </a:r>
            <a:endParaRPr lang="en-US" sz="800" dirty="0"/>
          </a:p>
        </p:txBody>
      </p:sp>
      <p:sp>
        <p:nvSpPr>
          <p:cNvPr id="15" name="Shape 13"/>
          <p:cNvSpPr/>
          <p:nvPr/>
        </p:nvSpPr>
        <p:spPr>
          <a:xfrm>
            <a:off x="457200" y="4663440"/>
            <a:ext cx="8229600" cy="320040"/>
          </a:xfrm>
          <a:prstGeom prst="roundRect">
            <a:avLst>
              <a:gd name="adj" fmla="val 17143"/>
            </a:avLst>
          </a:prstGeom>
          <a:solidFill>
            <a:srgbClr val="ECFDF5"/>
          </a:solidFill>
          <a:ln w="12700">
            <a:solidFill>
              <a:srgbClr val="0D9488"/>
            </a:solidFill>
            <a:prstDash val="solid"/>
          </a:ln>
        </p:spPr>
        <p:txBody>
          <a:bodyPr/>
          <a:lstStyle/>
          <a:p>
            <a:endParaRPr lang="es-AR"/>
          </a:p>
        </p:txBody>
      </p:sp>
      <p:sp>
        <p:nvSpPr>
          <p:cNvPr id="16" name="Text 14"/>
          <p:cNvSpPr/>
          <p:nvPr/>
        </p:nvSpPr>
        <p:spPr>
          <a:xfrm>
            <a:off x="594360" y="4681728"/>
            <a:ext cx="7955280" cy="283464"/>
          </a:xfrm>
          <a:prstGeom prst="rect">
            <a:avLst/>
          </a:prstGeom>
          <a:noFill/>
          <a:ln/>
        </p:spPr>
        <p:txBody>
          <a:bodyPr wrap="square" rtlCol="0" anchor="ctr"/>
          <a:lstStyle/>
          <a:p>
            <a:pPr marL="0" indent="0">
              <a:buNone/>
            </a:pPr>
            <a:r>
              <a:rPr lang="en-US" sz="1000" b="1" dirty="0">
                <a:solidFill>
                  <a:srgbClr val="065F46"/>
                </a:solidFill>
              </a:rPr>
              <a:t>✅  Los triggers actúan en la capa de datos — ningún bypass de aplicación puede violar estas reglas.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457200" y="274320"/>
            <a:ext cx="1371600" cy="301752"/>
          </a:xfrm>
          <a:prstGeom prst="roundRect">
            <a:avLst>
              <a:gd name="adj" fmla="val 18182"/>
            </a:avLst>
          </a:prstGeom>
          <a:solidFill>
            <a:srgbClr val="0D9488"/>
          </a:solidFill>
          <a:ln w="12700">
            <a:solidFill>
              <a:srgbClr val="0D9488"/>
            </a:solidFill>
            <a:prstDash val="solid"/>
          </a:ln>
        </p:spPr>
        <p:txBody>
          <a:bodyPr/>
          <a:lstStyle/>
          <a:p>
            <a:endParaRPr lang="es-AR"/>
          </a:p>
        </p:txBody>
      </p:sp>
      <p:sp>
        <p:nvSpPr>
          <p:cNvPr id="3" name="Text 1"/>
          <p:cNvSpPr/>
          <p:nvPr/>
        </p:nvSpPr>
        <p:spPr>
          <a:xfrm>
            <a:off x="457200" y="274320"/>
            <a:ext cx="1371600" cy="301752"/>
          </a:xfrm>
          <a:prstGeom prst="rect">
            <a:avLst/>
          </a:prstGeom>
          <a:noFill/>
          <a:ln/>
        </p:spPr>
        <p:txBody>
          <a:bodyPr wrap="square" lIns="0" tIns="0" rIns="0" bIns="0" rtlCol="0" anchor="ctr"/>
          <a:lstStyle/>
          <a:p>
            <a:pPr marL="0" indent="0" algn="ctr">
              <a:buNone/>
            </a:pPr>
            <a:r>
              <a:rPr lang="en-US" sz="900" b="1" dirty="0">
                <a:solidFill>
                  <a:srgbClr val="FFFFFF"/>
                </a:solidFill>
              </a:rPr>
              <a:t>11 · ALGORITMO IA</a:t>
            </a:r>
            <a:endParaRPr lang="en-US" sz="900" dirty="0"/>
          </a:p>
        </p:txBody>
      </p:sp>
      <p:sp>
        <p:nvSpPr>
          <p:cNvPr id="4" name="Text 2"/>
          <p:cNvSpPr/>
          <p:nvPr/>
        </p:nvSpPr>
        <p:spPr>
          <a:xfrm>
            <a:off x="457200" y="658368"/>
            <a:ext cx="8229600" cy="822960"/>
          </a:xfrm>
          <a:prstGeom prst="rect">
            <a:avLst/>
          </a:prstGeom>
          <a:noFill/>
          <a:ln/>
        </p:spPr>
        <p:txBody>
          <a:bodyPr wrap="square" rtlCol="0" anchor="ctr"/>
          <a:lstStyle/>
          <a:p>
            <a:pPr marL="0" indent="0">
              <a:lnSpc>
                <a:spcPct val="125000"/>
              </a:lnSpc>
              <a:buNone/>
            </a:pPr>
            <a:r>
              <a:rPr lang="en-US" sz="2400" b="1" dirty="0">
                <a:solidFill>
                  <a:srgbClr val="FFFFFF"/>
                </a:solidFill>
              </a:rPr>
              <a:t>Sistema de recomendación</a:t>
            </a:r>
            <a:endParaRPr lang="en-US" sz="2400" dirty="0"/>
          </a:p>
          <a:p>
            <a:pPr marL="0" indent="0">
              <a:lnSpc>
                <a:spcPct val="125000"/>
              </a:lnSpc>
              <a:buNone/>
            </a:pPr>
            <a:r>
              <a:rPr lang="en-US" sz="2400" b="1" dirty="0">
                <a:solidFill>
                  <a:srgbClr val="FFFFFF"/>
                </a:solidFill>
              </a:rPr>
              <a:t>por score ponderado.</a:t>
            </a:r>
            <a:endParaRPr lang="en-US" sz="2400" dirty="0"/>
          </a:p>
        </p:txBody>
      </p:sp>
      <p:sp>
        <p:nvSpPr>
          <p:cNvPr id="5" name="Shape 3"/>
          <p:cNvSpPr/>
          <p:nvPr/>
        </p:nvSpPr>
        <p:spPr>
          <a:xfrm>
            <a:off x="457200" y="1627632"/>
            <a:ext cx="8229600" cy="658368"/>
          </a:xfrm>
          <a:prstGeom prst="roundRect">
            <a:avLst>
              <a:gd name="adj" fmla="val 13889"/>
            </a:avLst>
          </a:prstGeom>
          <a:solidFill>
            <a:srgbClr val="1E3A5F"/>
          </a:solidFill>
          <a:ln w="12700">
            <a:solidFill>
              <a:srgbClr val="0D9488"/>
            </a:solidFill>
            <a:prstDash val="solid"/>
          </a:ln>
        </p:spPr>
        <p:txBody>
          <a:bodyPr/>
          <a:lstStyle/>
          <a:p>
            <a:endParaRPr lang="es-AR"/>
          </a:p>
        </p:txBody>
      </p:sp>
      <p:sp>
        <p:nvSpPr>
          <p:cNvPr id="6" name="Text 4"/>
          <p:cNvSpPr/>
          <p:nvPr/>
        </p:nvSpPr>
        <p:spPr>
          <a:xfrm>
            <a:off x="594360" y="1627632"/>
            <a:ext cx="7955280" cy="658368"/>
          </a:xfrm>
          <a:prstGeom prst="rect">
            <a:avLst/>
          </a:prstGeom>
          <a:noFill/>
          <a:ln/>
        </p:spPr>
        <p:txBody>
          <a:bodyPr wrap="square" rtlCol="0" anchor="ctr"/>
          <a:lstStyle/>
          <a:p>
            <a:pPr marL="0" indent="0" algn="ctr">
              <a:buNone/>
            </a:pPr>
            <a:r>
              <a:rPr lang="en-US" sz="1300" b="1" dirty="0">
                <a:solidFill>
                  <a:srgbClr val="14B8A6"/>
                </a:solidFill>
                <a:latin typeface="Courier New" pitchFamily="34" charset="0"/>
                <a:ea typeface="Courier New" pitchFamily="34" charset="-122"/>
                <a:cs typeface="Courier New" pitchFamily="34" charset="-120"/>
              </a:rPr>
              <a:t>score  =  (materias_coincidentes × 10)  +  (promedio_calificacion × 5)  +  (horarios_libres × 2)</a:t>
            </a:r>
            <a:endParaRPr lang="en-US" sz="1300" dirty="0"/>
          </a:p>
        </p:txBody>
      </p:sp>
      <p:sp>
        <p:nvSpPr>
          <p:cNvPr id="7" name="Shape 5"/>
          <p:cNvSpPr/>
          <p:nvPr/>
        </p:nvSpPr>
        <p:spPr>
          <a:xfrm>
            <a:off x="457200" y="2423160"/>
            <a:ext cx="2651760" cy="2423160"/>
          </a:xfrm>
          <a:prstGeom prst="roundRect">
            <a:avLst>
              <a:gd name="adj" fmla="val 3774"/>
            </a:avLst>
          </a:prstGeom>
          <a:solidFill>
            <a:srgbClr val="1E3A5F"/>
          </a:solidFill>
          <a:ln w="19050">
            <a:solidFill>
              <a:srgbClr val="0D9488"/>
            </a:solidFill>
            <a:prstDash val="solid"/>
          </a:ln>
          <a:effectLst>
            <a:outerShdw blurRad="101600" dist="38100" dir="2700000" algn="bl" rotWithShape="0">
              <a:srgbClr val="000000">
                <a:alpha val="18000"/>
              </a:srgbClr>
            </a:outerShdw>
          </a:effectLst>
        </p:spPr>
        <p:txBody>
          <a:bodyPr/>
          <a:lstStyle/>
          <a:p>
            <a:endParaRPr lang="es-AR"/>
          </a:p>
        </p:txBody>
      </p:sp>
      <p:sp>
        <p:nvSpPr>
          <p:cNvPr id="8" name="Shape 6"/>
          <p:cNvSpPr/>
          <p:nvPr/>
        </p:nvSpPr>
        <p:spPr>
          <a:xfrm>
            <a:off x="548640" y="2487168"/>
            <a:ext cx="822960" cy="347472"/>
          </a:xfrm>
          <a:prstGeom prst="roundRect">
            <a:avLst>
              <a:gd name="adj" fmla="val 15789"/>
            </a:avLst>
          </a:prstGeom>
          <a:solidFill>
            <a:srgbClr val="0D9488"/>
          </a:solidFill>
          <a:ln w="12700">
            <a:solidFill>
              <a:srgbClr val="0D9488"/>
            </a:solidFill>
            <a:prstDash val="solid"/>
          </a:ln>
        </p:spPr>
        <p:txBody>
          <a:bodyPr/>
          <a:lstStyle/>
          <a:p>
            <a:endParaRPr lang="es-AR"/>
          </a:p>
        </p:txBody>
      </p:sp>
      <p:sp>
        <p:nvSpPr>
          <p:cNvPr id="9" name="Text 7"/>
          <p:cNvSpPr/>
          <p:nvPr/>
        </p:nvSpPr>
        <p:spPr>
          <a:xfrm>
            <a:off x="548640" y="2487168"/>
            <a:ext cx="822960" cy="347472"/>
          </a:xfrm>
          <a:prstGeom prst="rect">
            <a:avLst/>
          </a:prstGeom>
          <a:noFill/>
          <a:ln/>
        </p:spPr>
        <p:txBody>
          <a:bodyPr wrap="square" lIns="0" tIns="0" rIns="0" bIns="0" rtlCol="0" anchor="ctr"/>
          <a:lstStyle/>
          <a:p>
            <a:pPr marL="0" indent="0" algn="ctr">
              <a:buNone/>
            </a:pPr>
            <a:r>
              <a:rPr lang="en-US" sz="1200" b="1" dirty="0">
                <a:solidFill>
                  <a:srgbClr val="0F172A"/>
                </a:solidFill>
              </a:rPr>
              <a:t>× 10</a:t>
            </a:r>
            <a:endParaRPr lang="en-US" sz="1200" dirty="0"/>
          </a:p>
        </p:txBody>
      </p:sp>
      <p:sp>
        <p:nvSpPr>
          <p:cNvPr id="10" name="Text 8"/>
          <p:cNvSpPr/>
          <p:nvPr/>
        </p:nvSpPr>
        <p:spPr>
          <a:xfrm>
            <a:off x="548640" y="2898648"/>
            <a:ext cx="2468880" cy="566928"/>
          </a:xfrm>
          <a:prstGeom prst="rect">
            <a:avLst/>
          </a:prstGeom>
          <a:noFill/>
          <a:ln/>
        </p:spPr>
        <p:txBody>
          <a:bodyPr wrap="square" rtlCol="0" anchor="ctr"/>
          <a:lstStyle/>
          <a:p>
            <a:pPr marL="0" indent="0">
              <a:lnSpc>
                <a:spcPct val="125000"/>
              </a:lnSpc>
              <a:buNone/>
            </a:pPr>
            <a:r>
              <a:rPr lang="en-US" sz="1300" b="1" dirty="0">
                <a:solidFill>
                  <a:srgbClr val="FFFFFF"/>
                </a:solidFill>
              </a:rPr>
              <a:t>Materias</a:t>
            </a:r>
            <a:endParaRPr lang="en-US" sz="1300" dirty="0"/>
          </a:p>
          <a:p>
            <a:pPr marL="0" indent="0">
              <a:lnSpc>
                <a:spcPct val="125000"/>
              </a:lnSpc>
              <a:buNone/>
            </a:pPr>
            <a:r>
              <a:rPr lang="en-US" sz="1300" b="1" dirty="0">
                <a:solidFill>
                  <a:srgbClr val="FFFFFF"/>
                </a:solidFill>
              </a:rPr>
              <a:t>Coincidentes</a:t>
            </a:r>
            <a:endParaRPr lang="en-US" sz="1300" dirty="0"/>
          </a:p>
        </p:txBody>
      </p:sp>
      <p:sp>
        <p:nvSpPr>
          <p:cNvPr id="11" name="Shape 9"/>
          <p:cNvSpPr/>
          <p:nvPr/>
        </p:nvSpPr>
        <p:spPr>
          <a:xfrm>
            <a:off x="640080" y="3520440"/>
            <a:ext cx="2286000" cy="164592"/>
          </a:xfrm>
          <a:prstGeom prst="rect">
            <a:avLst/>
          </a:prstGeom>
          <a:solidFill>
            <a:srgbClr val="1E293B"/>
          </a:solidFill>
          <a:ln w="12700">
            <a:solidFill>
              <a:srgbClr val="1E293B"/>
            </a:solidFill>
            <a:prstDash val="solid"/>
          </a:ln>
        </p:spPr>
        <p:txBody>
          <a:bodyPr/>
          <a:lstStyle/>
          <a:p>
            <a:endParaRPr lang="es-AR"/>
          </a:p>
        </p:txBody>
      </p:sp>
      <p:sp>
        <p:nvSpPr>
          <p:cNvPr id="12" name="Shape 10"/>
          <p:cNvSpPr/>
          <p:nvPr/>
        </p:nvSpPr>
        <p:spPr>
          <a:xfrm>
            <a:off x="640080" y="3520440"/>
            <a:ext cx="1623060" cy="164592"/>
          </a:xfrm>
          <a:prstGeom prst="rect">
            <a:avLst/>
          </a:prstGeom>
          <a:solidFill>
            <a:srgbClr val="0D9488"/>
          </a:solidFill>
          <a:ln w="12700">
            <a:solidFill>
              <a:srgbClr val="0D9488"/>
            </a:solidFill>
            <a:prstDash val="solid"/>
          </a:ln>
        </p:spPr>
        <p:txBody>
          <a:bodyPr/>
          <a:lstStyle/>
          <a:p>
            <a:endParaRPr lang="es-AR"/>
          </a:p>
        </p:txBody>
      </p:sp>
      <p:sp>
        <p:nvSpPr>
          <p:cNvPr id="13" name="Text 11"/>
          <p:cNvSpPr/>
          <p:nvPr/>
        </p:nvSpPr>
        <p:spPr>
          <a:xfrm>
            <a:off x="548640" y="3730752"/>
            <a:ext cx="2468880" cy="228600"/>
          </a:xfrm>
          <a:prstGeom prst="rect">
            <a:avLst/>
          </a:prstGeom>
          <a:noFill/>
          <a:ln/>
        </p:spPr>
        <p:txBody>
          <a:bodyPr wrap="square" rtlCol="0" anchor="ctr"/>
          <a:lstStyle/>
          <a:p>
            <a:pPr marL="0" indent="0" algn="ctr">
              <a:buNone/>
            </a:pPr>
            <a:r>
              <a:rPr lang="en-US" sz="900" dirty="0">
                <a:solidFill>
                  <a:srgbClr val="0D9488"/>
                </a:solidFill>
              </a:rPr>
              <a:t>71% del score</a:t>
            </a:r>
            <a:endParaRPr lang="en-US" sz="900" dirty="0"/>
          </a:p>
        </p:txBody>
      </p:sp>
      <p:sp>
        <p:nvSpPr>
          <p:cNvPr id="14" name="Text 12"/>
          <p:cNvSpPr/>
          <p:nvPr/>
        </p:nvSpPr>
        <p:spPr>
          <a:xfrm>
            <a:off x="566928" y="4005072"/>
            <a:ext cx="2423160" cy="731520"/>
          </a:xfrm>
          <a:prstGeom prst="rect">
            <a:avLst/>
          </a:prstGeom>
          <a:noFill/>
          <a:ln/>
        </p:spPr>
        <p:txBody>
          <a:bodyPr wrap="square" rtlCol="0" anchor="ctr"/>
          <a:lstStyle/>
          <a:p>
            <a:pPr marL="0" indent="0">
              <a:lnSpc>
                <a:spcPct val="130000"/>
              </a:lnSpc>
              <a:buNone/>
            </a:pPr>
            <a:r>
              <a:rPr lang="en-US" sz="950" dirty="0">
                <a:solidFill>
                  <a:srgbClr val="94A3B8"/>
                </a:solidFill>
              </a:rPr>
              <a:t>El factor más importante.</a:t>
            </a:r>
            <a:endParaRPr lang="en-US" sz="950" dirty="0"/>
          </a:p>
          <a:p>
            <a:pPr marL="0" indent="0">
              <a:lnSpc>
                <a:spcPct val="130000"/>
              </a:lnSpc>
              <a:buNone/>
            </a:pPr>
            <a:r>
              <a:rPr lang="en-US" sz="950" dirty="0">
                <a:solidFill>
                  <a:srgbClr val="94A3B8"/>
                </a:solidFill>
              </a:rPr>
              <a:t>Si el alumno busca 'Cálculo I' y el tutor enseña 'Cálculo I' → coincidencia directa.</a:t>
            </a:r>
            <a:endParaRPr lang="en-US" sz="950" dirty="0"/>
          </a:p>
        </p:txBody>
      </p:sp>
      <p:sp>
        <p:nvSpPr>
          <p:cNvPr id="15" name="Shape 13"/>
          <p:cNvSpPr/>
          <p:nvPr/>
        </p:nvSpPr>
        <p:spPr>
          <a:xfrm>
            <a:off x="3291840" y="2423160"/>
            <a:ext cx="2651760" cy="2423160"/>
          </a:xfrm>
          <a:prstGeom prst="roundRect">
            <a:avLst>
              <a:gd name="adj" fmla="val 3774"/>
            </a:avLst>
          </a:prstGeom>
          <a:solidFill>
            <a:srgbClr val="1E3A5F"/>
          </a:solidFill>
          <a:ln w="19050">
            <a:solidFill>
              <a:srgbClr val="F59E0B"/>
            </a:solidFill>
            <a:prstDash val="solid"/>
          </a:ln>
          <a:effectLst>
            <a:outerShdw blurRad="101600" dist="38100" dir="2700000" algn="bl" rotWithShape="0">
              <a:srgbClr val="000000">
                <a:alpha val="18000"/>
              </a:srgbClr>
            </a:outerShdw>
          </a:effectLst>
        </p:spPr>
        <p:txBody>
          <a:bodyPr/>
          <a:lstStyle/>
          <a:p>
            <a:endParaRPr lang="es-AR"/>
          </a:p>
        </p:txBody>
      </p:sp>
      <p:sp>
        <p:nvSpPr>
          <p:cNvPr id="16" name="Shape 14"/>
          <p:cNvSpPr/>
          <p:nvPr/>
        </p:nvSpPr>
        <p:spPr>
          <a:xfrm>
            <a:off x="3383280" y="2487168"/>
            <a:ext cx="822960" cy="347472"/>
          </a:xfrm>
          <a:prstGeom prst="roundRect">
            <a:avLst>
              <a:gd name="adj" fmla="val 15789"/>
            </a:avLst>
          </a:prstGeom>
          <a:solidFill>
            <a:srgbClr val="F59E0B"/>
          </a:solidFill>
          <a:ln w="12700">
            <a:solidFill>
              <a:srgbClr val="F59E0B"/>
            </a:solidFill>
            <a:prstDash val="solid"/>
          </a:ln>
        </p:spPr>
        <p:txBody>
          <a:bodyPr/>
          <a:lstStyle/>
          <a:p>
            <a:endParaRPr lang="es-AR"/>
          </a:p>
        </p:txBody>
      </p:sp>
      <p:sp>
        <p:nvSpPr>
          <p:cNvPr id="17" name="Text 15"/>
          <p:cNvSpPr/>
          <p:nvPr/>
        </p:nvSpPr>
        <p:spPr>
          <a:xfrm>
            <a:off x="3383280" y="2487168"/>
            <a:ext cx="822960" cy="347472"/>
          </a:xfrm>
          <a:prstGeom prst="rect">
            <a:avLst/>
          </a:prstGeom>
          <a:noFill/>
          <a:ln/>
        </p:spPr>
        <p:txBody>
          <a:bodyPr wrap="square" lIns="0" tIns="0" rIns="0" bIns="0" rtlCol="0" anchor="ctr"/>
          <a:lstStyle/>
          <a:p>
            <a:pPr marL="0" indent="0" algn="ctr">
              <a:buNone/>
            </a:pPr>
            <a:r>
              <a:rPr lang="en-US" sz="1200" b="1" dirty="0">
                <a:solidFill>
                  <a:srgbClr val="0F172A"/>
                </a:solidFill>
              </a:rPr>
              <a:t>× 5</a:t>
            </a:r>
            <a:endParaRPr lang="en-US" sz="1200" dirty="0"/>
          </a:p>
        </p:txBody>
      </p:sp>
      <p:sp>
        <p:nvSpPr>
          <p:cNvPr id="18" name="Text 16"/>
          <p:cNvSpPr/>
          <p:nvPr/>
        </p:nvSpPr>
        <p:spPr>
          <a:xfrm>
            <a:off x="3383280" y="2898648"/>
            <a:ext cx="2468880" cy="566928"/>
          </a:xfrm>
          <a:prstGeom prst="rect">
            <a:avLst/>
          </a:prstGeom>
          <a:noFill/>
          <a:ln/>
        </p:spPr>
        <p:txBody>
          <a:bodyPr wrap="square" rtlCol="0" anchor="ctr"/>
          <a:lstStyle/>
          <a:p>
            <a:pPr marL="0" indent="0">
              <a:lnSpc>
                <a:spcPct val="125000"/>
              </a:lnSpc>
              <a:buNone/>
            </a:pPr>
            <a:r>
              <a:rPr lang="en-US" sz="1300" b="1" dirty="0">
                <a:solidFill>
                  <a:srgbClr val="FFFFFF"/>
                </a:solidFill>
              </a:rPr>
              <a:t>Calificación</a:t>
            </a:r>
            <a:endParaRPr lang="en-US" sz="1300" dirty="0"/>
          </a:p>
          <a:p>
            <a:pPr marL="0" indent="0">
              <a:lnSpc>
                <a:spcPct val="125000"/>
              </a:lnSpc>
              <a:buNone/>
            </a:pPr>
            <a:r>
              <a:rPr lang="en-US" sz="1300" b="1" dirty="0">
                <a:solidFill>
                  <a:srgbClr val="FFFFFF"/>
                </a:solidFill>
              </a:rPr>
              <a:t>Promedio</a:t>
            </a:r>
            <a:endParaRPr lang="en-US" sz="1300" dirty="0"/>
          </a:p>
        </p:txBody>
      </p:sp>
      <p:sp>
        <p:nvSpPr>
          <p:cNvPr id="19" name="Shape 17"/>
          <p:cNvSpPr/>
          <p:nvPr/>
        </p:nvSpPr>
        <p:spPr>
          <a:xfrm>
            <a:off x="3474720" y="3520440"/>
            <a:ext cx="2286000" cy="164592"/>
          </a:xfrm>
          <a:prstGeom prst="rect">
            <a:avLst/>
          </a:prstGeom>
          <a:solidFill>
            <a:srgbClr val="1E293B"/>
          </a:solidFill>
          <a:ln w="12700">
            <a:solidFill>
              <a:srgbClr val="1E293B"/>
            </a:solidFill>
            <a:prstDash val="solid"/>
          </a:ln>
        </p:spPr>
        <p:txBody>
          <a:bodyPr/>
          <a:lstStyle/>
          <a:p>
            <a:endParaRPr lang="es-AR"/>
          </a:p>
        </p:txBody>
      </p:sp>
      <p:sp>
        <p:nvSpPr>
          <p:cNvPr id="20" name="Shape 18"/>
          <p:cNvSpPr/>
          <p:nvPr/>
        </p:nvSpPr>
        <p:spPr>
          <a:xfrm>
            <a:off x="3474720" y="3520440"/>
            <a:ext cx="548640" cy="164592"/>
          </a:xfrm>
          <a:prstGeom prst="rect">
            <a:avLst/>
          </a:prstGeom>
          <a:solidFill>
            <a:srgbClr val="F59E0B"/>
          </a:solidFill>
          <a:ln w="12700">
            <a:solidFill>
              <a:srgbClr val="F59E0B"/>
            </a:solidFill>
            <a:prstDash val="solid"/>
          </a:ln>
        </p:spPr>
        <p:txBody>
          <a:bodyPr/>
          <a:lstStyle/>
          <a:p>
            <a:endParaRPr lang="es-AR"/>
          </a:p>
        </p:txBody>
      </p:sp>
      <p:sp>
        <p:nvSpPr>
          <p:cNvPr id="21" name="Text 19"/>
          <p:cNvSpPr/>
          <p:nvPr/>
        </p:nvSpPr>
        <p:spPr>
          <a:xfrm>
            <a:off x="3383280" y="3730752"/>
            <a:ext cx="2468880" cy="228600"/>
          </a:xfrm>
          <a:prstGeom prst="rect">
            <a:avLst/>
          </a:prstGeom>
          <a:noFill/>
          <a:ln/>
        </p:spPr>
        <p:txBody>
          <a:bodyPr wrap="square" rtlCol="0" anchor="ctr"/>
          <a:lstStyle/>
          <a:p>
            <a:pPr marL="0" indent="0" algn="ctr">
              <a:buNone/>
            </a:pPr>
            <a:r>
              <a:rPr lang="en-US" sz="900" dirty="0">
                <a:solidFill>
                  <a:srgbClr val="F59E0B"/>
                </a:solidFill>
              </a:rPr>
              <a:t>24% del score</a:t>
            </a:r>
            <a:endParaRPr lang="en-US" sz="900" dirty="0"/>
          </a:p>
        </p:txBody>
      </p:sp>
      <p:sp>
        <p:nvSpPr>
          <p:cNvPr id="22" name="Text 20"/>
          <p:cNvSpPr/>
          <p:nvPr/>
        </p:nvSpPr>
        <p:spPr>
          <a:xfrm>
            <a:off x="3401568" y="4005072"/>
            <a:ext cx="2423160" cy="731520"/>
          </a:xfrm>
          <a:prstGeom prst="rect">
            <a:avLst/>
          </a:prstGeom>
          <a:noFill/>
          <a:ln/>
        </p:spPr>
        <p:txBody>
          <a:bodyPr wrap="square" rtlCol="0" anchor="ctr"/>
          <a:lstStyle/>
          <a:p>
            <a:pPr marL="0" indent="0">
              <a:lnSpc>
                <a:spcPct val="130000"/>
              </a:lnSpc>
              <a:buNone/>
            </a:pPr>
            <a:r>
              <a:rPr lang="en-US" sz="950" dirty="0">
                <a:solidFill>
                  <a:srgbClr val="94A3B8"/>
                </a:solidFill>
              </a:rPr>
              <a:t>De 1 a 5 estrellas.</a:t>
            </a:r>
            <a:endParaRPr lang="en-US" sz="950" dirty="0"/>
          </a:p>
          <a:p>
            <a:pPr marL="0" indent="0">
              <a:lnSpc>
                <a:spcPct val="130000"/>
              </a:lnSpc>
              <a:buNone/>
            </a:pPr>
            <a:r>
              <a:rPr lang="en-US" sz="950" dirty="0">
                <a:solidFill>
                  <a:srgbClr val="94A3B8"/>
                </a:solidFill>
              </a:rPr>
              <a:t>Afecta el ranking sin excluir tutores nuevos sin calificaciones aún.</a:t>
            </a:r>
            <a:endParaRPr lang="en-US" sz="950" dirty="0"/>
          </a:p>
        </p:txBody>
      </p:sp>
      <p:sp>
        <p:nvSpPr>
          <p:cNvPr id="23" name="Shape 21"/>
          <p:cNvSpPr/>
          <p:nvPr/>
        </p:nvSpPr>
        <p:spPr>
          <a:xfrm>
            <a:off x="6126480" y="2423160"/>
            <a:ext cx="2651760" cy="2423160"/>
          </a:xfrm>
          <a:prstGeom prst="roundRect">
            <a:avLst>
              <a:gd name="adj" fmla="val 3774"/>
            </a:avLst>
          </a:prstGeom>
          <a:solidFill>
            <a:srgbClr val="1E3A5F"/>
          </a:solidFill>
          <a:ln w="19050">
            <a:solidFill>
              <a:srgbClr val="A78BFA"/>
            </a:solidFill>
            <a:prstDash val="solid"/>
          </a:ln>
          <a:effectLst>
            <a:outerShdw blurRad="101600" dist="38100" dir="2700000" algn="bl" rotWithShape="0">
              <a:srgbClr val="000000">
                <a:alpha val="18000"/>
              </a:srgbClr>
            </a:outerShdw>
          </a:effectLst>
        </p:spPr>
        <p:txBody>
          <a:bodyPr/>
          <a:lstStyle/>
          <a:p>
            <a:endParaRPr lang="es-AR"/>
          </a:p>
        </p:txBody>
      </p:sp>
      <p:sp>
        <p:nvSpPr>
          <p:cNvPr id="24" name="Shape 22"/>
          <p:cNvSpPr/>
          <p:nvPr/>
        </p:nvSpPr>
        <p:spPr>
          <a:xfrm>
            <a:off x="6217920" y="2487168"/>
            <a:ext cx="822960" cy="347472"/>
          </a:xfrm>
          <a:prstGeom prst="roundRect">
            <a:avLst>
              <a:gd name="adj" fmla="val 15789"/>
            </a:avLst>
          </a:prstGeom>
          <a:solidFill>
            <a:srgbClr val="A78BFA"/>
          </a:solidFill>
          <a:ln w="12700">
            <a:solidFill>
              <a:srgbClr val="A78BFA"/>
            </a:solidFill>
            <a:prstDash val="solid"/>
          </a:ln>
        </p:spPr>
        <p:txBody>
          <a:bodyPr/>
          <a:lstStyle/>
          <a:p>
            <a:endParaRPr lang="es-AR"/>
          </a:p>
        </p:txBody>
      </p:sp>
      <p:sp>
        <p:nvSpPr>
          <p:cNvPr id="25" name="Text 23"/>
          <p:cNvSpPr/>
          <p:nvPr/>
        </p:nvSpPr>
        <p:spPr>
          <a:xfrm>
            <a:off x="6217920" y="2487168"/>
            <a:ext cx="822960" cy="347472"/>
          </a:xfrm>
          <a:prstGeom prst="rect">
            <a:avLst/>
          </a:prstGeom>
          <a:noFill/>
          <a:ln/>
        </p:spPr>
        <p:txBody>
          <a:bodyPr wrap="square" lIns="0" tIns="0" rIns="0" bIns="0" rtlCol="0" anchor="ctr"/>
          <a:lstStyle/>
          <a:p>
            <a:pPr marL="0" indent="0" algn="ctr">
              <a:buNone/>
            </a:pPr>
            <a:r>
              <a:rPr lang="en-US" sz="1200" b="1" dirty="0">
                <a:solidFill>
                  <a:srgbClr val="0F172A"/>
                </a:solidFill>
              </a:rPr>
              <a:t>× 2</a:t>
            </a:r>
            <a:endParaRPr lang="en-US" sz="1200" dirty="0"/>
          </a:p>
        </p:txBody>
      </p:sp>
      <p:sp>
        <p:nvSpPr>
          <p:cNvPr id="26" name="Text 24"/>
          <p:cNvSpPr/>
          <p:nvPr/>
        </p:nvSpPr>
        <p:spPr>
          <a:xfrm>
            <a:off x="6217920" y="2898648"/>
            <a:ext cx="2468880" cy="566928"/>
          </a:xfrm>
          <a:prstGeom prst="rect">
            <a:avLst/>
          </a:prstGeom>
          <a:noFill/>
          <a:ln/>
        </p:spPr>
        <p:txBody>
          <a:bodyPr wrap="square" rtlCol="0" anchor="ctr"/>
          <a:lstStyle/>
          <a:p>
            <a:pPr marL="0" indent="0">
              <a:lnSpc>
                <a:spcPct val="125000"/>
              </a:lnSpc>
              <a:buNone/>
            </a:pPr>
            <a:r>
              <a:rPr lang="en-US" sz="1300" b="1" dirty="0">
                <a:solidFill>
                  <a:srgbClr val="FFFFFF"/>
                </a:solidFill>
              </a:rPr>
              <a:t>Horarios</a:t>
            </a:r>
            <a:endParaRPr lang="en-US" sz="1300" dirty="0"/>
          </a:p>
          <a:p>
            <a:pPr marL="0" indent="0">
              <a:lnSpc>
                <a:spcPct val="125000"/>
              </a:lnSpc>
              <a:buNone/>
            </a:pPr>
            <a:r>
              <a:rPr lang="en-US" sz="1300" b="1" dirty="0">
                <a:solidFill>
                  <a:srgbClr val="FFFFFF"/>
                </a:solidFill>
              </a:rPr>
              <a:t>Disponibles</a:t>
            </a:r>
            <a:endParaRPr lang="en-US" sz="1300" dirty="0"/>
          </a:p>
        </p:txBody>
      </p:sp>
      <p:sp>
        <p:nvSpPr>
          <p:cNvPr id="27" name="Shape 25"/>
          <p:cNvSpPr/>
          <p:nvPr/>
        </p:nvSpPr>
        <p:spPr>
          <a:xfrm>
            <a:off x="6309360" y="3520440"/>
            <a:ext cx="2286000" cy="164592"/>
          </a:xfrm>
          <a:prstGeom prst="rect">
            <a:avLst/>
          </a:prstGeom>
          <a:solidFill>
            <a:srgbClr val="1E293B"/>
          </a:solidFill>
          <a:ln w="12700">
            <a:solidFill>
              <a:srgbClr val="1E293B"/>
            </a:solidFill>
            <a:prstDash val="solid"/>
          </a:ln>
        </p:spPr>
        <p:txBody>
          <a:bodyPr/>
          <a:lstStyle/>
          <a:p>
            <a:endParaRPr lang="es-AR"/>
          </a:p>
        </p:txBody>
      </p:sp>
      <p:sp>
        <p:nvSpPr>
          <p:cNvPr id="28" name="Shape 26"/>
          <p:cNvSpPr/>
          <p:nvPr/>
        </p:nvSpPr>
        <p:spPr>
          <a:xfrm>
            <a:off x="6309360" y="3520440"/>
            <a:ext cx="114300" cy="164592"/>
          </a:xfrm>
          <a:prstGeom prst="rect">
            <a:avLst/>
          </a:prstGeom>
          <a:solidFill>
            <a:srgbClr val="A78BFA"/>
          </a:solidFill>
          <a:ln w="12700">
            <a:solidFill>
              <a:srgbClr val="A78BFA"/>
            </a:solidFill>
            <a:prstDash val="solid"/>
          </a:ln>
        </p:spPr>
        <p:txBody>
          <a:bodyPr/>
          <a:lstStyle/>
          <a:p>
            <a:endParaRPr lang="es-AR"/>
          </a:p>
        </p:txBody>
      </p:sp>
      <p:sp>
        <p:nvSpPr>
          <p:cNvPr id="29" name="Text 27"/>
          <p:cNvSpPr/>
          <p:nvPr/>
        </p:nvSpPr>
        <p:spPr>
          <a:xfrm>
            <a:off x="6217920" y="3730752"/>
            <a:ext cx="2468880" cy="228600"/>
          </a:xfrm>
          <a:prstGeom prst="rect">
            <a:avLst/>
          </a:prstGeom>
          <a:noFill/>
          <a:ln/>
        </p:spPr>
        <p:txBody>
          <a:bodyPr wrap="square" rtlCol="0" anchor="ctr"/>
          <a:lstStyle/>
          <a:p>
            <a:pPr marL="0" indent="0" algn="ctr">
              <a:buNone/>
            </a:pPr>
            <a:r>
              <a:rPr lang="en-US" sz="900" dirty="0">
                <a:solidFill>
                  <a:srgbClr val="A78BFA"/>
                </a:solidFill>
              </a:rPr>
              <a:t>5% del score</a:t>
            </a:r>
            <a:endParaRPr lang="en-US" sz="900" dirty="0"/>
          </a:p>
        </p:txBody>
      </p:sp>
      <p:sp>
        <p:nvSpPr>
          <p:cNvPr id="30" name="Text 28"/>
          <p:cNvSpPr/>
          <p:nvPr/>
        </p:nvSpPr>
        <p:spPr>
          <a:xfrm>
            <a:off x="6236208" y="4005072"/>
            <a:ext cx="2423160" cy="731520"/>
          </a:xfrm>
          <a:prstGeom prst="rect">
            <a:avLst/>
          </a:prstGeom>
          <a:noFill/>
          <a:ln/>
        </p:spPr>
        <p:txBody>
          <a:bodyPr wrap="square" rtlCol="0" anchor="ctr"/>
          <a:lstStyle/>
          <a:p>
            <a:pPr marL="0" indent="0">
              <a:lnSpc>
                <a:spcPct val="130000"/>
              </a:lnSpc>
              <a:buNone/>
            </a:pPr>
            <a:r>
              <a:rPr lang="en-US" sz="950" dirty="0">
                <a:solidFill>
                  <a:srgbClr val="94A3B8"/>
                </a:solidFill>
              </a:rPr>
              <a:t>Tutores con más slots libres tienen una pequeña ventaja sobre los que tienen agenda completa.</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274320"/>
            <a:ext cx="1371600" cy="301752"/>
          </a:xfrm>
          <a:prstGeom prst="roundRect">
            <a:avLst>
              <a:gd name="adj" fmla="val 18182"/>
            </a:avLst>
          </a:prstGeom>
          <a:solidFill>
            <a:srgbClr val="0D9488"/>
          </a:solidFill>
          <a:ln w="12700">
            <a:solidFill>
              <a:srgbClr val="0D9488"/>
            </a:solidFill>
            <a:prstDash val="solid"/>
          </a:ln>
        </p:spPr>
        <p:txBody>
          <a:bodyPr/>
          <a:lstStyle/>
          <a:p>
            <a:endParaRPr lang="es-AR"/>
          </a:p>
        </p:txBody>
      </p:sp>
      <p:sp>
        <p:nvSpPr>
          <p:cNvPr id="3" name="Text 1"/>
          <p:cNvSpPr/>
          <p:nvPr/>
        </p:nvSpPr>
        <p:spPr>
          <a:xfrm>
            <a:off x="457200" y="274320"/>
            <a:ext cx="1371600" cy="301752"/>
          </a:xfrm>
          <a:prstGeom prst="rect">
            <a:avLst/>
          </a:prstGeom>
          <a:noFill/>
          <a:ln/>
        </p:spPr>
        <p:txBody>
          <a:bodyPr wrap="square" lIns="0" tIns="0" rIns="0" bIns="0" rtlCol="0" anchor="ctr"/>
          <a:lstStyle/>
          <a:p>
            <a:pPr marL="0" indent="0" algn="ctr">
              <a:buNone/>
            </a:pPr>
            <a:r>
              <a:rPr lang="en-US" sz="900" b="1" dirty="0">
                <a:solidFill>
                  <a:srgbClr val="FFFFFF"/>
                </a:solidFill>
              </a:rPr>
              <a:t>12 · FLUJO MVC</a:t>
            </a:r>
            <a:endParaRPr lang="en-US" sz="900" dirty="0"/>
          </a:p>
        </p:txBody>
      </p:sp>
      <p:sp>
        <p:nvSpPr>
          <p:cNvPr id="4" name="Text 2"/>
          <p:cNvSpPr/>
          <p:nvPr/>
        </p:nvSpPr>
        <p:spPr>
          <a:xfrm>
            <a:off x="457200" y="685800"/>
            <a:ext cx="8229600" cy="502920"/>
          </a:xfrm>
          <a:prstGeom prst="rect">
            <a:avLst/>
          </a:prstGeom>
          <a:noFill/>
          <a:ln/>
        </p:spPr>
        <p:txBody>
          <a:bodyPr wrap="square" rtlCol="0" anchor="ctr"/>
          <a:lstStyle/>
          <a:p>
            <a:pPr marL="0" indent="0">
              <a:buNone/>
            </a:pPr>
            <a:r>
              <a:rPr lang="en-US" sz="2400" b="1" dirty="0">
                <a:solidFill>
                  <a:srgbClr val="0F172A"/>
                </a:solidFill>
              </a:rPr>
              <a:t>Una request, cero magia.</a:t>
            </a:r>
            <a:endParaRPr lang="en-US" sz="2400" dirty="0"/>
          </a:p>
        </p:txBody>
      </p:sp>
      <p:sp>
        <p:nvSpPr>
          <p:cNvPr id="5" name="Shape 3"/>
          <p:cNvSpPr/>
          <p:nvPr/>
        </p:nvSpPr>
        <p:spPr>
          <a:xfrm>
            <a:off x="411480" y="1325880"/>
            <a:ext cx="1554480" cy="3108958"/>
          </a:xfrm>
          <a:prstGeom prst="roundRect">
            <a:avLst>
              <a:gd name="adj" fmla="val 5882"/>
            </a:avLst>
          </a:prstGeom>
          <a:solidFill>
            <a:srgbClr val="F0F9FF"/>
          </a:solidFill>
          <a:ln w="19050">
            <a:solidFill>
              <a:srgbClr val="BAE6FD"/>
            </a:solidFill>
            <a:prstDash val="solid"/>
          </a:ln>
          <a:effectLst>
            <a:outerShdw blurRad="101600" dist="38100" dir="2700000" algn="bl" rotWithShape="0">
              <a:srgbClr val="000000">
                <a:alpha val="18000"/>
              </a:srgbClr>
            </a:outerShdw>
          </a:effectLst>
        </p:spPr>
        <p:txBody>
          <a:bodyPr/>
          <a:lstStyle/>
          <a:p>
            <a:endParaRPr lang="es-AR"/>
          </a:p>
        </p:txBody>
      </p:sp>
      <p:sp>
        <p:nvSpPr>
          <p:cNvPr id="6" name="Shape 4"/>
          <p:cNvSpPr/>
          <p:nvPr/>
        </p:nvSpPr>
        <p:spPr>
          <a:xfrm>
            <a:off x="411480" y="1325880"/>
            <a:ext cx="1554480" cy="475488"/>
          </a:xfrm>
          <a:prstGeom prst="roundRect">
            <a:avLst>
              <a:gd name="adj" fmla="val 19231"/>
            </a:avLst>
          </a:prstGeom>
          <a:solidFill>
            <a:srgbClr val="BAE6FD"/>
          </a:solidFill>
          <a:ln w="12700">
            <a:solidFill>
              <a:srgbClr val="BAE6FD"/>
            </a:solidFill>
            <a:prstDash val="solid"/>
          </a:ln>
        </p:spPr>
        <p:txBody>
          <a:bodyPr/>
          <a:lstStyle/>
          <a:p>
            <a:endParaRPr lang="es-AR"/>
          </a:p>
        </p:txBody>
      </p:sp>
      <p:sp>
        <p:nvSpPr>
          <p:cNvPr id="7" name="Text 5"/>
          <p:cNvSpPr/>
          <p:nvPr/>
        </p:nvSpPr>
        <p:spPr>
          <a:xfrm>
            <a:off x="457200" y="1325880"/>
            <a:ext cx="1463040" cy="475488"/>
          </a:xfrm>
          <a:prstGeom prst="rect">
            <a:avLst/>
          </a:prstGeom>
          <a:noFill/>
          <a:ln/>
        </p:spPr>
        <p:txBody>
          <a:bodyPr wrap="square" rtlCol="0" anchor="ctr"/>
          <a:lstStyle/>
          <a:p>
            <a:pPr marL="0" indent="0" algn="ctr">
              <a:lnSpc>
                <a:spcPct val="110000"/>
              </a:lnSpc>
              <a:buNone/>
            </a:pPr>
            <a:r>
              <a:rPr lang="en-US" sz="900" b="1" dirty="0">
                <a:solidFill>
                  <a:srgbClr val="475569"/>
                </a:solidFill>
              </a:rPr>
              <a:t>CLIENTE</a:t>
            </a:r>
            <a:endParaRPr lang="en-US" sz="900" dirty="0"/>
          </a:p>
        </p:txBody>
      </p:sp>
      <p:sp>
        <p:nvSpPr>
          <p:cNvPr id="8" name="Text 6"/>
          <p:cNvSpPr/>
          <p:nvPr/>
        </p:nvSpPr>
        <p:spPr>
          <a:xfrm>
            <a:off x="484632" y="1901952"/>
            <a:ext cx="1417320" cy="457200"/>
          </a:xfrm>
          <a:prstGeom prst="rect">
            <a:avLst/>
          </a:prstGeom>
          <a:noFill/>
          <a:ln/>
        </p:spPr>
        <p:txBody>
          <a:bodyPr wrap="square" rtlCol="0" anchor="ctr"/>
          <a:lstStyle/>
          <a:p>
            <a:pPr marL="0" indent="0" algn="ctr">
              <a:lnSpc>
                <a:spcPct val="120000"/>
              </a:lnSpc>
              <a:buNone/>
            </a:pPr>
            <a:r>
              <a:rPr lang="en-US" sz="900" dirty="0">
                <a:solidFill>
                  <a:srgbClr val="475569"/>
                </a:solidFill>
              </a:rPr>
              <a:t>Navegador</a:t>
            </a:r>
            <a:endParaRPr lang="en-US" sz="900" dirty="0"/>
          </a:p>
        </p:txBody>
      </p:sp>
      <p:sp>
        <p:nvSpPr>
          <p:cNvPr id="9" name="Text 7"/>
          <p:cNvSpPr/>
          <p:nvPr/>
        </p:nvSpPr>
        <p:spPr>
          <a:xfrm>
            <a:off x="484632" y="2404872"/>
            <a:ext cx="1417320" cy="457200"/>
          </a:xfrm>
          <a:prstGeom prst="rect">
            <a:avLst/>
          </a:prstGeom>
          <a:noFill/>
          <a:ln/>
        </p:spPr>
        <p:txBody>
          <a:bodyPr wrap="square" rtlCol="0" anchor="ctr"/>
          <a:lstStyle/>
          <a:p>
            <a:pPr marL="0" indent="0" algn="ctr">
              <a:lnSpc>
                <a:spcPct val="120000"/>
              </a:lnSpc>
              <a:buNone/>
            </a:pPr>
            <a:r>
              <a:rPr lang="en-US" sz="900" dirty="0">
                <a:solidFill>
                  <a:srgbClr val="475569"/>
                </a:solidFill>
              </a:rPr>
              <a:t>GET ?p=alumno_buscar</a:t>
            </a:r>
            <a:endParaRPr lang="en-US" sz="900" dirty="0"/>
          </a:p>
        </p:txBody>
      </p:sp>
      <p:sp>
        <p:nvSpPr>
          <p:cNvPr id="10" name="Text 8"/>
          <p:cNvSpPr/>
          <p:nvPr/>
        </p:nvSpPr>
        <p:spPr>
          <a:xfrm>
            <a:off x="484632" y="2907792"/>
            <a:ext cx="1417320" cy="457200"/>
          </a:xfrm>
          <a:prstGeom prst="rect">
            <a:avLst/>
          </a:prstGeom>
          <a:noFill/>
          <a:ln/>
        </p:spPr>
        <p:txBody>
          <a:bodyPr wrap="square" rtlCol="0" anchor="ctr"/>
          <a:lstStyle/>
          <a:p>
            <a:pPr marL="0" indent="0" algn="ctr">
              <a:lnSpc>
                <a:spcPct val="120000"/>
              </a:lnSpc>
              <a:buNone/>
            </a:pPr>
            <a:r>
              <a:rPr lang="en-US" sz="900" dirty="0">
                <a:solidFill>
                  <a:srgbClr val="475569"/>
                </a:solidFill>
              </a:rPr>
              <a:t>Formulario POST</a:t>
            </a:r>
            <a:endParaRPr lang="en-US" sz="900" dirty="0"/>
          </a:p>
        </p:txBody>
      </p:sp>
      <p:sp>
        <p:nvSpPr>
          <p:cNvPr id="11" name="Text 9"/>
          <p:cNvSpPr/>
          <p:nvPr/>
        </p:nvSpPr>
        <p:spPr>
          <a:xfrm>
            <a:off x="1965960" y="2377440"/>
            <a:ext cx="137160" cy="502920"/>
          </a:xfrm>
          <a:prstGeom prst="rect">
            <a:avLst/>
          </a:prstGeom>
          <a:noFill/>
          <a:ln/>
        </p:spPr>
        <p:txBody>
          <a:bodyPr wrap="square" rtlCol="0" anchor="ctr"/>
          <a:lstStyle/>
          <a:p>
            <a:pPr marL="0" indent="0" algn="ctr">
              <a:buNone/>
            </a:pPr>
            <a:r>
              <a:rPr lang="en-US" sz="1400" dirty="0">
                <a:solidFill>
                  <a:srgbClr val="0D9488"/>
                </a:solidFill>
              </a:rPr>
              <a:t>→</a:t>
            </a:r>
            <a:endParaRPr lang="en-US" sz="1400" dirty="0"/>
          </a:p>
        </p:txBody>
      </p:sp>
      <p:sp>
        <p:nvSpPr>
          <p:cNvPr id="12" name="Shape 10"/>
          <p:cNvSpPr/>
          <p:nvPr/>
        </p:nvSpPr>
        <p:spPr>
          <a:xfrm>
            <a:off x="2103120" y="1325880"/>
            <a:ext cx="1554480" cy="3108958"/>
          </a:xfrm>
          <a:prstGeom prst="roundRect">
            <a:avLst>
              <a:gd name="adj" fmla="val 5882"/>
            </a:avLst>
          </a:prstGeom>
          <a:solidFill>
            <a:srgbClr val="EEF2FF"/>
          </a:solidFill>
          <a:ln w="19050">
            <a:solidFill>
              <a:srgbClr val="A5B4FC"/>
            </a:solidFill>
            <a:prstDash val="solid"/>
          </a:ln>
          <a:effectLst>
            <a:outerShdw blurRad="101600" dist="38100" dir="2700000" algn="bl" rotWithShape="0">
              <a:srgbClr val="000000">
                <a:alpha val="18000"/>
              </a:srgbClr>
            </a:outerShdw>
          </a:effectLst>
        </p:spPr>
        <p:txBody>
          <a:bodyPr/>
          <a:lstStyle/>
          <a:p>
            <a:endParaRPr lang="es-AR"/>
          </a:p>
        </p:txBody>
      </p:sp>
      <p:sp>
        <p:nvSpPr>
          <p:cNvPr id="13" name="Shape 11"/>
          <p:cNvSpPr/>
          <p:nvPr/>
        </p:nvSpPr>
        <p:spPr>
          <a:xfrm>
            <a:off x="2103120" y="1325880"/>
            <a:ext cx="1554480" cy="475488"/>
          </a:xfrm>
          <a:prstGeom prst="roundRect">
            <a:avLst>
              <a:gd name="adj" fmla="val 19231"/>
            </a:avLst>
          </a:prstGeom>
          <a:solidFill>
            <a:srgbClr val="A5B4FC"/>
          </a:solidFill>
          <a:ln w="12700">
            <a:solidFill>
              <a:srgbClr val="A5B4FC"/>
            </a:solidFill>
            <a:prstDash val="solid"/>
          </a:ln>
        </p:spPr>
        <p:txBody>
          <a:bodyPr/>
          <a:lstStyle/>
          <a:p>
            <a:endParaRPr lang="es-AR"/>
          </a:p>
        </p:txBody>
      </p:sp>
      <p:sp>
        <p:nvSpPr>
          <p:cNvPr id="14" name="Text 12"/>
          <p:cNvSpPr/>
          <p:nvPr/>
        </p:nvSpPr>
        <p:spPr>
          <a:xfrm>
            <a:off x="2148840" y="1325880"/>
            <a:ext cx="1463040" cy="475488"/>
          </a:xfrm>
          <a:prstGeom prst="rect">
            <a:avLst/>
          </a:prstGeom>
          <a:noFill/>
          <a:ln/>
        </p:spPr>
        <p:txBody>
          <a:bodyPr wrap="square" rtlCol="0" anchor="ctr"/>
          <a:lstStyle/>
          <a:p>
            <a:pPr marL="0" indent="0" algn="ctr">
              <a:lnSpc>
                <a:spcPct val="110000"/>
              </a:lnSpc>
              <a:buNone/>
            </a:pPr>
            <a:r>
              <a:rPr lang="en-US" sz="900" b="1" dirty="0">
                <a:solidFill>
                  <a:srgbClr val="3730A3"/>
                </a:solidFill>
              </a:rPr>
              <a:t>INDEX.PHP</a:t>
            </a:r>
            <a:endParaRPr lang="en-US" sz="900" dirty="0"/>
          </a:p>
          <a:p>
            <a:pPr marL="0" indent="0" algn="ctr">
              <a:lnSpc>
                <a:spcPct val="110000"/>
              </a:lnSpc>
              <a:buNone/>
            </a:pPr>
            <a:r>
              <a:rPr lang="en-US" sz="900" b="1" dirty="0">
                <a:solidFill>
                  <a:srgbClr val="3730A3"/>
                </a:solidFill>
              </a:rPr>
              <a:t>ROUTER</a:t>
            </a:r>
            <a:endParaRPr lang="en-US" sz="900" dirty="0"/>
          </a:p>
        </p:txBody>
      </p:sp>
      <p:sp>
        <p:nvSpPr>
          <p:cNvPr id="15" name="Text 13"/>
          <p:cNvSpPr/>
          <p:nvPr/>
        </p:nvSpPr>
        <p:spPr>
          <a:xfrm>
            <a:off x="2176272" y="1901952"/>
            <a:ext cx="1417320" cy="457200"/>
          </a:xfrm>
          <a:prstGeom prst="rect">
            <a:avLst/>
          </a:prstGeom>
          <a:noFill/>
          <a:ln/>
        </p:spPr>
        <p:txBody>
          <a:bodyPr wrap="square" rtlCol="0" anchor="ctr"/>
          <a:lstStyle/>
          <a:p>
            <a:pPr marL="0" indent="0" algn="ctr">
              <a:lnSpc>
                <a:spcPct val="120000"/>
              </a:lnSpc>
              <a:buNone/>
            </a:pPr>
            <a:r>
              <a:rPr lang="en-US" sz="900" dirty="0">
                <a:solidFill>
                  <a:srgbClr val="3730A3"/>
                </a:solidFill>
              </a:rPr>
              <a:t>match($p)</a:t>
            </a:r>
            <a:endParaRPr lang="en-US" sz="900" dirty="0"/>
          </a:p>
        </p:txBody>
      </p:sp>
      <p:sp>
        <p:nvSpPr>
          <p:cNvPr id="16" name="Text 14"/>
          <p:cNvSpPr/>
          <p:nvPr/>
        </p:nvSpPr>
        <p:spPr>
          <a:xfrm>
            <a:off x="2176272" y="2404872"/>
            <a:ext cx="1417320" cy="457200"/>
          </a:xfrm>
          <a:prstGeom prst="rect">
            <a:avLst/>
          </a:prstGeom>
          <a:noFill/>
          <a:ln/>
        </p:spPr>
        <p:txBody>
          <a:bodyPr wrap="square" rtlCol="0" anchor="ctr"/>
          <a:lstStyle/>
          <a:p>
            <a:pPr marL="0" indent="0" algn="ctr">
              <a:lnSpc>
                <a:spcPct val="120000"/>
              </a:lnSpc>
              <a:buNone/>
            </a:pPr>
            <a:r>
              <a:rPr lang="en-US" sz="900" dirty="0">
                <a:solidFill>
                  <a:srgbClr val="3730A3"/>
                </a:solidFill>
              </a:rPr>
              <a:t>→ new AlumnoController()</a:t>
            </a:r>
            <a:endParaRPr lang="en-US" sz="900" dirty="0"/>
          </a:p>
        </p:txBody>
      </p:sp>
      <p:sp>
        <p:nvSpPr>
          <p:cNvPr id="17" name="Text 15"/>
          <p:cNvSpPr/>
          <p:nvPr/>
        </p:nvSpPr>
        <p:spPr>
          <a:xfrm>
            <a:off x="2176272" y="2907792"/>
            <a:ext cx="1417320" cy="457200"/>
          </a:xfrm>
          <a:prstGeom prst="rect">
            <a:avLst/>
          </a:prstGeom>
          <a:noFill/>
          <a:ln/>
        </p:spPr>
        <p:txBody>
          <a:bodyPr wrap="square" rtlCol="0" anchor="ctr"/>
          <a:lstStyle/>
          <a:p>
            <a:pPr marL="0" indent="0" algn="ctr">
              <a:lnSpc>
                <a:spcPct val="120000"/>
              </a:lnSpc>
              <a:buNone/>
            </a:pPr>
            <a:r>
              <a:rPr lang="en-US" sz="900" dirty="0">
                <a:solidFill>
                  <a:srgbClr val="3730A3"/>
                </a:solidFill>
              </a:rPr>
              <a:t>→ buscar()</a:t>
            </a:r>
            <a:endParaRPr lang="en-US" sz="900" dirty="0"/>
          </a:p>
        </p:txBody>
      </p:sp>
      <p:sp>
        <p:nvSpPr>
          <p:cNvPr id="18" name="Text 16"/>
          <p:cNvSpPr/>
          <p:nvPr/>
        </p:nvSpPr>
        <p:spPr>
          <a:xfrm>
            <a:off x="3657600" y="2377440"/>
            <a:ext cx="137160" cy="502920"/>
          </a:xfrm>
          <a:prstGeom prst="rect">
            <a:avLst/>
          </a:prstGeom>
          <a:noFill/>
          <a:ln/>
        </p:spPr>
        <p:txBody>
          <a:bodyPr wrap="square" rtlCol="0" anchor="ctr"/>
          <a:lstStyle/>
          <a:p>
            <a:pPr marL="0" indent="0" algn="ctr">
              <a:buNone/>
            </a:pPr>
            <a:r>
              <a:rPr lang="en-US" sz="1400" dirty="0">
                <a:solidFill>
                  <a:srgbClr val="0D9488"/>
                </a:solidFill>
              </a:rPr>
              <a:t>→</a:t>
            </a:r>
            <a:endParaRPr lang="en-US" sz="1400" dirty="0"/>
          </a:p>
        </p:txBody>
      </p:sp>
      <p:sp>
        <p:nvSpPr>
          <p:cNvPr id="19" name="Shape 17"/>
          <p:cNvSpPr/>
          <p:nvPr/>
        </p:nvSpPr>
        <p:spPr>
          <a:xfrm>
            <a:off x="3794760" y="1325880"/>
            <a:ext cx="1554480" cy="3108958"/>
          </a:xfrm>
          <a:prstGeom prst="roundRect">
            <a:avLst>
              <a:gd name="adj" fmla="val 5882"/>
            </a:avLst>
          </a:prstGeom>
          <a:solidFill>
            <a:srgbClr val="ECFDF5"/>
          </a:solidFill>
          <a:ln w="19050">
            <a:solidFill>
              <a:srgbClr val="6EE7B7"/>
            </a:solidFill>
            <a:prstDash val="solid"/>
          </a:ln>
          <a:effectLst>
            <a:outerShdw blurRad="101600" dist="38100" dir="2700000" algn="bl" rotWithShape="0">
              <a:srgbClr val="000000">
                <a:alpha val="18000"/>
              </a:srgbClr>
            </a:outerShdw>
          </a:effectLst>
        </p:spPr>
        <p:txBody>
          <a:bodyPr/>
          <a:lstStyle/>
          <a:p>
            <a:endParaRPr lang="es-AR"/>
          </a:p>
        </p:txBody>
      </p:sp>
      <p:sp>
        <p:nvSpPr>
          <p:cNvPr id="20" name="Shape 18"/>
          <p:cNvSpPr/>
          <p:nvPr/>
        </p:nvSpPr>
        <p:spPr>
          <a:xfrm>
            <a:off x="3794760" y="1325880"/>
            <a:ext cx="1554480" cy="475488"/>
          </a:xfrm>
          <a:prstGeom prst="roundRect">
            <a:avLst>
              <a:gd name="adj" fmla="val 19231"/>
            </a:avLst>
          </a:prstGeom>
          <a:solidFill>
            <a:srgbClr val="6EE7B7"/>
          </a:solidFill>
          <a:ln w="12700">
            <a:solidFill>
              <a:srgbClr val="6EE7B7"/>
            </a:solidFill>
            <a:prstDash val="solid"/>
          </a:ln>
        </p:spPr>
        <p:txBody>
          <a:bodyPr/>
          <a:lstStyle/>
          <a:p>
            <a:endParaRPr lang="es-AR"/>
          </a:p>
        </p:txBody>
      </p:sp>
      <p:sp>
        <p:nvSpPr>
          <p:cNvPr id="21" name="Text 19"/>
          <p:cNvSpPr/>
          <p:nvPr/>
        </p:nvSpPr>
        <p:spPr>
          <a:xfrm>
            <a:off x="3840480" y="1325880"/>
            <a:ext cx="1463040" cy="475488"/>
          </a:xfrm>
          <a:prstGeom prst="rect">
            <a:avLst/>
          </a:prstGeom>
          <a:noFill/>
          <a:ln/>
        </p:spPr>
        <p:txBody>
          <a:bodyPr wrap="square" rtlCol="0" anchor="ctr"/>
          <a:lstStyle/>
          <a:p>
            <a:pPr marL="0" indent="0" algn="ctr">
              <a:lnSpc>
                <a:spcPct val="110000"/>
              </a:lnSpc>
              <a:buNone/>
            </a:pPr>
            <a:r>
              <a:rPr lang="en-US" sz="900" b="1" dirty="0">
                <a:solidFill>
                  <a:srgbClr val="065F46"/>
                </a:solidFill>
              </a:rPr>
              <a:t>CONTROLLER</a:t>
            </a:r>
            <a:endParaRPr lang="en-US" sz="900" dirty="0"/>
          </a:p>
        </p:txBody>
      </p:sp>
      <p:sp>
        <p:nvSpPr>
          <p:cNvPr id="22" name="Text 20"/>
          <p:cNvSpPr/>
          <p:nvPr/>
        </p:nvSpPr>
        <p:spPr>
          <a:xfrm>
            <a:off x="3867912" y="1901952"/>
            <a:ext cx="1417320" cy="457200"/>
          </a:xfrm>
          <a:prstGeom prst="rect">
            <a:avLst/>
          </a:prstGeom>
          <a:noFill/>
          <a:ln/>
        </p:spPr>
        <p:txBody>
          <a:bodyPr wrap="square" rtlCol="0" anchor="ctr"/>
          <a:lstStyle/>
          <a:p>
            <a:pPr marL="0" indent="0" algn="ctr">
              <a:lnSpc>
                <a:spcPct val="120000"/>
              </a:lnSpc>
              <a:buNone/>
            </a:pPr>
            <a:r>
              <a:rPr lang="en-US" sz="900" dirty="0">
                <a:solidFill>
                  <a:srgbClr val="065F46"/>
                </a:solidFill>
              </a:rPr>
              <a:t>Session::requireRol()</a:t>
            </a:r>
            <a:endParaRPr lang="en-US" sz="900" dirty="0"/>
          </a:p>
        </p:txBody>
      </p:sp>
      <p:sp>
        <p:nvSpPr>
          <p:cNvPr id="23" name="Text 21"/>
          <p:cNvSpPr/>
          <p:nvPr/>
        </p:nvSpPr>
        <p:spPr>
          <a:xfrm>
            <a:off x="3867912" y="2404872"/>
            <a:ext cx="1417320" cy="457200"/>
          </a:xfrm>
          <a:prstGeom prst="rect">
            <a:avLst/>
          </a:prstGeom>
          <a:noFill/>
          <a:ln/>
        </p:spPr>
        <p:txBody>
          <a:bodyPr wrap="square" rtlCol="0" anchor="ctr"/>
          <a:lstStyle/>
          <a:p>
            <a:pPr marL="0" indent="0" algn="ctr">
              <a:lnSpc>
                <a:spcPct val="120000"/>
              </a:lnSpc>
              <a:buNone/>
            </a:pPr>
            <a:r>
              <a:rPr lang="en-US" sz="900" dirty="0">
                <a:solidFill>
                  <a:srgbClr val="065F46"/>
                </a:solidFill>
              </a:rPr>
              <a:t>Instancia Model</a:t>
            </a:r>
            <a:endParaRPr lang="en-US" sz="900" dirty="0"/>
          </a:p>
        </p:txBody>
      </p:sp>
      <p:sp>
        <p:nvSpPr>
          <p:cNvPr id="24" name="Text 22"/>
          <p:cNvSpPr/>
          <p:nvPr/>
        </p:nvSpPr>
        <p:spPr>
          <a:xfrm>
            <a:off x="3867912" y="2907792"/>
            <a:ext cx="1417320" cy="457200"/>
          </a:xfrm>
          <a:prstGeom prst="rect">
            <a:avLst/>
          </a:prstGeom>
          <a:noFill/>
          <a:ln/>
        </p:spPr>
        <p:txBody>
          <a:bodyPr wrap="square" rtlCol="0" anchor="ctr"/>
          <a:lstStyle/>
          <a:p>
            <a:pPr marL="0" indent="0" algn="ctr">
              <a:lnSpc>
                <a:spcPct val="120000"/>
              </a:lnSpc>
              <a:buNone/>
            </a:pPr>
            <a:r>
              <a:rPr lang="en-US" sz="900" dirty="0">
                <a:solidFill>
                  <a:srgbClr val="065F46"/>
                </a:solidFill>
              </a:rPr>
              <a:t>renderizar(vista, datos)</a:t>
            </a:r>
            <a:endParaRPr lang="en-US" sz="900" dirty="0"/>
          </a:p>
        </p:txBody>
      </p:sp>
      <p:sp>
        <p:nvSpPr>
          <p:cNvPr id="25" name="Text 23"/>
          <p:cNvSpPr/>
          <p:nvPr/>
        </p:nvSpPr>
        <p:spPr>
          <a:xfrm>
            <a:off x="5349240" y="2377440"/>
            <a:ext cx="137160" cy="502920"/>
          </a:xfrm>
          <a:prstGeom prst="rect">
            <a:avLst/>
          </a:prstGeom>
          <a:noFill/>
          <a:ln/>
        </p:spPr>
        <p:txBody>
          <a:bodyPr wrap="square" rtlCol="0" anchor="ctr"/>
          <a:lstStyle/>
          <a:p>
            <a:pPr marL="0" indent="0" algn="ctr">
              <a:buNone/>
            </a:pPr>
            <a:r>
              <a:rPr lang="en-US" sz="1400" dirty="0">
                <a:solidFill>
                  <a:srgbClr val="0D9488"/>
                </a:solidFill>
              </a:rPr>
              <a:t>→</a:t>
            </a:r>
            <a:endParaRPr lang="en-US" sz="1400" dirty="0"/>
          </a:p>
        </p:txBody>
      </p:sp>
      <p:sp>
        <p:nvSpPr>
          <p:cNvPr id="26" name="Shape 24"/>
          <p:cNvSpPr/>
          <p:nvPr/>
        </p:nvSpPr>
        <p:spPr>
          <a:xfrm>
            <a:off x="5486400" y="1325880"/>
            <a:ext cx="1554480" cy="3108958"/>
          </a:xfrm>
          <a:prstGeom prst="roundRect">
            <a:avLst>
              <a:gd name="adj" fmla="val 5882"/>
            </a:avLst>
          </a:prstGeom>
          <a:solidFill>
            <a:srgbClr val="FFFBEB"/>
          </a:solidFill>
          <a:ln w="19050">
            <a:solidFill>
              <a:srgbClr val="FCD34D"/>
            </a:solidFill>
            <a:prstDash val="solid"/>
          </a:ln>
          <a:effectLst>
            <a:outerShdw blurRad="101600" dist="38100" dir="2700000" algn="bl" rotWithShape="0">
              <a:srgbClr val="000000">
                <a:alpha val="18000"/>
              </a:srgbClr>
            </a:outerShdw>
          </a:effectLst>
        </p:spPr>
        <p:txBody>
          <a:bodyPr/>
          <a:lstStyle/>
          <a:p>
            <a:endParaRPr lang="es-AR"/>
          </a:p>
        </p:txBody>
      </p:sp>
      <p:sp>
        <p:nvSpPr>
          <p:cNvPr id="27" name="Shape 25"/>
          <p:cNvSpPr/>
          <p:nvPr/>
        </p:nvSpPr>
        <p:spPr>
          <a:xfrm>
            <a:off x="5486400" y="1325880"/>
            <a:ext cx="1554480" cy="475488"/>
          </a:xfrm>
          <a:prstGeom prst="roundRect">
            <a:avLst>
              <a:gd name="adj" fmla="val 19231"/>
            </a:avLst>
          </a:prstGeom>
          <a:solidFill>
            <a:srgbClr val="FCD34D"/>
          </a:solidFill>
          <a:ln w="12700">
            <a:solidFill>
              <a:srgbClr val="FCD34D"/>
            </a:solidFill>
            <a:prstDash val="solid"/>
          </a:ln>
        </p:spPr>
        <p:txBody>
          <a:bodyPr/>
          <a:lstStyle/>
          <a:p>
            <a:endParaRPr lang="es-AR"/>
          </a:p>
        </p:txBody>
      </p:sp>
      <p:sp>
        <p:nvSpPr>
          <p:cNvPr id="28" name="Text 26"/>
          <p:cNvSpPr/>
          <p:nvPr/>
        </p:nvSpPr>
        <p:spPr>
          <a:xfrm>
            <a:off x="5532120" y="1325880"/>
            <a:ext cx="1463040" cy="475488"/>
          </a:xfrm>
          <a:prstGeom prst="rect">
            <a:avLst/>
          </a:prstGeom>
          <a:noFill/>
          <a:ln/>
        </p:spPr>
        <p:txBody>
          <a:bodyPr wrap="square" rtlCol="0" anchor="ctr"/>
          <a:lstStyle/>
          <a:p>
            <a:pPr marL="0" indent="0" algn="ctr">
              <a:lnSpc>
                <a:spcPct val="110000"/>
              </a:lnSpc>
              <a:buNone/>
            </a:pPr>
            <a:r>
              <a:rPr lang="en-US" sz="900" b="1" dirty="0">
                <a:solidFill>
                  <a:srgbClr val="92400E"/>
                </a:solidFill>
              </a:rPr>
              <a:t>MODEL</a:t>
            </a:r>
            <a:endParaRPr lang="en-US" sz="900" dirty="0"/>
          </a:p>
        </p:txBody>
      </p:sp>
      <p:sp>
        <p:nvSpPr>
          <p:cNvPr id="29" name="Text 27"/>
          <p:cNvSpPr/>
          <p:nvPr/>
        </p:nvSpPr>
        <p:spPr>
          <a:xfrm>
            <a:off x="5559552" y="1901952"/>
            <a:ext cx="1417320" cy="457200"/>
          </a:xfrm>
          <a:prstGeom prst="rect">
            <a:avLst/>
          </a:prstGeom>
          <a:noFill/>
          <a:ln/>
        </p:spPr>
        <p:txBody>
          <a:bodyPr wrap="square" rtlCol="0" anchor="ctr"/>
          <a:lstStyle/>
          <a:p>
            <a:pPr marL="0" indent="0" algn="ctr">
              <a:lnSpc>
                <a:spcPct val="120000"/>
              </a:lnSpc>
              <a:buNone/>
            </a:pPr>
            <a:r>
              <a:rPr lang="en-US" sz="900" dirty="0">
                <a:solidFill>
                  <a:srgbClr val="92400E"/>
                </a:solidFill>
              </a:rPr>
              <a:t>PDO prepare/execute</a:t>
            </a:r>
            <a:endParaRPr lang="en-US" sz="900" dirty="0"/>
          </a:p>
        </p:txBody>
      </p:sp>
      <p:sp>
        <p:nvSpPr>
          <p:cNvPr id="30" name="Text 28"/>
          <p:cNvSpPr/>
          <p:nvPr/>
        </p:nvSpPr>
        <p:spPr>
          <a:xfrm>
            <a:off x="5559552" y="2404872"/>
            <a:ext cx="1417320" cy="457200"/>
          </a:xfrm>
          <a:prstGeom prst="rect">
            <a:avLst/>
          </a:prstGeom>
          <a:noFill/>
          <a:ln/>
        </p:spPr>
        <p:txBody>
          <a:bodyPr wrap="square" rtlCol="0" anchor="ctr"/>
          <a:lstStyle/>
          <a:p>
            <a:pPr marL="0" indent="0" algn="ctr">
              <a:lnSpc>
                <a:spcPct val="120000"/>
              </a:lnSpc>
              <a:buNone/>
            </a:pPr>
            <a:r>
              <a:rPr lang="en-US" sz="900" dirty="0">
                <a:solidFill>
                  <a:srgbClr val="92400E"/>
                </a:solidFill>
              </a:rPr>
              <a:t>Lógica de negocio</a:t>
            </a:r>
            <a:endParaRPr lang="en-US" sz="900" dirty="0"/>
          </a:p>
        </p:txBody>
      </p:sp>
      <p:sp>
        <p:nvSpPr>
          <p:cNvPr id="31" name="Text 29"/>
          <p:cNvSpPr/>
          <p:nvPr/>
        </p:nvSpPr>
        <p:spPr>
          <a:xfrm>
            <a:off x="5559552" y="2907792"/>
            <a:ext cx="1417320" cy="457200"/>
          </a:xfrm>
          <a:prstGeom prst="rect">
            <a:avLst/>
          </a:prstGeom>
          <a:noFill/>
          <a:ln/>
        </p:spPr>
        <p:txBody>
          <a:bodyPr wrap="square" rtlCol="0" anchor="ctr"/>
          <a:lstStyle/>
          <a:p>
            <a:pPr marL="0" indent="0" algn="ctr">
              <a:lnSpc>
                <a:spcPct val="120000"/>
              </a:lnSpc>
              <a:buNone/>
            </a:pPr>
            <a:r>
              <a:rPr lang="en-US" sz="900" dirty="0">
                <a:solidFill>
                  <a:srgbClr val="92400E"/>
                </a:solidFill>
              </a:rPr>
              <a:t>return array[]</a:t>
            </a:r>
            <a:endParaRPr lang="en-US" sz="900" dirty="0"/>
          </a:p>
        </p:txBody>
      </p:sp>
      <p:sp>
        <p:nvSpPr>
          <p:cNvPr id="32" name="Text 30"/>
          <p:cNvSpPr/>
          <p:nvPr/>
        </p:nvSpPr>
        <p:spPr>
          <a:xfrm>
            <a:off x="7040880" y="2377440"/>
            <a:ext cx="137160" cy="502920"/>
          </a:xfrm>
          <a:prstGeom prst="rect">
            <a:avLst/>
          </a:prstGeom>
          <a:noFill/>
          <a:ln/>
        </p:spPr>
        <p:txBody>
          <a:bodyPr wrap="square" rtlCol="0" anchor="ctr"/>
          <a:lstStyle/>
          <a:p>
            <a:pPr marL="0" indent="0" algn="ctr">
              <a:buNone/>
            </a:pPr>
            <a:r>
              <a:rPr lang="en-US" sz="1400" dirty="0">
                <a:solidFill>
                  <a:srgbClr val="0D9488"/>
                </a:solidFill>
              </a:rPr>
              <a:t>→</a:t>
            </a:r>
            <a:endParaRPr lang="en-US" sz="1400" dirty="0"/>
          </a:p>
        </p:txBody>
      </p:sp>
      <p:sp>
        <p:nvSpPr>
          <p:cNvPr id="33" name="Shape 31"/>
          <p:cNvSpPr/>
          <p:nvPr/>
        </p:nvSpPr>
        <p:spPr>
          <a:xfrm>
            <a:off x="7178040" y="1325880"/>
            <a:ext cx="1554480" cy="3108958"/>
          </a:xfrm>
          <a:prstGeom prst="roundRect">
            <a:avLst>
              <a:gd name="adj" fmla="val 5882"/>
            </a:avLst>
          </a:prstGeom>
          <a:solidFill>
            <a:srgbClr val="FFF1F2"/>
          </a:solidFill>
          <a:ln w="19050">
            <a:solidFill>
              <a:srgbClr val="FECDD3"/>
            </a:solidFill>
            <a:prstDash val="solid"/>
          </a:ln>
          <a:effectLst>
            <a:outerShdw blurRad="101600" dist="38100" dir="2700000" algn="bl" rotWithShape="0">
              <a:srgbClr val="000000">
                <a:alpha val="18000"/>
              </a:srgbClr>
            </a:outerShdw>
          </a:effectLst>
        </p:spPr>
        <p:txBody>
          <a:bodyPr/>
          <a:lstStyle/>
          <a:p>
            <a:endParaRPr lang="es-AR"/>
          </a:p>
        </p:txBody>
      </p:sp>
      <p:sp>
        <p:nvSpPr>
          <p:cNvPr id="34" name="Shape 32"/>
          <p:cNvSpPr/>
          <p:nvPr/>
        </p:nvSpPr>
        <p:spPr>
          <a:xfrm>
            <a:off x="7178040" y="1325880"/>
            <a:ext cx="1554480" cy="475488"/>
          </a:xfrm>
          <a:prstGeom prst="roundRect">
            <a:avLst>
              <a:gd name="adj" fmla="val 19231"/>
            </a:avLst>
          </a:prstGeom>
          <a:solidFill>
            <a:srgbClr val="FECDD3"/>
          </a:solidFill>
          <a:ln w="12700">
            <a:solidFill>
              <a:srgbClr val="FECDD3"/>
            </a:solidFill>
            <a:prstDash val="solid"/>
          </a:ln>
        </p:spPr>
        <p:txBody>
          <a:bodyPr/>
          <a:lstStyle/>
          <a:p>
            <a:endParaRPr lang="es-AR"/>
          </a:p>
        </p:txBody>
      </p:sp>
      <p:sp>
        <p:nvSpPr>
          <p:cNvPr id="35" name="Text 33"/>
          <p:cNvSpPr/>
          <p:nvPr/>
        </p:nvSpPr>
        <p:spPr>
          <a:xfrm>
            <a:off x="7223760" y="1325880"/>
            <a:ext cx="1463040" cy="475488"/>
          </a:xfrm>
          <a:prstGeom prst="rect">
            <a:avLst/>
          </a:prstGeom>
          <a:noFill/>
          <a:ln/>
        </p:spPr>
        <p:txBody>
          <a:bodyPr wrap="square" rtlCol="0" anchor="ctr"/>
          <a:lstStyle/>
          <a:p>
            <a:pPr marL="0" indent="0" algn="ctr">
              <a:lnSpc>
                <a:spcPct val="110000"/>
              </a:lnSpc>
              <a:buNone/>
            </a:pPr>
            <a:r>
              <a:rPr lang="en-US" sz="900" b="1" dirty="0">
                <a:solidFill>
                  <a:srgbClr val="9F1239"/>
                </a:solidFill>
              </a:rPr>
              <a:t>VIEW (.php)</a:t>
            </a:r>
            <a:endParaRPr lang="en-US" sz="900" dirty="0"/>
          </a:p>
        </p:txBody>
      </p:sp>
      <p:sp>
        <p:nvSpPr>
          <p:cNvPr id="36" name="Text 34"/>
          <p:cNvSpPr/>
          <p:nvPr/>
        </p:nvSpPr>
        <p:spPr>
          <a:xfrm>
            <a:off x="7251192" y="1901952"/>
            <a:ext cx="1417320" cy="457200"/>
          </a:xfrm>
          <a:prstGeom prst="rect">
            <a:avLst/>
          </a:prstGeom>
          <a:noFill/>
          <a:ln/>
        </p:spPr>
        <p:txBody>
          <a:bodyPr wrap="square" rtlCol="0" anchor="ctr"/>
          <a:lstStyle/>
          <a:p>
            <a:pPr marL="0" indent="0" algn="ctr">
              <a:lnSpc>
                <a:spcPct val="120000"/>
              </a:lnSpc>
              <a:buNone/>
            </a:pPr>
            <a:r>
              <a:rPr lang="en-US" sz="900" dirty="0">
                <a:solidFill>
                  <a:srgbClr val="9F1239"/>
                </a:solidFill>
              </a:rPr>
              <a:t>htmlspecialchars()</a:t>
            </a:r>
            <a:endParaRPr lang="en-US" sz="900" dirty="0"/>
          </a:p>
        </p:txBody>
      </p:sp>
      <p:sp>
        <p:nvSpPr>
          <p:cNvPr id="37" name="Text 35"/>
          <p:cNvSpPr/>
          <p:nvPr/>
        </p:nvSpPr>
        <p:spPr>
          <a:xfrm>
            <a:off x="7251192" y="2404872"/>
            <a:ext cx="1417320" cy="457200"/>
          </a:xfrm>
          <a:prstGeom prst="rect">
            <a:avLst/>
          </a:prstGeom>
          <a:noFill/>
          <a:ln/>
        </p:spPr>
        <p:txBody>
          <a:bodyPr wrap="square" rtlCol="0" anchor="ctr"/>
          <a:lstStyle/>
          <a:p>
            <a:pPr marL="0" indent="0" algn="ctr">
              <a:lnSpc>
                <a:spcPct val="120000"/>
              </a:lnSpc>
              <a:buNone/>
            </a:pPr>
            <a:r>
              <a:rPr lang="en-US" sz="900" dirty="0">
                <a:solidFill>
                  <a:srgbClr val="9F1239"/>
                </a:solidFill>
              </a:rPr>
              <a:t>HTML + PHP echo</a:t>
            </a:r>
            <a:endParaRPr lang="en-US" sz="900" dirty="0"/>
          </a:p>
        </p:txBody>
      </p:sp>
      <p:sp>
        <p:nvSpPr>
          <p:cNvPr id="38" name="Text 36"/>
          <p:cNvSpPr/>
          <p:nvPr/>
        </p:nvSpPr>
        <p:spPr>
          <a:xfrm>
            <a:off x="7251192" y="2907792"/>
            <a:ext cx="1417320" cy="457200"/>
          </a:xfrm>
          <a:prstGeom prst="rect">
            <a:avLst/>
          </a:prstGeom>
          <a:noFill/>
          <a:ln/>
        </p:spPr>
        <p:txBody>
          <a:bodyPr wrap="square" rtlCol="0" anchor="ctr"/>
          <a:lstStyle/>
          <a:p>
            <a:pPr marL="0" indent="0" algn="ctr">
              <a:lnSpc>
                <a:spcPct val="120000"/>
              </a:lnSpc>
              <a:buNone/>
            </a:pPr>
            <a:r>
              <a:rPr lang="en-US" sz="900" dirty="0">
                <a:solidFill>
                  <a:srgbClr val="9F1239"/>
                </a:solidFill>
              </a:rPr>
              <a:t>Sin lógica de negocio</a:t>
            </a:r>
            <a:endParaRPr lang="en-US" sz="900" dirty="0"/>
          </a:p>
        </p:txBody>
      </p:sp>
      <p:sp>
        <p:nvSpPr>
          <p:cNvPr id="39" name="Shape 37"/>
          <p:cNvSpPr/>
          <p:nvPr/>
        </p:nvSpPr>
        <p:spPr>
          <a:xfrm>
            <a:off x="457200" y="4828032"/>
            <a:ext cx="8138160" cy="0"/>
          </a:xfrm>
          <a:prstGeom prst="line">
            <a:avLst/>
          </a:prstGeom>
          <a:noFill/>
          <a:ln w="19050">
            <a:solidFill>
              <a:srgbClr val="0D9488"/>
            </a:solidFill>
            <a:prstDash val="dash"/>
          </a:ln>
        </p:spPr>
        <p:txBody>
          <a:bodyPr/>
          <a:lstStyle/>
          <a:p>
            <a:endParaRPr lang="es-AR"/>
          </a:p>
        </p:txBody>
      </p:sp>
      <p:sp>
        <p:nvSpPr>
          <p:cNvPr id="40" name="Text 38"/>
          <p:cNvSpPr/>
          <p:nvPr/>
        </p:nvSpPr>
        <p:spPr>
          <a:xfrm>
            <a:off x="457200" y="4873752"/>
            <a:ext cx="8229600" cy="246888"/>
          </a:xfrm>
          <a:prstGeom prst="rect">
            <a:avLst/>
          </a:prstGeom>
          <a:noFill/>
          <a:ln/>
        </p:spPr>
        <p:txBody>
          <a:bodyPr wrap="square" rtlCol="0" anchor="ctr"/>
          <a:lstStyle/>
          <a:p>
            <a:pPr marL="0" indent="0" algn="ctr">
              <a:buNone/>
            </a:pPr>
            <a:r>
              <a:rPr lang="en-US" sz="1000" dirty="0">
                <a:solidFill>
                  <a:srgbClr val="0D9488"/>
                </a:solidFill>
              </a:rPr>
              <a:t>↩  Respuesta: VIEW renderizada → Controller → Cliente (HTML al navegador)</a:t>
            </a:r>
            <a:endParaRPr lang="en-US" sz="1000" dirty="0"/>
          </a:p>
        </p:txBody>
      </p:sp>
      <p:sp>
        <p:nvSpPr>
          <p:cNvPr id="41" name="Shape 39"/>
          <p:cNvSpPr/>
          <p:nvPr/>
        </p:nvSpPr>
        <p:spPr>
          <a:xfrm>
            <a:off x="457200" y="4526280"/>
            <a:ext cx="8229600" cy="256032"/>
          </a:xfrm>
          <a:prstGeom prst="roundRect">
            <a:avLst>
              <a:gd name="adj" fmla="val 21429"/>
            </a:avLst>
          </a:prstGeom>
          <a:solidFill>
            <a:srgbClr val="ECFDF5"/>
          </a:solidFill>
          <a:ln w="12700">
            <a:solidFill>
              <a:srgbClr val="0D9488"/>
            </a:solidFill>
            <a:prstDash val="solid"/>
          </a:ln>
        </p:spPr>
        <p:txBody>
          <a:bodyPr/>
          <a:lstStyle/>
          <a:p>
            <a:endParaRPr lang="es-AR"/>
          </a:p>
        </p:txBody>
      </p:sp>
      <p:sp>
        <p:nvSpPr>
          <p:cNvPr id="42" name="Text 40"/>
          <p:cNvSpPr/>
          <p:nvPr/>
        </p:nvSpPr>
        <p:spPr>
          <a:xfrm>
            <a:off x="594360" y="4544568"/>
            <a:ext cx="7955280" cy="237744"/>
          </a:xfrm>
          <a:prstGeom prst="rect">
            <a:avLst/>
          </a:prstGeom>
          <a:noFill/>
          <a:ln/>
        </p:spPr>
        <p:txBody>
          <a:bodyPr wrap="square" rtlCol="0" anchor="ctr"/>
          <a:lstStyle/>
          <a:p>
            <a:pPr marL="0" indent="0">
              <a:buNone/>
            </a:pPr>
            <a:r>
              <a:rPr lang="en-US" sz="950" b="1" dirty="0">
                <a:solidFill>
                  <a:srgbClr val="065F46"/>
                </a:solidFill>
              </a:rPr>
              <a:t>🔑  Principio: cada capa tiene UNA responsabilidad. El Controller nunca toca HTML. La View nunca toca la BD.</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457200" y="274320"/>
            <a:ext cx="1737360" cy="301752"/>
          </a:xfrm>
          <a:prstGeom prst="roundRect">
            <a:avLst>
              <a:gd name="adj" fmla="val 18182"/>
            </a:avLst>
          </a:prstGeom>
          <a:solidFill>
            <a:srgbClr val="0D9488"/>
          </a:solidFill>
          <a:ln w="12700">
            <a:solidFill>
              <a:srgbClr val="0D9488"/>
            </a:solidFill>
            <a:prstDash val="solid"/>
          </a:ln>
        </p:spPr>
        <p:txBody>
          <a:bodyPr/>
          <a:lstStyle/>
          <a:p>
            <a:endParaRPr lang="es-AR"/>
          </a:p>
        </p:txBody>
      </p:sp>
      <p:sp>
        <p:nvSpPr>
          <p:cNvPr id="3" name="Text 1"/>
          <p:cNvSpPr/>
          <p:nvPr/>
        </p:nvSpPr>
        <p:spPr>
          <a:xfrm>
            <a:off x="457200" y="274320"/>
            <a:ext cx="1737360" cy="301752"/>
          </a:xfrm>
          <a:prstGeom prst="rect">
            <a:avLst/>
          </a:prstGeom>
          <a:noFill/>
          <a:ln/>
        </p:spPr>
        <p:txBody>
          <a:bodyPr wrap="square" lIns="0" tIns="0" rIns="0" bIns="0" rtlCol="0" anchor="ctr"/>
          <a:lstStyle/>
          <a:p>
            <a:pPr marL="0" indent="0" algn="ctr">
              <a:buNone/>
            </a:pPr>
            <a:r>
              <a:rPr lang="en-US" sz="900" b="1" dirty="0">
                <a:solidFill>
                  <a:srgbClr val="FFFFFF"/>
                </a:solidFill>
              </a:rPr>
              <a:t>13 · PRUEBAS &amp; MÉTRICAS</a:t>
            </a:r>
            <a:endParaRPr lang="en-US" sz="900" dirty="0"/>
          </a:p>
        </p:txBody>
      </p:sp>
      <p:sp>
        <p:nvSpPr>
          <p:cNvPr id="4" name="Text 2"/>
          <p:cNvSpPr/>
          <p:nvPr/>
        </p:nvSpPr>
        <p:spPr>
          <a:xfrm>
            <a:off x="257907" y="796935"/>
            <a:ext cx="8229600" cy="502920"/>
          </a:xfrm>
          <a:prstGeom prst="rect">
            <a:avLst/>
          </a:prstGeom>
          <a:noFill/>
          <a:ln/>
        </p:spPr>
        <p:txBody>
          <a:bodyPr wrap="square" rtlCol="0" anchor="ctr"/>
          <a:lstStyle/>
          <a:p>
            <a:pPr marL="0" indent="0">
              <a:buNone/>
            </a:pPr>
            <a:r>
              <a:rPr lang="en-US" sz="2400" b="1" dirty="0">
                <a:solidFill>
                  <a:srgbClr val="FFFFFF"/>
                </a:solidFill>
              </a:rPr>
              <a:t>Todo funciona. Lo probamos.</a:t>
            </a:r>
            <a:endParaRPr lang="en-US" sz="2400" dirty="0"/>
          </a:p>
        </p:txBody>
      </p:sp>
      <p:sp>
        <p:nvSpPr>
          <p:cNvPr id="5" name="Shape 3"/>
          <p:cNvSpPr/>
          <p:nvPr/>
        </p:nvSpPr>
        <p:spPr>
          <a:xfrm>
            <a:off x="257907" y="1577340"/>
            <a:ext cx="4206240" cy="502920"/>
          </a:xfrm>
          <a:prstGeom prst="roundRect">
            <a:avLst>
              <a:gd name="adj" fmla="val 9091"/>
            </a:avLst>
          </a:prstGeom>
          <a:solidFill>
            <a:srgbClr val="1E3A5F"/>
          </a:solidFill>
          <a:ln w="12700">
            <a:solidFill>
              <a:srgbClr val="1E3A5F"/>
            </a:solidFill>
            <a:prstDash val="solid"/>
          </a:ln>
        </p:spPr>
        <p:txBody>
          <a:bodyPr/>
          <a:lstStyle/>
          <a:p>
            <a:endParaRPr lang="es-AR"/>
          </a:p>
        </p:txBody>
      </p:sp>
      <p:sp>
        <p:nvSpPr>
          <p:cNvPr id="6" name="Text 4"/>
          <p:cNvSpPr/>
          <p:nvPr/>
        </p:nvSpPr>
        <p:spPr>
          <a:xfrm>
            <a:off x="349347" y="1577340"/>
            <a:ext cx="2697480" cy="502920"/>
          </a:xfrm>
          <a:prstGeom prst="rect">
            <a:avLst/>
          </a:prstGeom>
          <a:noFill/>
          <a:ln/>
        </p:spPr>
        <p:txBody>
          <a:bodyPr wrap="square" rtlCol="0" anchor="ctr"/>
          <a:lstStyle/>
          <a:p>
            <a:pPr marL="0" indent="0">
              <a:buNone/>
            </a:pPr>
            <a:r>
              <a:rPr lang="en-US" sz="950" dirty="0">
                <a:solidFill>
                  <a:srgbClr val="E2E8F0"/>
                </a:solidFill>
              </a:rPr>
              <a:t>Email duplicado en registro</a:t>
            </a:r>
            <a:endParaRPr lang="en-US" sz="950" dirty="0"/>
          </a:p>
        </p:txBody>
      </p:sp>
      <p:sp>
        <p:nvSpPr>
          <p:cNvPr id="7" name="Text 5"/>
          <p:cNvSpPr/>
          <p:nvPr/>
        </p:nvSpPr>
        <p:spPr>
          <a:xfrm>
            <a:off x="3046827" y="1577340"/>
            <a:ext cx="1325880" cy="502920"/>
          </a:xfrm>
          <a:prstGeom prst="rect">
            <a:avLst/>
          </a:prstGeom>
          <a:noFill/>
          <a:ln/>
        </p:spPr>
        <p:txBody>
          <a:bodyPr wrap="square" rtlCol="0" anchor="ctr"/>
          <a:lstStyle/>
          <a:p>
            <a:pPr marL="0" indent="0">
              <a:buNone/>
            </a:pPr>
            <a:r>
              <a:rPr lang="en-US" sz="900" b="1" dirty="0">
                <a:solidFill>
                  <a:srgbClr val="14B8A6"/>
                </a:solidFill>
              </a:rPr>
              <a:t>✅ Error controlado en form</a:t>
            </a:r>
            <a:endParaRPr lang="en-US" sz="900" dirty="0"/>
          </a:p>
        </p:txBody>
      </p:sp>
      <p:sp>
        <p:nvSpPr>
          <p:cNvPr id="8" name="Shape 6"/>
          <p:cNvSpPr/>
          <p:nvPr/>
        </p:nvSpPr>
        <p:spPr>
          <a:xfrm>
            <a:off x="257907" y="2153412"/>
            <a:ext cx="4206240" cy="502920"/>
          </a:xfrm>
          <a:prstGeom prst="roundRect">
            <a:avLst>
              <a:gd name="adj" fmla="val 9091"/>
            </a:avLst>
          </a:prstGeom>
          <a:solidFill>
            <a:srgbClr val="0F2944"/>
          </a:solidFill>
          <a:ln w="12700">
            <a:solidFill>
              <a:srgbClr val="1E3A5F"/>
            </a:solidFill>
            <a:prstDash val="solid"/>
          </a:ln>
        </p:spPr>
        <p:txBody>
          <a:bodyPr/>
          <a:lstStyle/>
          <a:p>
            <a:endParaRPr lang="es-AR"/>
          </a:p>
        </p:txBody>
      </p:sp>
      <p:sp>
        <p:nvSpPr>
          <p:cNvPr id="9" name="Text 7"/>
          <p:cNvSpPr/>
          <p:nvPr/>
        </p:nvSpPr>
        <p:spPr>
          <a:xfrm>
            <a:off x="349347" y="2153412"/>
            <a:ext cx="2697480" cy="502920"/>
          </a:xfrm>
          <a:prstGeom prst="rect">
            <a:avLst/>
          </a:prstGeom>
          <a:noFill/>
          <a:ln/>
        </p:spPr>
        <p:txBody>
          <a:bodyPr wrap="square" rtlCol="0" anchor="ctr"/>
          <a:lstStyle/>
          <a:p>
            <a:pPr marL="0" indent="0">
              <a:buNone/>
            </a:pPr>
            <a:r>
              <a:rPr lang="en-US" sz="950" dirty="0">
                <a:solidFill>
                  <a:srgbClr val="E2E8F0"/>
                </a:solidFill>
              </a:rPr>
              <a:t>Login con contraseña incorrecta</a:t>
            </a:r>
            <a:endParaRPr lang="en-US" sz="950" dirty="0"/>
          </a:p>
        </p:txBody>
      </p:sp>
      <p:sp>
        <p:nvSpPr>
          <p:cNvPr id="10" name="Text 8"/>
          <p:cNvSpPr/>
          <p:nvPr/>
        </p:nvSpPr>
        <p:spPr>
          <a:xfrm>
            <a:off x="3046827" y="2153412"/>
            <a:ext cx="1325880" cy="502920"/>
          </a:xfrm>
          <a:prstGeom prst="rect">
            <a:avLst/>
          </a:prstGeom>
          <a:noFill/>
          <a:ln/>
        </p:spPr>
        <p:txBody>
          <a:bodyPr wrap="square" rtlCol="0" anchor="ctr"/>
          <a:lstStyle/>
          <a:p>
            <a:pPr marL="0" indent="0">
              <a:buNone/>
            </a:pPr>
            <a:r>
              <a:rPr lang="en-US" sz="900" b="1" dirty="0">
                <a:solidFill>
                  <a:srgbClr val="14B8A6"/>
                </a:solidFill>
              </a:rPr>
              <a:t>✅ Mensaje genérico sin hint</a:t>
            </a:r>
            <a:endParaRPr lang="en-US" sz="900" dirty="0"/>
          </a:p>
        </p:txBody>
      </p:sp>
      <p:sp>
        <p:nvSpPr>
          <p:cNvPr id="11" name="Shape 9"/>
          <p:cNvSpPr/>
          <p:nvPr/>
        </p:nvSpPr>
        <p:spPr>
          <a:xfrm>
            <a:off x="257907" y="2729484"/>
            <a:ext cx="4206240" cy="502920"/>
          </a:xfrm>
          <a:prstGeom prst="roundRect">
            <a:avLst>
              <a:gd name="adj" fmla="val 9091"/>
            </a:avLst>
          </a:prstGeom>
          <a:solidFill>
            <a:srgbClr val="1E3A5F"/>
          </a:solidFill>
          <a:ln w="12700">
            <a:solidFill>
              <a:srgbClr val="1E3A5F"/>
            </a:solidFill>
            <a:prstDash val="solid"/>
          </a:ln>
        </p:spPr>
        <p:txBody>
          <a:bodyPr/>
          <a:lstStyle/>
          <a:p>
            <a:endParaRPr lang="es-AR"/>
          </a:p>
        </p:txBody>
      </p:sp>
      <p:sp>
        <p:nvSpPr>
          <p:cNvPr id="12" name="Text 10"/>
          <p:cNvSpPr/>
          <p:nvPr/>
        </p:nvSpPr>
        <p:spPr>
          <a:xfrm>
            <a:off x="349347" y="2729484"/>
            <a:ext cx="2697480" cy="502920"/>
          </a:xfrm>
          <a:prstGeom prst="rect">
            <a:avLst/>
          </a:prstGeom>
          <a:noFill/>
          <a:ln/>
        </p:spPr>
        <p:txBody>
          <a:bodyPr wrap="square" rtlCol="0" anchor="ctr"/>
          <a:lstStyle/>
          <a:p>
            <a:pPr marL="0" indent="0">
              <a:buNone/>
            </a:pPr>
            <a:r>
              <a:rPr lang="en-US" sz="950" dirty="0">
                <a:solidFill>
                  <a:srgbClr val="E2E8F0"/>
                </a:solidFill>
              </a:rPr>
              <a:t>Tutor sin certificado</a:t>
            </a:r>
            <a:endParaRPr lang="en-US" sz="950" dirty="0"/>
          </a:p>
        </p:txBody>
      </p:sp>
      <p:sp>
        <p:nvSpPr>
          <p:cNvPr id="13" name="Text 11"/>
          <p:cNvSpPr/>
          <p:nvPr/>
        </p:nvSpPr>
        <p:spPr>
          <a:xfrm>
            <a:off x="3046827" y="2729484"/>
            <a:ext cx="1325880" cy="502920"/>
          </a:xfrm>
          <a:prstGeom prst="rect">
            <a:avLst/>
          </a:prstGeom>
          <a:noFill/>
          <a:ln/>
        </p:spPr>
        <p:txBody>
          <a:bodyPr wrap="square" rtlCol="0" anchor="ctr"/>
          <a:lstStyle/>
          <a:p>
            <a:pPr marL="0" indent="0">
              <a:buNone/>
            </a:pPr>
            <a:r>
              <a:rPr lang="en-US" sz="900" b="1" dirty="0">
                <a:solidFill>
                  <a:srgbClr val="14B8A6"/>
                </a:solidFill>
              </a:rPr>
              <a:t>✅ Validación de campo requerido</a:t>
            </a:r>
            <a:endParaRPr lang="en-US" sz="900" dirty="0"/>
          </a:p>
        </p:txBody>
      </p:sp>
      <p:sp>
        <p:nvSpPr>
          <p:cNvPr id="14" name="Shape 12"/>
          <p:cNvSpPr/>
          <p:nvPr/>
        </p:nvSpPr>
        <p:spPr>
          <a:xfrm>
            <a:off x="257907" y="3305556"/>
            <a:ext cx="4206240" cy="502920"/>
          </a:xfrm>
          <a:prstGeom prst="roundRect">
            <a:avLst>
              <a:gd name="adj" fmla="val 9091"/>
            </a:avLst>
          </a:prstGeom>
          <a:solidFill>
            <a:srgbClr val="0F2944"/>
          </a:solidFill>
          <a:ln w="12700">
            <a:solidFill>
              <a:srgbClr val="1E3A5F"/>
            </a:solidFill>
            <a:prstDash val="solid"/>
          </a:ln>
        </p:spPr>
        <p:txBody>
          <a:bodyPr/>
          <a:lstStyle/>
          <a:p>
            <a:endParaRPr lang="es-AR"/>
          </a:p>
        </p:txBody>
      </p:sp>
      <p:sp>
        <p:nvSpPr>
          <p:cNvPr id="15" name="Text 13"/>
          <p:cNvSpPr/>
          <p:nvPr/>
        </p:nvSpPr>
        <p:spPr>
          <a:xfrm>
            <a:off x="349347" y="3305556"/>
            <a:ext cx="2697480" cy="502920"/>
          </a:xfrm>
          <a:prstGeom prst="rect">
            <a:avLst/>
          </a:prstGeom>
          <a:noFill/>
          <a:ln/>
        </p:spPr>
        <p:txBody>
          <a:bodyPr wrap="square" rtlCol="0" anchor="ctr"/>
          <a:lstStyle/>
          <a:p>
            <a:pPr marL="0" indent="0">
              <a:buNone/>
            </a:pPr>
            <a:r>
              <a:rPr lang="en-US" sz="950" dirty="0">
                <a:solidFill>
                  <a:srgbClr val="E2E8F0"/>
                </a:solidFill>
              </a:rPr>
              <a:t>Horario solapado</a:t>
            </a:r>
            <a:endParaRPr lang="en-US" sz="950" dirty="0"/>
          </a:p>
        </p:txBody>
      </p:sp>
      <p:sp>
        <p:nvSpPr>
          <p:cNvPr id="16" name="Text 14"/>
          <p:cNvSpPr/>
          <p:nvPr/>
        </p:nvSpPr>
        <p:spPr>
          <a:xfrm>
            <a:off x="3046827" y="3305556"/>
            <a:ext cx="1325880" cy="502920"/>
          </a:xfrm>
          <a:prstGeom prst="rect">
            <a:avLst/>
          </a:prstGeom>
          <a:noFill/>
          <a:ln/>
        </p:spPr>
        <p:txBody>
          <a:bodyPr wrap="square" rtlCol="0" anchor="ctr"/>
          <a:lstStyle/>
          <a:p>
            <a:pPr marL="0" indent="0">
              <a:buNone/>
            </a:pPr>
            <a:r>
              <a:rPr lang="en-US" sz="900" b="1" dirty="0">
                <a:solidFill>
                  <a:srgbClr val="14B8A6"/>
                </a:solidFill>
              </a:rPr>
              <a:t>✅ Trigger SQL rechaza inserción</a:t>
            </a:r>
            <a:endParaRPr lang="en-US" sz="900" dirty="0"/>
          </a:p>
        </p:txBody>
      </p:sp>
      <p:sp>
        <p:nvSpPr>
          <p:cNvPr id="17" name="Shape 15"/>
          <p:cNvSpPr/>
          <p:nvPr/>
        </p:nvSpPr>
        <p:spPr>
          <a:xfrm>
            <a:off x="257907" y="3881628"/>
            <a:ext cx="4206240" cy="502920"/>
          </a:xfrm>
          <a:prstGeom prst="roundRect">
            <a:avLst>
              <a:gd name="adj" fmla="val 9091"/>
            </a:avLst>
          </a:prstGeom>
          <a:solidFill>
            <a:srgbClr val="1E3A5F"/>
          </a:solidFill>
          <a:ln w="12700">
            <a:solidFill>
              <a:srgbClr val="1E3A5F"/>
            </a:solidFill>
            <a:prstDash val="solid"/>
          </a:ln>
        </p:spPr>
        <p:txBody>
          <a:bodyPr/>
          <a:lstStyle/>
          <a:p>
            <a:endParaRPr lang="es-AR"/>
          </a:p>
        </p:txBody>
      </p:sp>
      <p:sp>
        <p:nvSpPr>
          <p:cNvPr id="18" name="Text 16"/>
          <p:cNvSpPr/>
          <p:nvPr/>
        </p:nvSpPr>
        <p:spPr>
          <a:xfrm>
            <a:off x="349347" y="3881628"/>
            <a:ext cx="2697480" cy="502920"/>
          </a:xfrm>
          <a:prstGeom prst="rect">
            <a:avLst/>
          </a:prstGeom>
          <a:noFill/>
          <a:ln/>
        </p:spPr>
        <p:txBody>
          <a:bodyPr wrap="square" rtlCol="0" anchor="ctr"/>
          <a:lstStyle/>
          <a:p>
            <a:pPr marL="0" indent="0">
              <a:buNone/>
            </a:pPr>
            <a:r>
              <a:rPr lang="en-US" sz="950" dirty="0">
                <a:solidFill>
                  <a:srgbClr val="E2E8F0"/>
                </a:solidFill>
              </a:rPr>
              <a:t>Solicitud con horario ocupado</a:t>
            </a:r>
            <a:endParaRPr lang="en-US" sz="950" dirty="0"/>
          </a:p>
        </p:txBody>
      </p:sp>
      <p:sp>
        <p:nvSpPr>
          <p:cNvPr id="19" name="Text 17"/>
          <p:cNvSpPr/>
          <p:nvPr/>
        </p:nvSpPr>
        <p:spPr>
          <a:xfrm>
            <a:off x="3046827" y="3881628"/>
            <a:ext cx="1325880" cy="502920"/>
          </a:xfrm>
          <a:prstGeom prst="rect">
            <a:avLst/>
          </a:prstGeom>
          <a:noFill/>
          <a:ln/>
        </p:spPr>
        <p:txBody>
          <a:bodyPr wrap="square" rtlCol="0" anchor="ctr"/>
          <a:lstStyle/>
          <a:p>
            <a:pPr marL="0" indent="0">
              <a:buNone/>
            </a:pPr>
            <a:r>
              <a:rPr lang="en-US" sz="900" b="1" dirty="0">
                <a:solidFill>
                  <a:srgbClr val="14B8A6"/>
                </a:solidFill>
              </a:rPr>
              <a:t>✅ Validación en modelo Solicitud</a:t>
            </a:r>
            <a:endParaRPr lang="en-US" sz="900" dirty="0"/>
          </a:p>
        </p:txBody>
      </p:sp>
      <p:sp>
        <p:nvSpPr>
          <p:cNvPr id="20" name="Shape 18"/>
          <p:cNvSpPr/>
          <p:nvPr/>
        </p:nvSpPr>
        <p:spPr>
          <a:xfrm>
            <a:off x="4647027" y="1577340"/>
            <a:ext cx="4206240" cy="502920"/>
          </a:xfrm>
          <a:prstGeom prst="roundRect">
            <a:avLst>
              <a:gd name="adj" fmla="val 9091"/>
            </a:avLst>
          </a:prstGeom>
          <a:solidFill>
            <a:srgbClr val="1E3A5F"/>
          </a:solidFill>
          <a:ln w="12700">
            <a:solidFill>
              <a:srgbClr val="1E3A5F"/>
            </a:solidFill>
            <a:prstDash val="solid"/>
          </a:ln>
        </p:spPr>
        <p:txBody>
          <a:bodyPr/>
          <a:lstStyle/>
          <a:p>
            <a:endParaRPr lang="es-AR"/>
          </a:p>
        </p:txBody>
      </p:sp>
      <p:sp>
        <p:nvSpPr>
          <p:cNvPr id="21" name="Text 19"/>
          <p:cNvSpPr/>
          <p:nvPr/>
        </p:nvSpPr>
        <p:spPr>
          <a:xfrm>
            <a:off x="4738467" y="1577340"/>
            <a:ext cx="2697480" cy="502920"/>
          </a:xfrm>
          <a:prstGeom prst="rect">
            <a:avLst/>
          </a:prstGeom>
          <a:noFill/>
          <a:ln/>
        </p:spPr>
        <p:txBody>
          <a:bodyPr wrap="square" rtlCol="0" anchor="ctr"/>
          <a:lstStyle/>
          <a:p>
            <a:pPr marL="0" indent="0">
              <a:buNone/>
            </a:pPr>
            <a:r>
              <a:rPr lang="en-US" sz="950" dirty="0">
                <a:solidFill>
                  <a:srgbClr val="E2E8F0"/>
                </a:solidFill>
              </a:rPr>
              <a:t>Chat entre usuario no autorizado</a:t>
            </a:r>
            <a:endParaRPr lang="en-US" sz="950" dirty="0"/>
          </a:p>
        </p:txBody>
      </p:sp>
      <p:sp>
        <p:nvSpPr>
          <p:cNvPr id="22" name="Text 20"/>
          <p:cNvSpPr/>
          <p:nvPr/>
        </p:nvSpPr>
        <p:spPr>
          <a:xfrm>
            <a:off x="7435947" y="1577340"/>
            <a:ext cx="1325880" cy="502920"/>
          </a:xfrm>
          <a:prstGeom prst="rect">
            <a:avLst/>
          </a:prstGeom>
          <a:noFill/>
          <a:ln/>
        </p:spPr>
        <p:txBody>
          <a:bodyPr wrap="square" rtlCol="0" anchor="ctr"/>
          <a:lstStyle/>
          <a:p>
            <a:pPr marL="0" indent="0">
              <a:buNone/>
            </a:pPr>
            <a:r>
              <a:rPr lang="en-US" sz="900" b="1" dirty="0">
                <a:solidFill>
                  <a:srgbClr val="14B8A6"/>
                </a:solidFill>
              </a:rPr>
              <a:t>✅ Redirige con error 403</a:t>
            </a:r>
            <a:endParaRPr lang="en-US" sz="900" dirty="0"/>
          </a:p>
        </p:txBody>
      </p:sp>
      <p:sp>
        <p:nvSpPr>
          <p:cNvPr id="23" name="Shape 21"/>
          <p:cNvSpPr/>
          <p:nvPr/>
        </p:nvSpPr>
        <p:spPr>
          <a:xfrm>
            <a:off x="4647027" y="2153412"/>
            <a:ext cx="4206240" cy="502920"/>
          </a:xfrm>
          <a:prstGeom prst="roundRect">
            <a:avLst>
              <a:gd name="adj" fmla="val 9091"/>
            </a:avLst>
          </a:prstGeom>
          <a:solidFill>
            <a:srgbClr val="0F2944"/>
          </a:solidFill>
          <a:ln w="12700">
            <a:solidFill>
              <a:srgbClr val="1E3A5F"/>
            </a:solidFill>
            <a:prstDash val="solid"/>
          </a:ln>
        </p:spPr>
        <p:txBody>
          <a:bodyPr/>
          <a:lstStyle/>
          <a:p>
            <a:endParaRPr lang="es-AR"/>
          </a:p>
        </p:txBody>
      </p:sp>
      <p:sp>
        <p:nvSpPr>
          <p:cNvPr id="24" name="Text 22"/>
          <p:cNvSpPr/>
          <p:nvPr/>
        </p:nvSpPr>
        <p:spPr>
          <a:xfrm>
            <a:off x="4738467" y="2153412"/>
            <a:ext cx="2697480" cy="502920"/>
          </a:xfrm>
          <a:prstGeom prst="rect">
            <a:avLst/>
          </a:prstGeom>
          <a:noFill/>
          <a:ln/>
        </p:spPr>
        <p:txBody>
          <a:bodyPr wrap="square" rtlCol="0" anchor="ctr"/>
          <a:lstStyle/>
          <a:p>
            <a:pPr marL="0" indent="0">
              <a:buNone/>
            </a:pPr>
            <a:r>
              <a:rPr lang="en-US" sz="950" dirty="0">
                <a:solidFill>
                  <a:srgbClr val="E2E8F0"/>
                </a:solidFill>
              </a:rPr>
              <a:t>Finalizar tutoría → pago blockchain</a:t>
            </a:r>
            <a:endParaRPr lang="en-US" sz="950" dirty="0"/>
          </a:p>
        </p:txBody>
      </p:sp>
      <p:sp>
        <p:nvSpPr>
          <p:cNvPr id="25" name="Text 23"/>
          <p:cNvSpPr/>
          <p:nvPr/>
        </p:nvSpPr>
        <p:spPr>
          <a:xfrm>
            <a:off x="7435947" y="2153412"/>
            <a:ext cx="1325880" cy="502920"/>
          </a:xfrm>
          <a:prstGeom prst="rect">
            <a:avLst/>
          </a:prstGeom>
          <a:noFill/>
          <a:ln/>
        </p:spPr>
        <p:txBody>
          <a:bodyPr wrap="square" rtlCol="0" anchor="ctr"/>
          <a:lstStyle/>
          <a:p>
            <a:pPr marL="0" indent="0">
              <a:buNone/>
            </a:pPr>
            <a:r>
              <a:rPr lang="en-US" sz="900" b="1" dirty="0">
                <a:solidFill>
                  <a:srgbClr val="14B8A6"/>
                </a:solidFill>
              </a:rPr>
              <a:t>✅ TX hash generado y registrado</a:t>
            </a:r>
            <a:endParaRPr lang="en-US" sz="900" dirty="0"/>
          </a:p>
        </p:txBody>
      </p:sp>
      <p:sp>
        <p:nvSpPr>
          <p:cNvPr id="26" name="Shape 24"/>
          <p:cNvSpPr/>
          <p:nvPr/>
        </p:nvSpPr>
        <p:spPr>
          <a:xfrm>
            <a:off x="4647027" y="2729484"/>
            <a:ext cx="4206240" cy="502920"/>
          </a:xfrm>
          <a:prstGeom prst="roundRect">
            <a:avLst>
              <a:gd name="adj" fmla="val 9091"/>
            </a:avLst>
          </a:prstGeom>
          <a:solidFill>
            <a:srgbClr val="1E3A5F"/>
          </a:solidFill>
          <a:ln w="12700">
            <a:solidFill>
              <a:srgbClr val="1E3A5F"/>
            </a:solidFill>
            <a:prstDash val="solid"/>
          </a:ln>
        </p:spPr>
        <p:txBody>
          <a:bodyPr/>
          <a:lstStyle/>
          <a:p>
            <a:endParaRPr lang="es-AR"/>
          </a:p>
        </p:txBody>
      </p:sp>
      <p:sp>
        <p:nvSpPr>
          <p:cNvPr id="27" name="Text 25"/>
          <p:cNvSpPr/>
          <p:nvPr/>
        </p:nvSpPr>
        <p:spPr>
          <a:xfrm>
            <a:off x="4738467" y="2729484"/>
            <a:ext cx="2697480" cy="502920"/>
          </a:xfrm>
          <a:prstGeom prst="rect">
            <a:avLst/>
          </a:prstGeom>
          <a:noFill/>
          <a:ln/>
        </p:spPr>
        <p:txBody>
          <a:bodyPr wrap="square" rtlCol="0" anchor="ctr"/>
          <a:lstStyle/>
          <a:p>
            <a:pPr marL="0" indent="0">
              <a:buNone/>
            </a:pPr>
            <a:r>
              <a:rPr lang="en-US" sz="950" dirty="0">
                <a:solidFill>
                  <a:srgbClr val="E2E8F0"/>
                </a:solidFill>
              </a:rPr>
              <a:t>Upload archivo mayor a 2 MB</a:t>
            </a:r>
            <a:endParaRPr lang="en-US" sz="950" dirty="0"/>
          </a:p>
        </p:txBody>
      </p:sp>
      <p:sp>
        <p:nvSpPr>
          <p:cNvPr id="28" name="Text 26"/>
          <p:cNvSpPr/>
          <p:nvPr/>
        </p:nvSpPr>
        <p:spPr>
          <a:xfrm>
            <a:off x="7435947" y="2729484"/>
            <a:ext cx="1325880" cy="502920"/>
          </a:xfrm>
          <a:prstGeom prst="rect">
            <a:avLst/>
          </a:prstGeom>
          <a:noFill/>
          <a:ln/>
        </p:spPr>
        <p:txBody>
          <a:bodyPr wrap="square" rtlCol="0" anchor="ctr"/>
          <a:lstStyle/>
          <a:p>
            <a:pPr marL="0" indent="0">
              <a:buNone/>
            </a:pPr>
            <a:r>
              <a:rPr lang="en-US" sz="900" b="1" dirty="0">
                <a:solidFill>
                  <a:srgbClr val="14B8A6"/>
                </a:solidFill>
              </a:rPr>
              <a:t>✅ Rechazado con mensaje descriptivo</a:t>
            </a:r>
            <a:endParaRPr lang="en-US" sz="900" dirty="0"/>
          </a:p>
        </p:txBody>
      </p:sp>
      <p:sp>
        <p:nvSpPr>
          <p:cNvPr id="29" name="Shape 27"/>
          <p:cNvSpPr/>
          <p:nvPr/>
        </p:nvSpPr>
        <p:spPr>
          <a:xfrm>
            <a:off x="4647027" y="3305556"/>
            <a:ext cx="4206240" cy="502920"/>
          </a:xfrm>
          <a:prstGeom prst="roundRect">
            <a:avLst>
              <a:gd name="adj" fmla="val 9091"/>
            </a:avLst>
          </a:prstGeom>
          <a:solidFill>
            <a:srgbClr val="0F2944"/>
          </a:solidFill>
          <a:ln w="12700">
            <a:solidFill>
              <a:srgbClr val="1E3A5F"/>
            </a:solidFill>
            <a:prstDash val="solid"/>
          </a:ln>
        </p:spPr>
        <p:txBody>
          <a:bodyPr/>
          <a:lstStyle/>
          <a:p>
            <a:endParaRPr lang="es-AR"/>
          </a:p>
        </p:txBody>
      </p:sp>
      <p:sp>
        <p:nvSpPr>
          <p:cNvPr id="30" name="Text 28"/>
          <p:cNvSpPr/>
          <p:nvPr/>
        </p:nvSpPr>
        <p:spPr>
          <a:xfrm>
            <a:off x="4738467" y="3305556"/>
            <a:ext cx="2697480" cy="502920"/>
          </a:xfrm>
          <a:prstGeom prst="rect">
            <a:avLst/>
          </a:prstGeom>
          <a:noFill/>
          <a:ln/>
        </p:spPr>
        <p:txBody>
          <a:bodyPr wrap="square" rtlCol="0" anchor="ctr"/>
          <a:lstStyle/>
          <a:p>
            <a:pPr marL="0" indent="0">
              <a:buNone/>
            </a:pPr>
            <a:r>
              <a:rPr lang="en-US" sz="950" dirty="0">
                <a:solidFill>
                  <a:srgbClr val="E2E8F0"/>
                </a:solidFill>
              </a:rPr>
              <a:t>XSS en bio: &lt;script&gt;alert(1)&lt;/script&gt;</a:t>
            </a:r>
            <a:endParaRPr lang="en-US" sz="950" dirty="0"/>
          </a:p>
        </p:txBody>
      </p:sp>
      <p:sp>
        <p:nvSpPr>
          <p:cNvPr id="31" name="Text 29"/>
          <p:cNvSpPr/>
          <p:nvPr/>
        </p:nvSpPr>
        <p:spPr>
          <a:xfrm>
            <a:off x="7435947" y="3305556"/>
            <a:ext cx="1325880" cy="502920"/>
          </a:xfrm>
          <a:prstGeom prst="rect">
            <a:avLst/>
          </a:prstGeom>
          <a:noFill/>
          <a:ln/>
        </p:spPr>
        <p:txBody>
          <a:bodyPr wrap="square" rtlCol="0" anchor="ctr"/>
          <a:lstStyle/>
          <a:p>
            <a:pPr marL="0" indent="0">
              <a:buNone/>
            </a:pPr>
            <a:r>
              <a:rPr lang="en-US" sz="900" b="1" dirty="0">
                <a:solidFill>
                  <a:srgbClr val="14B8A6"/>
                </a:solidFill>
              </a:rPr>
              <a:t>✅ Escapado por htmlspecialchars()</a:t>
            </a:r>
            <a:endParaRPr lang="en-US" sz="900" dirty="0"/>
          </a:p>
        </p:txBody>
      </p:sp>
      <p:sp>
        <p:nvSpPr>
          <p:cNvPr id="32" name="Shape 30"/>
          <p:cNvSpPr/>
          <p:nvPr/>
        </p:nvSpPr>
        <p:spPr>
          <a:xfrm>
            <a:off x="4647027" y="3881628"/>
            <a:ext cx="4206240" cy="502920"/>
          </a:xfrm>
          <a:prstGeom prst="roundRect">
            <a:avLst>
              <a:gd name="adj" fmla="val 9091"/>
            </a:avLst>
          </a:prstGeom>
          <a:solidFill>
            <a:srgbClr val="1E3A5F"/>
          </a:solidFill>
          <a:ln w="12700">
            <a:solidFill>
              <a:srgbClr val="1E3A5F"/>
            </a:solidFill>
            <a:prstDash val="solid"/>
          </a:ln>
        </p:spPr>
        <p:txBody>
          <a:bodyPr/>
          <a:lstStyle/>
          <a:p>
            <a:endParaRPr lang="es-AR"/>
          </a:p>
        </p:txBody>
      </p:sp>
      <p:sp>
        <p:nvSpPr>
          <p:cNvPr id="33" name="Text 31"/>
          <p:cNvSpPr/>
          <p:nvPr/>
        </p:nvSpPr>
        <p:spPr>
          <a:xfrm>
            <a:off x="4738467" y="3881628"/>
            <a:ext cx="2697480" cy="502920"/>
          </a:xfrm>
          <a:prstGeom prst="rect">
            <a:avLst/>
          </a:prstGeom>
          <a:noFill/>
          <a:ln/>
        </p:spPr>
        <p:txBody>
          <a:bodyPr wrap="square" rtlCol="0" anchor="ctr"/>
          <a:lstStyle/>
          <a:p>
            <a:pPr marL="0" indent="0">
              <a:buNone/>
            </a:pPr>
            <a:r>
              <a:rPr lang="en-US" sz="950" dirty="0">
                <a:solidFill>
                  <a:srgbClr val="E2E8F0"/>
                </a:solidFill>
              </a:rPr>
              <a:t>SQL Injection en búsqueda</a:t>
            </a:r>
            <a:endParaRPr lang="en-US" sz="950" dirty="0"/>
          </a:p>
        </p:txBody>
      </p:sp>
      <p:sp>
        <p:nvSpPr>
          <p:cNvPr id="34" name="Text 32"/>
          <p:cNvSpPr/>
          <p:nvPr/>
        </p:nvSpPr>
        <p:spPr>
          <a:xfrm>
            <a:off x="7435947" y="3881628"/>
            <a:ext cx="1325880" cy="502920"/>
          </a:xfrm>
          <a:prstGeom prst="rect">
            <a:avLst/>
          </a:prstGeom>
          <a:noFill/>
          <a:ln/>
        </p:spPr>
        <p:txBody>
          <a:bodyPr wrap="square" rtlCol="0" anchor="ctr"/>
          <a:lstStyle/>
          <a:p>
            <a:pPr marL="0" indent="0">
              <a:buNone/>
            </a:pPr>
            <a:r>
              <a:rPr lang="en-US" sz="900" b="1" dirty="0">
                <a:solidFill>
                  <a:srgbClr val="14B8A6"/>
                </a:solidFill>
              </a:rPr>
              <a:t>✅ Neutralizado por prepared stmt</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name="Slide 1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274320"/>
            <a:ext cx="1188720" cy="301752"/>
          </a:xfrm>
          <a:prstGeom prst="roundRect">
            <a:avLst>
              <a:gd name="adj" fmla="val 18182"/>
            </a:avLst>
          </a:prstGeom>
          <a:solidFill>
            <a:srgbClr val="0D9488"/>
          </a:solidFill>
          <a:ln w="12700">
            <a:solidFill>
              <a:srgbClr val="0D9488"/>
            </a:solidFill>
            <a:prstDash val="solid"/>
          </a:ln>
        </p:spPr>
        <p:txBody>
          <a:bodyPr/>
          <a:lstStyle/>
          <a:p>
            <a:endParaRPr lang="es-AR"/>
          </a:p>
        </p:txBody>
      </p:sp>
      <p:sp>
        <p:nvSpPr>
          <p:cNvPr id="3" name="Text 1"/>
          <p:cNvSpPr/>
          <p:nvPr/>
        </p:nvSpPr>
        <p:spPr>
          <a:xfrm>
            <a:off x="457200" y="274320"/>
            <a:ext cx="1188720" cy="301752"/>
          </a:xfrm>
          <a:prstGeom prst="rect">
            <a:avLst/>
          </a:prstGeom>
          <a:noFill/>
          <a:ln/>
        </p:spPr>
        <p:txBody>
          <a:bodyPr wrap="square" lIns="0" tIns="0" rIns="0" bIns="0" rtlCol="0" anchor="ctr"/>
          <a:lstStyle/>
          <a:p>
            <a:pPr marL="0" indent="0" algn="ctr">
              <a:buNone/>
            </a:pPr>
            <a:r>
              <a:rPr lang="en-US" sz="900" b="1" dirty="0">
                <a:solidFill>
                  <a:srgbClr val="FFFFFF"/>
                </a:solidFill>
              </a:rPr>
              <a:t>14 · ROADMAP</a:t>
            </a:r>
            <a:endParaRPr lang="en-US" sz="900" dirty="0"/>
          </a:p>
        </p:txBody>
      </p:sp>
      <p:sp>
        <p:nvSpPr>
          <p:cNvPr id="4" name="Text 2"/>
          <p:cNvSpPr/>
          <p:nvPr/>
        </p:nvSpPr>
        <p:spPr>
          <a:xfrm>
            <a:off x="457200" y="685800"/>
            <a:ext cx="8229600" cy="502920"/>
          </a:xfrm>
          <a:prstGeom prst="rect">
            <a:avLst/>
          </a:prstGeom>
          <a:noFill/>
          <a:ln/>
        </p:spPr>
        <p:txBody>
          <a:bodyPr wrap="square" rtlCol="0" anchor="ctr"/>
          <a:lstStyle/>
          <a:p>
            <a:pPr marL="0" indent="0">
              <a:buNone/>
            </a:pPr>
            <a:r>
              <a:rPr lang="en-US" sz="2400" b="1" dirty="0">
                <a:solidFill>
                  <a:srgbClr val="0F172A"/>
                </a:solidFill>
              </a:rPr>
              <a:t>De MVP a producto real.</a:t>
            </a:r>
            <a:endParaRPr lang="en-US" sz="2400" dirty="0"/>
          </a:p>
        </p:txBody>
      </p:sp>
      <p:sp>
        <p:nvSpPr>
          <p:cNvPr id="5" name="Shape 3"/>
          <p:cNvSpPr/>
          <p:nvPr/>
        </p:nvSpPr>
        <p:spPr>
          <a:xfrm>
            <a:off x="448056" y="1316736"/>
            <a:ext cx="2651760" cy="3355848"/>
          </a:xfrm>
          <a:prstGeom prst="roundRect">
            <a:avLst>
              <a:gd name="adj" fmla="val 4138"/>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6" name="Shape 4"/>
          <p:cNvSpPr/>
          <p:nvPr/>
        </p:nvSpPr>
        <p:spPr>
          <a:xfrm>
            <a:off x="457200" y="1325880"/>
            <a:ext cx="2651760" cy="594360"/>
          </a:xfrm>
          <a:prstGeom prst="roundRect">
            <a:avLst>
              <a:gd name="adj" fmla="val 18462"/>
            </a:avLst>
          </a:prstGeom>
          <a:solidFill>
            <a:srgbClr val="0D9488"/>
          </a:solidFill>
          <a:ln w="12700">
            <a:solidFill>
              <a:srgbClr val="0D9488"/>
            </a:solidFill>
            <a:prstDash val="solid"/>
          </a:ln>
        </p:spPr>
        <p:txBody>
          <a:bodyPr/>
          <a:lstStyle/>
          <a:p>
            <a:endParaRPr lang="es-AR"/>
          </a:p>
        </p:txBody>
      </p:sp>
      <p:sp>
        <p:nvSpPr>
          <p:cNvPr id="7" name="Text 5"/>
          <p:cNvSpPr/>
          <p:nvPr/>
        </p:nvSpPr>
        <p:spPr>
          <a:xfrm>
            <a:off x="548640" y="1325880"/>
            <a:ext cx="2468880" cy="594360"/>
          </a:xfrm>
          <a:prstGeom prst="rect">
            <a:avLst/>
          </a:prstGeom>
          <a:noFill/>
          <a:ln/>
        </p:spPr>
        <p:txBody>
          <a:bodyPr wrap="square" rtlCol="0" anchor="ctr"/>
          <a:lstStyle/>
          <a:p>
            <a:pPr marL="0" indent="0" algn="ctr">
              <a:buNone/>
            </a:pPr>
            <a:r>
              <a:rPr lang="en-US" sz="1200" b="1" dirty="0">
                <a:solidFill>
                  <a:srgbClr val="FFFFFF"/>
                </a:solidFill>
              </a:rPr>
              <a:t>🚀  MVP · HOY</a:t>
            </a:r>
            <a:endParaRPr lang="en-US" sz="1200" dirty="0"/>
          </a:p>
        </p:txBody>
      </p:sp>
      <p:sp>
        <p:nvSpPr>
          <p:cNvPr id="8" name="Shape 6"/>
          <p:cNvSpPr/>
          <p:nvPr/>
        </p:nvSpPr>
        <p:spPr>
          <a:xfrm>
            <a:off x="594360" y="2020824"/>
            <a:ext cx="128016" cy="128016"/>
          </a:xfrm>
          <a:prstGeom prst="ellipse">
            <a:avLst/>
          </a:prstGeom>
          <a:solidFill>
            <a:srgbClr val="E2E8F0"/>
          </a:solidFill>
          <a:ln w="12700">
            <a:solidFill>
              <a:srgbClr val="E2E8F0"/>
            </a:solidFill>
            <a:prstDash val="solid"/>
          </a:ln>
        </p:spPr>
        <p:txBody>
          <a:bodyPr/>
          <a:lstStyle/>
          <a:p>
            <a:endParaRPr lang="es-AR"/>
          </a:p>
        </p:txBody>
      </p:sp>
      <p:sp>
        <p:nvSpPr>
          <p:cNvPr id="9" name="Text 7"/>
          <p:cNvSpPr/>
          <p:nvPr/>
        </p:nvSpPr>
        <p:spPr>
          <a:xfrm>
            <a:off x="786384" y="1956816"/>
            <a:ext cx="2240280" cy="256032"/>
          </a:xfrm>
          <a:prstGeom prst="rect">
            <a:avLst/>
          </a:prstGeom>
          <a:noFill/>
          <a:ln/>
        </p:spPr>
        <p:txBody>
          <a:bodyPr wrap="square" rtlCol="0" anchor="ctr"/>
          <a:lstStyle/>
          <a:p>
            <a:pPr marL="0" indent="0">
              <a:lnSpc>
                <a:spcPct val="120000"/>
              </a:lnSpc>
              <a:buNone/>
            </a:pPr>
            <a:r>
              <a:rPr lang="en-US" sz="1050" dirty="0">
                <a:solidFill>
                  <a:srgbClr val="475569"/>
                </a:solidFill>
              </a:rPr>
              <a:t>PHP 8 MVC funcional</a:t>
            </a:r>
            <a:endParaRPr lang="en-US" sz="1050" dirty="0"/>
          </a:p>
        </p:txBody>
      </p:sp>
      <p:sp>
        <p:nvSpPr>
          <p:cNvPr id="10" name="Shape 8"/>
          <p:cNvSpPr/>
          <p:nvPr/>
        </p:nvSpPr>
        <p:spPr>
          <a:xfrm>
            <a:off x="594360" y="2505456"/>
            <a:ext cx="128016" cy="128016"/>
          </a:xfrm>
          <a:prstGeom prst="ellipse">
            <a:avLst/>
          </a:prstGeom>
          <a:solidFill>
            <a:srgbClr val="E2E8F0"/>
          </a:solidFill>
          <a:ln w="12700">
            <a:solidFill>
              <a:srgbClr val="E2E8F0"/>
            </a:solidFill>
            <a:prstDash val="solid"/>
          </a:ln>
        </p:spPr>
        <p:txBody>
          <a:bodyPr/>
          <a:lstStyle/>
          <a:p>
            <a:endParaRPr lang="es-AR"/>
          </a:p>
        </p:txBody>
      </p:sp>
      <p:sp>
        <p:nvSpPr>
          <p:cNvPr id="11" name="Text 9"/>
          <p:cNvSpPr/>
          <p:nvPr/>
        </p:nvSpPr>
        <p:spPr>
          <a:xfrm>
            <a:off x="786384" y="2441448"/>
            <a:ext cx="2240280" cy="219456"/>
          </a:xfrm>
          <a:prstGeom prst="rect">
            <a:avLst/>
          </a:prstGeom>
          <a:noFill/>
          <a:ln/>
        </p:spPr>
        <p:txBody>
          <a:bodyPr wrap="square" rtlCol="0" anchor="ctr"/>
          <a:lstStyle/>
          <a:p>
            <a:pPr marL="0" indent="0">
              <a:lnSpc>
                <a:spcPct val="120000"/>
              </a:lnSpc>
              <a:buNone/>
            </a:pPr>
            <a:r>
              <a:rPr lang="en-US" sz="1050" dirty="0">
                <a:solidFill>
                  <a:srgbClr val="475569"/>
                </a:solidFill>
              </a:rPr>
              <a:t>9 tablas + 2 triggers</a:t>
            </a:r>
            <a:endParaRPr lang="en-US" sz="1050" dirty="0"/>
          </a:p>
        </p:txBody>
      </p:sp>
      <p:sp>
        <p:nvSpPr>
          <p:cNvPr id="12" name="Shape 10"/>
          <p:cNvSpPr/>
          <p:nvPr/>
        </p:nvSpPr>
        <p:spPr>
          <a:xfrm>
            <a:off x="594360" y="2990088"/>
            <a:ext cx="128016" cy="128016"/>
          </a:xfrm>
          <a:prstGeom prst="ellipse">
            <a:avLst/>
          </a:prstGeom>
          <a:solidFill>
            <a:srgbClr val="E2E8F0"/>
          </a:solidFill>
          <a:ln w="12700">
            <a:solidFill>
              <a:srgbClr val="E2E8F0"/>
            </a:solidFill>
            <a:prstDash val="solid"/>
          </a:ln>
        </p:spPr>
        <p:txBody>
          <a:bodyPr/>
          <a:lstStyle/>
          <a:p>
            <a:endParaRPr lang="es-AR"/>
          </a:p>
        </p:txBody>
      </p:sp>
      <p:sp>
        <p:nvSpPr>
          <p:cNvPr id="13" name="Text 11"/>
          <p:cNvSpPr/>
          <p:nvPr/>
        </p:nvSpPr>
        <p:spPr>
          <a:xfrm>
            <a:off x="786384" y="2926080"/>
            <a:ext cx="2240280" cy="219456"/>
          </a:xfrm>
          <a:prstGeom prst="rect">
            <a:avLst/>
          </a:prstGeom>
          <a:noFill/>
          <a:ln/>
        </p:spPr>
        <p:txBody>
          <a:bodyPr wrap="square" rtlCol="0" anchor="ctr"/>
          <a:lstStyle/>
          <a:p>
            <a:pPr marL="0" indent="0">
              <a:lnSpc>
                <a:spcPct val="120000"/>
              </a:lnSpc>
              <a:buNone/>
            </a:pPr>
            <a:r>
              <a:rPr lang="en-US" sz="1050" dirty="0">
                <a:solidFill>
                  <a:srgbClr val="475569"/>
                </a:solidFill>
              </a:rPr>
              <a:t>Blockchain simulada (SHA-256)</a:t>
            </a:r>
            <a:endParaRPr lang="en-US" sz="1050" dirty="0"/>
          </a:p>
        </p:txBody>
      </p:sp>
      <p:sp>
        <p:nvSpPr>
          <p:cNvPr id="14" name="Shape 12"/>
          <p:cNvSpPr/>
          <p:nvPr/>
        </p:nvSpPr>
        <p:spPr>
          <a:xfrm>
            <a:off x="594360" y="3474720"/>
            <a:ext cx="128016" cy="128016"/>
          </a:xfrm>
          <a:prstGeom prst="ellipse">
            <a:avLst/>
          </a:prstGeom>
          <a:solidFill>
            <a:srgbClr val="E2E8F0"/>
          </a:solidFill>
          <a:ln w="12700">
            <a:solidFill>
              <a:srgbClr val="E2E8F0"/>
            </a:solidFill>
            <a:prstDash val="solid"/>
          </a:ln>
        </p:spPr>
        <p:txBody>
          <a:bodyPr/>
          <a:lstStyle/>
          <a:p>
            <a:endParaRPr lang="es-AR"/>
          </a:p>
        </p:txBody>
      </p:sp>
      <p:sp>
        <p:nvSpPr>
          <p:cNvPr id="15" name="Text 13"/>
          <p:cNvSpPr/>
          <p:nvPr/>
        </p:nvSpPr>
        <p:spPr>
          <a:xfrm>
            <a:off x="786384" y="3410712"/>
            <a:ext cx="2240280" cy="219456"/>
          </a:xfrm>
          <a:prstGeom prst="rect">
            <a:avLst/>
          </a:prstGeom>
          <a:noFill/>
          <a:ln/>
        </p:spPr>
        <p:txBody>
          <a:bodyPr wrap="square" rtlCol="0" anchor="ctr"/>
          <a:lstStyle/>
          <a:p>
            <a:pPr marL="0" indent="0">
              <a:lnSpc>
                <a:spcPct val="120000"/>
              </a:lnSpc>
              <a:buNone/>
            </a:pPr>
            <a:r>
              <a:rPr lang="en-US" sz="1050" dirty="0">
                <a:solidFill>
                  <a:srgbClr val="475569"/>
                </a:solidFill>
              </a:rPr>
              <a:t>IA por score ponderado</a:t>
            </a:r>
            <a:endParaRPr lang="en-US" sz="1050" dirty="0"/>
          </a:p>
        </p:txBody>
      </p:sp>
      <p:sp>
        <p:nvSpPr>
          <p:cNvPr id="16" name="Shape 14"/>
          <p:cNvSpPr/>
          <p:nvPr/>
        </p:nvSpPr>
        <p:spPr>
          <a:xfrm>
            <a:off x="594360" y="3959352"/>
            <a:ext cx="128016" cy="128016"/>
          </a:xfrm>
          <a:prstGeom prst="ellipse">
            <a:avLst/>
          </a:prstGeom>
          <a:solidFill>
            <a:srgbClr val="E2E8F0"/>
          </a:solidFill>
          <a:ln w="12700">
            <a:solidFill>
              <a:srgbClr val="E2E8F0"/>
            </a:solidFill>
            <a:prstDash val="solid"/>
          </a:ln>
        </p:spPr>
        <p:txBody>
          <a:bodyPr/>
          <a:lstStyle/>
          <a:p>
            <a:endParaRPr lang="es-AR"/>
          </a:p>
        </p:txBody>
      </p:sp>
      <p:sp>
        <p:nvSpPr>
          <p:cNvPr id="17" name="Text 15"/>
          <p:cNvSpPr/>
          <p:nvPr/>
        </p:nvSpPr>
        <p:spPr>
          <a:xfrm>
            <a:off x="786384" y="3895344"/>
            <a:ext cx="2240280" cy="219456"/>
          </a:xfrm>
          <a:prstGeom prst="rect">
            <a:avLst/>
          </a:prstGeom>
          <a:noFill/>
          <a:ln/>
        </p:spPr>
        <p:txBody>
          <a:bodyPr wrap="square" rtlCol="0" anchor="ctr"/>
          <a:lstStyle/>
          <a:p>
            <a:pPr marL="0" indent="0">
              <a:lnSpc>
                <a:spcPct val="120000"/>
              </a:lnSpc>
              <a:buNone/>
            </a:pPr>
            <a:r>
              <a:rPr lang="en-US" sz="1050" dirty="0">
                <a:solidFill>
                  <a:srgbClr val="475569"/>
                </a:solidFill>
              </a:rPr>
              <a:t>Roles: admin / tutor / alumno</a:t>
            </a:r>
            <a:endParaRPr lang="en-US" sz="1050" dirty="0"/>
          </a:p>
        </p:txBody>
      </p:sp>
      <p:sp>
        <p:nvSpPr>
          <p:cNvPr id="18" name="Shape 16"/>
          <p:cNvSpPr/>
          <p:nvPr/>
        </p:nvSpPr>
        <p:spPr>
          <a:xfrm>
            <a:off x="594360" y="4402836"/>
            <a:ext cx="128016" cy="128016"/>
          </a:xfrm>
          <a:prstGeom prst="ellipse">
            <a:avLst/>
          </a:prstGeom>
          <a:solidFill>
            <a:srgbClr val="E2E8F0"/>
          </a:solidFill>
          <a:ln w="12700">
            <a:solidFill>
              <a:srgbClr val="E2E8F0"/>
            </a:solidFill>
            <a:prstDash val="solid"/>
          </a:ln>
        </p:spPr>
        <p:txBody>
          <a:bodyPr/>
          <a:lstStyle/>
          <a:p>
            <a:endParaRPr lang="es-AR"/>
          </a:p>
        </p:txBody>
      </p:sp>
      <p:sp>
        <p:nvSpPr>
          <p:cNvPr id="19" name="Text 17"/>
          <p:cNvSpPr/>
          <p:nvPr/>
        </p:nvSpPr>
        <p:spPr>
          <a:xfrm>
            <a:off x="787322" y="4261104"/>
            <a:ext cx="2240280" cy="411480"/>
          </a:xfrm>
          <a:prstGeom prst="rect">
            <a:avLst/>
          </a:prstGeom>
          <a:noFill/>
          <a:ln/>
        </p:spPr>
        <p:txBody>
          <a:bodyPr wrap="square" rtlCol="0" anchor="ctr"/>
          <a:lstStyle/>
          <a:p>
            <a:pPr marL="0" indent="0">
              <a:lnSpc>
                <a:spcPct val="120000"/>
              </a:lnSpc>
              <a:buNone/>
            </a:pPr>
            <a:r>
              <a:rPr lang="en-US" sz="1050" dirty="0">
                <a:solidFill>
                  <a:srgbClr val="475569"/>
                </a:solidFill>
              </a:rPr>
              <a:t>Chat + calificaciones</a:t>
            </a:r>
            <a:endParaRPr lang="en-US" sz="1050" dirty="0"/>
          </a:p>
        </p:txBody>
      </p:sp>
      <p:sp>
        <p:nvSpPr>
          <p:cNvPr id="20" name="Shape 18"/>
          <p:cNvSpPr/>
          <p:nvPr/>
        </p:nvSpPr>
        <p:spPr>
          <a:xfrm>
            <a:off x="3291840" y="1325880"/>
            <a:ext cx="2651760" cy="3346704"/>
          </a:xfrm>
          <a:prstGeom prst="roundRect">
            <a:avLst>
              <a:gd name="adj" fmla="val 4138"/>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21" name="Shape 19"/>
          <p:cNvSpPr/>
          <p:nvPr/>
        </p:nvSpPr>
        <p:spPr>
          <a:xfrm>
            <a:off x="3291840" y="1325880"/>
            <a:ext cx="2651760" cy="594360"/>
          </a:xfrm>
          <a:prstGeom prst="roundRect">
            <a:avLst>
              <a:gd name="adj" fmla="val 18462"/>
            </a:avLst>
          </a:prstGeom>
          <a:solidFill>
            <a:srgbClr val="1E3A5F"/>
          </a:solidFill>
          <a:ln w="12700">
            <a:solidFill>
              <a:srgbClr val="1E3A5F"/>
            </a:solidFill>
            <a:prstDash val="solid"/>
          </a:ln>
        </p:spPr>
        <p:txBody>
          <a:bodyPr/>
          <a:lstStyle/>
          <a:p>
            <a:endParaRPr lang="es-AR"/>
          </a:p>
        </p:txBody>
      </p:sp>
      <p:sp>
        <p:nvSpPr>
          <p:cNvPr id="22" name="Text 20"/>
          <p:cNvSpPr/>
          <p:nvPr/>
        </p:nvSpPr>
        <p:spPr>
          <a:xfrm>
            <a:off x="3383280" y="1325880"/>
            <a:ext cx="2468880" cy="594360"/>
          </a:xfrm>
          <a:prstGeom prst="rect">
            <a:avLst/>
          </a:prstGeom>
          <a:noFill/>
          <a:ln/>
        </p:spPr>
        <p:txBody>
          <a:bodyPr wrap="square" rtlCol="0" anchor="ctr"/>
          <a:lstStyle/>
          <a:p>
            <a:pPr marL="0" indent="0" algn="ctr">
              <a:buNone/>
            </a:pPr>
            <a:r>
              <a:rPr lang="en-US" sz="1200" b="1" dirty="0">
                <a:solidFill>
                  <a:srgbClr val="14B8A6"/>
                </a:solidFill>
              </a:rPr>
              <a:t>⚙️  v2.0 · 3 MESES</a:t>
            </a:r>
            <a:endParaRPr lang="en-US" sz="1200" dirty="0"/>
          </a:p>
        </p:txBody>
      </p:sp>
      <p:sp>
        <p:nvSpPr>
          <p:cNvPr id="23" name="Shape 21"/>
          <p:cNvSpPr/>
          <p:nvPr/>
        </p:nvSpPr>
        <p:spPr>
          <a:xfrm>
            <a:off x="3429000" y="2020824"/>
            <a:ext cx="128016" cy="128016"/>
          </a:xfrm>
          <a:prstGeom prst="ellipse">
            <a:avLst/>
          </a:prstGeom>
          <a:solidFill>
            <a:srgbClr val="E2E8F0"/>
          </a:solidFill>
          <a:ln w="12700">
            <a:solidFill>
              <a:srgbClr val="E2E8F0"/>
            </a:solidFill>
            <a:prstDash val="solid"/>
          </a:ln>
        </p:spPr>
        <p:txBody>
          <a:bodyPr/>
          <a:lstStyle/>
          <a:p>
            <a:endParaRPr lang="es-AR"/>
          </a:p>
        </p:txBody>
      </p:sp>
      <p:sp>
        <p:nvSpPr>
          <p:cNvPr id="24" name="Text 22"/>
          <p:cNvSpPr/>
          <p:nvPr/>
        </p:nvSpPr>
        <p:spPr>
          <a:xfrm>
            <a:off x="3621024" y="1956816"/>
            <a:ext cx="2240280" cy="256032"/>
          </a:xfrm>
          <a:prstGeom prst="rect">
            <a:avLst/>
          </a:prstGeom>
          <a:noFill/>
          <a:ln/>
        </p:spPr>
        <p:txBody>
          <a:bodyPr wrap="square" rtlCol="0" anchor="ctr"/>
          <a:lstStyle/>
          <a:p>
            <a:pPr marL="0" indent="0">
              <a:lnSpc>
                <a:spcPct val="120000"/>
              </a:lnSpc>
              <a:buNone/>
            </a:pPr>
            <a:r>
              <a:rPr lang="en-US" sz="1050" dirty="0">
                <a:solidFill>
                  <a:srgbClr val="475569"/>
                </a:solidFill>
              </a:rPr>
              <a:t>Blockchain real (Infura + web3.php)</a:t>
            </a:r>
            <a:endParaRPr lang="en-US" sz="1050" dirty="0"/>
          </a:p>
        </p:txBody>
      </p:sp>
      <p:sp>
        <p:nvSpPr>
          <p:cNvPr id="25" name="Shape 23"/>
          <p:cNvSpPr/>
          <p:nvPr/>
        </p:nvSpPr>
        <p:spPr>
          <a:xfrm>
            <a:off x="3429000" y="2505456"/>
            <a:ext cx="128016" cy="128016"/>
          </a:xfrm>
          <a:prstGeom prst="ellipse">
            <a:avLst/>
          </a:prstGeom>
          <a:solidFill>
            <a:srgbClr val="E2E8F0"/>
          </a:solidFill>
          <a:ln w="12700">
            <a:solidFill>
              <a:srgbClr val="E2E8F0"/>
            </a:solidFill>
            <a:prstDash val="solid"/>
          </a:ln>
        </p:spPr>
        <p:txBody>
          <a:bodyPr/>
          <a:lstStyle/>
          <a:p>
            <a:endParaRPr lang="es-AR"/>
          </a:p>
        </p:txBody>
      </p:sp>
      <p:sp>
        <p:nvSpPr>
          <p:cNvPr id="26" name="Text 24"/>
          <p:cNvSpPr/>
          <p:nvPr/>
        </p:nvSpPr>
        <p:spPr>
          <a:xfrm>
            <a:off x="3621024" y="2441448"/>
            <a:ext cx="2240280" cy="192024"/>
          </a:xfrm>
          <a:prstGeom prst="rect">
            <a:avLst/>
          </a:prstGeom>
          <a:noFill/>
          <a:ln/>
        </p:spPr>
        <p:txBody>
          <a:bodyPr wrap="square" rtlCol="0" anchor="ctr"/>
          <a:lstStyle/>
          <a:p>
            <a:pPr marL="0" indent="0">
              <a:lnSpc>
                <a:spcPct val="120000"/>
              </a:lnSpc>
              <a:buNone/>
            </a:pPr>
            <a:r>
              <a:rPr lang="en-US" sz="1050" dirty="0">
                <a:solidFill>
                  <a:srgbClr val="475569"/>
                </a:solidFill>
              </a:rPr>
              <a:t>Notificaciones email (SMTP)</a:t>
            </a:r>
            <a:endParaRPr lang="en-US" sz="1050" dirty="0"/>
          </a:p>
        </p:txBody>
      </p:sp>
      <p:sp>
        <p:nvSpPr>
          <p:cNvPr id="27" name="Shape 25"/>
          <p:cNvSpPr/>
          <p:nvPr/>
        </p:nvSpPr>
        <p:spPr>
          <a:xfrm>
            <a:off x="3429000" y="2990088"/>
            <a:ext cx="128016" cy="128016"/>
          </a:xfrm>
          <a:prstGeom prst="ellipse">
            <a:avLst/>
          </a:prstGeom>
          <a:solidFill>
            <a:srgbClr val="E2E8F0"/>
          </a:solidFill>
          <a:ln w="12700">
            <a:solidFill>
              <a:srgbClr val="E2E8F0"/>
            </a:solidFill>
            <a:prstDash val="solid"/>
          </a:ln>
        </p:spPr>
        <p:txBody>
          <a:bodyPr/>
          <a:lstStyle/>
          <a:p>
            <a:endParaRPr lang="es-AR"/>
          </a:p>
        </p:txBody>
      </p:sp>
      <p:sp>
        <p:nvSpPr>
          <p:cNvPr id="28" name="Text 26"/>
          <p:cNvSpPr/>
          <p:nvPr/>
        </p:nvSpPr>
        <p:spPr>
          <a:xfrm>
            <a:off x="3621024" y="2926080"/>
            <a:ext cx="2240280" cy="219456"/>
          </a:xfrm>
          <a:prstGeom prst="rect">
            <a:avLst/>
          </a:prstGeom>
          <a:noFill/>
          <a:ln/>
        </p:spPr>
        <p:txBody>
          <a:bodyPr wrap="square" rtlCol="0" anchor="ctr"/>
          <a:lstStyle/>
          <a:p>
            <a:pPr marL="0" indent="0">
              <a:lnSpc>
                <a:spcPct val="120000"/>
              </a:lnSpc>
              <a:buNone/>
            </a:pPr>
            <a:r>
              <a:rPr lang="en-US" sz="1050" dirty="0">
                <a:solidFill>
                  <a:srgbClr val="475569"/>
                </a:solidFill>
              </a:rPr>
              <a:t>Chat en tiempo real (WebSocket)</a:t>
            </a:r>
            <a:endParaRPr lang="en-US" sz="1050" dirty="0"/>
          </a:p>
        </p:txBody>
      </p:sp>
      <p:sp>
        <p:nvSpPr>
          <p:cNvPr id="29" name="Shape 27"/>
          <p:cNvSpPr/>
          <p:nvPr/>
        </p:nvSpPr>
        <p:spPr>
          <a:xfrm>
            <a:off x="3429000" y="3474720"/>
            <a:ext cx="128016" cy="128016"/>
          </a:xfrm>
          <a:prstGeom prst="ellipse">
            <a:avLst/>
          </a:prstGeom>
          <a:solidFill>
            <a:srgbClr val="E2E8F0"/>
          </a:solidFill>
          <a:ln w="12700">
            <a:solidFill>
              <a:srgbClr val="E2E8F0"/>
            </a:solidFill>
            <a:prstDash val="solid"/>
          </a:ln>
        </p:spPr>
        <p:txBody>
          <a:bodyPr/>
          <a:lstStyle/>
          <a:p>
            <a:endParaRPr lang="es-AR"/>
          </a:p>
        </p:txBody>
      </p:sp>
      <p:sp>
        <p:nvSpPr>
          <p:cNvPr id="30" name="Text 28"/>
          <p:cNvSpPr/>
          <p:nvPr/>
        </p:nvSpPr>
        <p:spPr>
          <a:xfrm>
            <a:off x="3621024" y="3410712"/>
            <a:ext cx="2240280" cy="192024"/>
          </a:xfrm>
          <a:prstGeom prst="rect">
            <a:avLst/>
          </a:prstGeom>
          <a:noFill/>
          <a:ln/>
        </p:spPr>
        <p:txBody>
          <a:bodyPr wrap="square" rtlCol="0" anchor="ctr"/>
          <a:lstStyle/>
          <a:p>
            <a:pPr marL="0" indent="0">
              <a:lnSpc>
                <a:spcPct val="120000"/>
              </a:lnSpc>
              <a:buNone/>
            </a:pPr>
            <a:r>
              <a:rPr lang="en-US" sz="1050" dirty="0">
                <a:solidFill>
                  <a:srgbClr val="475569"/>
                </a:solidFill>
              </a:rPr>
              <a:t>Dashboard analíticas para tutores</a:t>
            </a:r>
            <a:endParaRPr lang="en-US" sz="1050" dirty="0"/>
          </a:p>
        </p:txBody>
      </p:sp>
      <p:sp>
        <p:nvSpPr>
          <p:cNvPr id="31" name="Shape 29"/>
          <p:cNvSpPr/>
          <p:nvPr/>
        </p:nvSpPr>
        <p:spPr>
          <a:xfrm>
            <a:off x="3429000" y="3959352"/>
            <a:ext cx="128016" cy="128016"/>
          </a:xfrm>
          <a:prstGeom prst="ellipse">
            <a:avLst/>
          </a:prstGeom>
          <a:solidFill>
            <a:srgbClr val="E2E8F0"/>
          </a:solidFill>
          <a:ln w="12700">
            <a:solidFill>
              <a:srgbClr val="E2E8F0"/>
            </a:solidFill>
            <a:prstDash val="solid"/>
          </a:ln>
        </p:spPr>
        <p:txBody>
          <a:bodyPr/>
          <a:lstStyle/>
          <a:p>
            <a:endParaRPr lang="es-AR"/>
          </a:p>
        </p:txBody>
      </p:sp>
      <p:sp>
        <p:nvSpPr>
          <p:cNvPr id="32" name="Text 30"/>
          <p:cNvSpPr/>
          <p:nvPr/>
        </p:nvSpPr>
        <p:spPr>
          <a:xfrm>
            <a:off x="3621024" y="3895344"/>
            <a:ext cx="2240280" cy="219456"/>
          </a:xfrm>
          <a:prstGeom prst="rect">
            <a:avLst/>
          </a:prstGeom>
          <a:noFill/>
          <a:ln/>
        </p:spPr>
        <p:txBody>
          <a:bodyPr wrap="square" rtlCol="0" anchor="ctr"/>
          <a:lstStyle/>
          <a:p>
            <a:pPr marL="0" indent="0">
              <a:lnSpc>
                <a:spcPct val="120000"/>
              </a:lnSpc>
              <a:buNone/>
            </a:pPr>
            <a:r>
              <a:rPr lang="en-US" sz="1050" dirty="0">
                <a:solidFill>
                  <a:srgbClr val="475569"/>
                </a:solidFill>
              </a:rPr>
              <a:t>App móvil (PWA)</a:t>
            </a:r>
            <a:endParaRPr lang="en-US" sz="1050" dirty="0"/>
          </a:p>
        </p:txBody>
      </p:sp>
      <p:sp>
        <p:nvSpPr>
          <p:cNvPr id="33" name="Shape 31"/>
          <p:cNvSpPr/>
          <p:nvPr/>
        </p:nvSpPr>
        <p:spPr>
          <a:xfrm>
            <a:off x="3423373" y="4402836"/>
            <a:ext cx="128016" cy="128016"/>
          </a:xfrm>
          <a:prstGeom prst="ellipse">
            <a:avLst/>
          </a:prstGeom>
          <a:solidFill>
            <a:srgbClr val="E2E8F0"/>
          </a:solidFill>
          <a:ln w="12700">
            <a:solidFill>
              <a:srgbClr val="E2E8F0"/>
            </a:solidFill>
            <a:prstDash val="solid"/>
          </a:ln>
        </p:spPr>
        <p:txBody>
          <a:bodyPr/>
          <a:lstStyle/>
          <a:p>
            <a:endParaRPr lang="es-AR"/>
          </a:p>
        </p:txBody>
      </p:sp>
      <p:sp>
        <p:nvSpPr>
          <p:cNvPr id="34" name="Text 32"/>
          <p:cNvSpPr/>
          <p:nvPr/>
        </p:nvSpPr>
        <p:spPr>
          <a:xfrm>
            <a:off x="3621024" y="4379976"/>
            <a:ext cx="2240280" cy="155448"/>
          </a:xfrm>
          <a:prstGeom prst="rect">
            <a:avLst/>
          </a:prstGeom>
          <a:noFill/>
          <a:ln/>
        </p:spPr>
        <p:txBody>
          <a:bodyPr wrap="square" rtlCol="0" anchor="ctr"/>
          <a:lstStyle/>
          <a:p>
            <a:pPr marL="0" indent="0">
              <a:lnSpc>
                <a:spcPct val="120000"/>
              </a:lnSpc>
              <a:buNone/>
            </a:pPr>
            <a:r>
              <a:rPr lang="en-US" sz="1050" dirty="0">
                <a:solidFill>
                  <a:srgbClr val="475569"/>
                </a:solidFill>
              </a:rPr>
              <a:t>API REST pública</a:t>
            </a:r>
            <a:endParaRPr lang="en-US" sz="1050" dirty="0"/>
          </a:p>
        </p:txBody>
      </p:sp>
      <p:sp>
        <p:nvSpPr>
          <p:cNvPr id="35" name="Shape 33"/>
          <p:cNvSpPr/>
          <p:nvPr/>
        </p:nvSpPr>
        <p:spPr>
          <a:xfrm>
            <a:off x="6116400" y="1325880"/>
            <a:ext cx="2651760" cy="3346704"/>
          </a:xfrm>
          <a:prstGeom prst="roundRect">
            <a:avLst>
              <a:gd name="adj" fmla="val 4138"/>
            </a:avLst>
          </a:prstGeom>
          <a:solidFill>
            <a:srgbClr val="FFFFFF"/>
          </a:solidFill>
          <a:ln w="12700">
            <a:solidFill>
              <a:srgbClr val="E2E8F0"/>
            </a:solidFill>
            <a:prstDash val="solid"/>
          </a:ln>
          <a:effectLst>
            <a:outerShdw blurRad="101600" dist="38100" dir="2700000" algn="bl" rotWithShape="0">
              <a:srgbClr val="000000">
                <a:alpha val="18000"/>
              </a:srgbClr>
            </a:outerShdw>
          </a:effectLst>
        </p:spPr>
        <p:txBody>
          <a:bodyPr/>
          <a:lstStyle/>
          <a:p>
            <a:endParaRPr lang="es-AR"/>
          </a:p>
        </p:txBody>
      </p:sp>
      <p:sp>
        <p:nvSpPr>
          <p:cNvPr id="36" name="Shape 34"/>
          <p:cNvSpPr/>
          <p:nvPr/>
        </p:nvSpPr>
        <p:spPr>
          <a:xfrm>
            <a:off x="6126480" y="1325880"/>
            <a:ext cx="2651760" cy="594360"/>
          </a:xfrm>
          <a:prstGeom prst="roundRect">
            <a:avLst>
              <a:gd name="adj" fmla="val 18462"/>
            </a:avLst>
          </a:prstGeom>
          <a:solidFill>
            <a:srgbClr val="1A1A2E"/>
          </a:solidFill>
          <a:ln w="12700">
            <a:solidFill>
              <a:srgbClr val="1A1A2E"/>
            </a:solidFill>
            <a:prstDash val="solid"/>
          </a:ln>
        </p:spPr>
        <p:txBody>
          <a:bodyPr/>
          <a:lstStyle/>
          <a:p>
            <a:endParaRPr lang="es-AR"/>
          </a:p>
        </p:txBody>
      </p:sp>
      <p:sp>
        <p:nvSpPr>
          <p:cNvPr id="37" name="Text 35"/>
          <p:cNvSpPr/>
          <p:nvPr/>
        </p:nvSpPr>
        <p:spPr>
          <a:xfrm>
            <a:off x="6217920" y="1325880"/>
            <a:ext cx="2468880" cy="594360"/>
          </a:xfrm>
          <a:prstGeom prst="rect">
            <a:avLst/>
          </a:prstGeom>
          <a:noFill/>
          <a:ln/>
        </p:spPr>
        <p:txBody>
          <a:bodyPr wrap="square" rtlCol="0" anchor="ctr"/>
          <a:lstStyle/>
          <a:p>
            <a:pPr marL="0" indent="0" algn="ctr">
              <a:buNone/>
            </a:pPr>
            <a:r>
              <a:rPr lang="en-US" sz="1200" b="1" dirty="0">
                <a:solidFill>
                  <a:srgbClr val="F59E0B"/>
                </a:solidFill>
              </a:rPr>
              <a:t>🌐  v3.0 · 12 MESES</a:t>
            </a:r>
            <a:endParaRPr lang="en-US" sz="1200" dirty="0"/>
          </a:p>
        </p:txBody>
      </p:sp>
      <p:sp>
        <p:nvSpPr>
          <p:cNvPr id="38" name="Shape 36"/>
          <p:cNvSpPr/>
          <p:nvPr/>
        </p:nvSpPr>
        <p:spPr>
          <a:xfrm>
            <a:off x="6263640" y="2020824"/>
            <a:ext cx="128016" cy="128016"/>
          </a:xfrm>
          <a:prstGeom prst="ellipse">
            <a:avLst/>
          </a:prstGeom>
          <a:solidFill>
            <a:srgbClr val="E2E8F0"/>
          </a:solidFill>
          <a:ln w="12700">
            <a:solidFill>
              <a:srgbClr val="E2E8F0"/>
            </a:solidFill>
            <a:prstDash val="solid"/>
          </a:ln>
        </p:spPr>
        <p:txBody>
          <a:bodyPr/>
          <a:lstStyle/>
          <a:p>
            <a:endParaRPr lang="es-AR"/>
          </a:p>
        </p:txBody>
      </p:sp>
      <p:sp>
        <p:nvSpPr>
          <p:cNvPr id="39" name="Text 37"/>
          <p:cNvSpPr/>
          <p:nvPr/>
        </p:nvSpPr>
        <p:spPr>
          <a:xfrm>
            <a:off x="6455664" y="1956816"/>
            <a:ext cx="2240280" cy="192024"/>
          </a:xfrm>
          <a:prstGeom prst="rect">
            <a:avLst/>
          </a:prstGeom>
          <a:noFill/>
          <a:ln/>
        </p:spPr>
        <p:txBody>
          <a:bodyPr wrap="square" rtlCol="0" anchor="ctr"/>
          <a:lstStyle/>
          <a:p>
            <a:pPr marL="0" indent="0">
              <a:lnSpc>
                <a:spcPct val="120000"/>
              </a:lnSpc>
              <a:buNone/>
            </a:pPr>
            <a:r>
              <a:rPr lang="en-US" sz="1050" dirty="0">
                <a:solidFill>
                  <a:srgbClr val="475569"/>
                </a:solidFill>
              </a:rPr>
              <a:t>Modelo ML (collaborative filtering)</a:t>
            </a:r>
            <a:endParaRPr lang="en-US" sz="1050" dirty="0"/>
          </a:p>
        </p:txBody>
      </p:sp>
      <p:sp>
        <p:nvSpPr>
          <p:cNvPr id="40" name="Shape 38"/>
          <p:cNvSpPr/>
          <p:nvPr/>
        </p:nvSpPr>
        <p:spPr>
          <a:xfrm>
            <a:off x="6263640" y="2505456"/>
            <a:ext cx="128016" cy="128016"/>
          </a:xfrm>
          <a:prstGeom prst="ellipse">
            <a:avLst/>
          </a:prstGeom>
          <a:solidFill>
            <a:srgbClr val="E2E8F0"/>
          </a:solidFill>
          <a:ln w="12700">
            <a:solidFill>
              <a:srgbClr val="E2E8F0"/>
            </a:solidFill>
            <a:prstDash val="solid"/>
          </a:ln>
        </p:spPr>
        <p:txBody>
          <a:bodyPr/>
          <a:lstStyle/>
          <a:p>
            <a:endParaRPr lang="es-AR"/>
          </a:p>
        </p:txBody>
      </p:sp>
      <p:sp>
        <p:nvSpPr>
          <p:cNvPr id="41" name="Text 39"/>
          <p:cNvSpPr/>
          <p:nvPr/>
        </p:nvSpPr>
        <p:spPr>
          <a:xfrm>
            <a:off x="6455664" y="2441448"/>
            <a:ext cx="2240280" cy="192024"/>
          </a:xfrm>
          <a:prstGeom prst="rect">
            <a:avLst/>
          </a:prstGeom>
          <a:noFill/>
          <a:ln/>
        </p:spPr>
        <p:txBody>
          <a:bodyPr wrap="square" rtlCol="0" anchor="ctr"/>
          <a:lstStyle/>
          <a:p>
            <a:pPr marL="0" indent="0">
              <a:lnSpc>
                <a:spcPct val="120000"/>
              </a:lnSpc>
              <a:buNone/>
            </a:pPr>
            <a:r>
              <a:rPr lang="en-US" sz="1050" dirty="0">
                <a:solidFill>
                  <a:srgbClr val="475569"/>
                </a:solidFill>
              </a:rPr>
              <a:t>Red multi-universidad</a:t>
            </a:r>
            <a:endParaRPr lang="en-US" sz="1050" dirty="0"/>
          </a:p>
        </p:txBody>
      </p:sp>
      <p:sp>
        <p:nvSpPr>
          <p:cNvPr id="42" name="Shape 40"/>
          <p:cNvSpPr/>
          <p:nvPr/>
        </p:nvSpPr>
        <p:spPr>
          <a:xfrm>
            <a:off x="6263640" y="2990088"/>
            <a:ext cx="128016" cy="128016"/>
          </a:xfrm>
          <a:prstGeom prst="ellipse">
            <a:avLst/>
          </a:prstGeom>
          <a:solidFill>
            <a:srgbClr val="E2E8F0"/>
          </a:solidFill>
          <a:ln w="12700">
            <a:solidFill>
              <a:srgbClr val="E2E8F0"/>
            </a:solidFill>
            <a:prstDash val="solid"/>
          </a:ln>
        </p:spPr>
        <p:txBody>
          <a:bodyPr/>
          <a:lstStyle/>
          <a:p>
            <a:endParaRPr lang="es-AR"/>
          </a:p>
        </p:txBody>
      </p:sp>
      <p:sp>
        <p:nvSpPr>
          <p:cNvPr id="43" name="Text 41"/>
          <p:cNvSpPr/>
          <p:nvPr/>
        </p:nvSpPr>
        <p:spPr>
          <a:xfrm>
            <a:off x="6455664" y="2926080"/>
            <a:ext cx="2240280" cy="192024"/>
          </a:xfrm>
          <a:prstGeom prst="rect">
            <a:avLst/>
          </a:prstGeom>
          <a:noFill/>
          <a:ln/>
        </p:spPr>
        <p:txBody>
          <a:bodyPr wrap="square" rtlCol="0" anchor="ctr"/>
          <a:lstStyle/>
          <a:p>
            <a:pPr marL="0" indent="0">
              <a:lnSpc>
                <a:spcPct val="120000"/>
              </a:lnSpc>
              <a:buNone/>
            </a:pPr>
            <a:r>
              <a:rPr lang="en-US" sz="1050" dirty="0">
                <a:solidFill>
                  <a:srgbClr val="475569"/>
                </a:solidFill>
              </a:rPr>
              <a:t>Tokenización de reputación (NFT)</a:t>
            </a:r>
            <a:endParaRPr lang="en-US" sz="1050" dirty="0"/>
          </a:p>
        </p:txBody>
      </p:sp>
      <p:sp>
        <p:nvSpPr>
          <p:cNvPr id="44" name="Shape 42"/>
          <p:cNvSpPr/>
          <p:nvPr/>
        </p:nvSpPr>
        <p:spPr>
          <a:xfrm>
            <a:off x="6263640" y="3474720"/>
            <a:ext cx="128016" cy="128016"/>
          </a:xfrm>
          <a:prstGeom prst="ellipse">
            <a:avLst/>
          </a:prstGeom>
          <a:solidFill>
            <a:srgbClr val="E2E8F0"/>
          </a:solidFill>
          <a:ln w="12700">
            <a:solidFill>
              <a:srgbClr val="E2E8F0"/>
            </a:solidFill>
            <a:prstDash val="solid"/>
          </a:ln>
        </p:spPr>
        <p:txBody>
          <a:bodyPr/>
          <a:lstStyle/>
          <a:p>
            <a:endParaRPr lang="es-AR"/>
          </a:p>
        </p:txBody>
      </p:sp>
      <p:sp>
        <p:nvSpPr>
          <p:cNvPr id="45" name="Text 43"/>
          <p:cNvSpPr/>
          <p:nvPr/>
        </p:nvSpPr>
        <p:spPr>
          <a:xfrm>
            <a:off x="6455664" y="3410712"/>
            <a:ext cx="2240280" cy="192024"/>
          </a:xfrm>
          <a:prstGeom prst="rect">
            <a:avLst/>
          </a:prstGeom>
          <a:noFill/>
          <a:ln/>
        </p:spPr>
        <p:txBody>
          <a:bodyPr wrap="square" rtlCol="0" anchor="ctr"/>
          <a:lstStyle/>
          <a:p>
            <a:pPr marL="0" indent="0">
              <a:lnSpc>
                <a:spcPct val="120000"/>
              </a:lnSpc>
              <a:buNone/>
            </a:pPr>
            <a:r>
              <a:rPr lang="en-US" sz="1050" dirty="0">
                <a:solidFill>
                  <a:srgbClr val="475569"/>
                </a:solidFill>
              </a:rPr>
              <a:t>Pagos reales en ETH / stablecoins</a:t>
            </a:r>
            <a:endParaRPr lang="en-US" sz="1050" dirty="0"/>
          </a:p>
        </p:txBody>
      </p:sp>
      <p:sp>
        <p:nvSpPr>
          <p:cNvPr id="46" name="Shape 44"/>
          <p:cNvSpPr/>
          <p:nvPr/>
        </p:nvSpPr>
        <p:spPr>
          <a:xfrm>
            <a:off x="6263640" y="3959352"/>
            <a:ext cx="128016" cy="128016"/>
          </a:xfrm>
          <a:prstGeom prst="ellipse">
            <a:avLst/>
          </a:prstGeom>
          <a:solidFill>
            <a:srgbClr val="E2E8F0"/>
          </a:solidFill>
          <a:ln w="12700">
            <a:solidFill>
              <a:srgbClr val="E2E8F0"/>
            </a:solidFill>
            <a:prstDash val="solid"/>
          </a:ln>
        </p:spPr>
        <p:txBody>
          <a:bodyPr/>
          <a:lstStyle/>
          <a:p>
            <a:endParaRPr lang="es-AR"/>
          </a:p>
        </p:txBody>
      </p:sp>
      <p:sp>
        <p:nvSpPr>
          <p:cNvPr id="47" name="Text 45"/>
          <p:cNvSpPr/>
          <p:nvPr/>
        </p:nvSpPr>
        <p:spPr>
          <a:xfrm>
            <a:off x="6455664" y="3895344"/>
            <a:ext cx="2240280" cy="219456"/>
          </a:xfrm>
          <a:prstGeom prst="rect">
            <a:avLst/>
          </a:prstGeom>
          <a:noFill/>
          <a:ln/>
        </p:spPr>
        <p:txBody>
          <a:bodyPr wrap="square" rtlCol="0" anchor="ctr"/>
          <a:lstStyle/>
          <a:p>
            <a:pPr marL="0" indent="0">
              <a:lnSpc>
                <a:spcPct val="120000"/>
              </a:lnSpc>
              <a:buNone/>
            </a:pPr>
            <a:r>
              <a:rPr lang="en-US" sz="1050" dirty="0">
                <a:solidFill>
                  <a:srgbClr val="475569"/>
                </a:solidFill>
              </a:rPr>
              <a:t>Integración con SIU-Guaraní</a:t>
            </a:r>
            <a:endParaRPr lang="en-US" sz="1050" dirty="0"/>
          </a:p>
        </p:txBody>
      </p:sp>
      <p:sp>
        <p:nvSpPr>
          <p:cNvPr id="48" name="Shape 46"/>
          <p:cNvSpPr/>
          <p:nvPr/>
        </p:nvSpPr>
        <p:spPr>
          <a:xfrm>
            <a:off x="6263640" y="4409753"/>
            <a:ext cx="128016" cy="128016"/>
          </a:xfrm>
          <a:prstGeom prst="ellipse">
            <a:avLst/>
          </a:prstGeom>
          <a:solidFill>
            <a:srgbClr val="E2E8F0"/>
          </a:solidFill>
          <a:ln w="12700">
            <a:solidFill>
              <a:srgbClr val="E2E8F0"/>
            </a:solidFill>
            <a:prstDash val="solid"/>
          </a:ln>
        </p:spPr>
        <p:txBody>
          <a:bodyPr/>
          <a:lstStyle/>
          <a:p>
            <a:endParaRPr lang="es-AR"/>
          </a:p>
        </p:txBody>
      </p:sp>
      <p:sp>
        <p:nvSpPr>
          <p:cNvPr id="49" name="Text 47"/>
          <p:cNvSpPr/>
          <p:nvPr/>
        </p:nvSpPr>
        <p:spPr>
          <a:xfrm>
            <a:off x="6455664" y="4379976"/>
            <a:ext cx="2240280" cy="146304"/>
          </a:xfrm>
          <a:prstGeom prst="rect">
            <a:avLst/>
          </a:prstGeom>
          <a:noFill/>
          <a:ln/>
        </p:spPr>
        <p:txBody>
          <a:bodyPr wrap="square" rtlCol="0" anchor="ctr"/>
          <a:lstStyle/>
          <a:p>
            <a:pPr marL="0" indent="0">
              <a:lnSpc>
                <a:spcPct val="120000"/>
              </a:lnSpc>
              <a:buNone/>
            </a:pPr>
            <a:r>
              <a:rPr lang="en-US" sz="1050" dirty="0">
                <a:solidFill>
                  <a:srgbClr val="475569"/>
                </a:solidFill>
              </a:rPr>
              <a:t>Licencias B2B para instituciones</a:t>
            </a:r>
            <a:endParaRPr lang="en-US" sz="1050" dirty="0"/>
          </a:p>
        </p:txBody>
      </p:sp>
      <p:sp>
        <p:nvSpPr>
          <p:cNvPr id="50" name="Shape 48"/>
          <p:cNvSpPr/>
          <p:nvPr/>
        </p:nvSpPr>
        <p:spPr>
          <a:xfrm>
            <a:off x="457200" y="4754880"/>
            <a:ext cx="8229600" cy="274320"/>
          </a:xfrm>
          <a:prstGeom prst="roundRect">
            <a:avLst>
              <a:gd name="adj" fmla="val 20000"/>
            </a:avLst>
          </a:prstGeom>
          <a:solidFill>
            <a:srgbClr val="ECFDF5"/>
          </a:solidFill>
          <a:ln w="12700">
            <a:solidFill>
              <a:srgbClr val="0D9488"/>
            </a:solidFill>
            <a:prstDash val="solid"/>
          </a:ln>
        </p:spPr>
        <p:txBody>
          <a:bodyPr/>
          <a:lstStyle/>
          <a:p>
            <a:endParaRPr lang="es-AR"/>
          </a:p>
        </p:txBody>
      </p:sp>
      <p:sp>
        <p:nvSpPr>
          <p:cNvPr id="51" name="Text 49"/>
          <p:cNvSpPr/>
          <p:nvPr/>
        </p:nvSpPr>
        <p:spPr>
          <a:xfrm>
            <a:off x="594360" y="4773168"/>
            <a:ext cx="7955280" cy="237744"/>
          </a:xfrm>
          <a:prstGeom prst="rect">
            <a:avLst/>
          </a:prstGeom>
          <a:noFill/>
          <a:ln/>
        </p:spPr>
        <p:txBody>
          <a:bodyPr wrap="square" rtlCol="0" anchor="ctr"/>
          <a:lstStyle/>
          <a:p>
            <a:pPr marL="0" indent="0">
              <a:buNone/>
            </a:pPr>
            <a:r>
              <a:rPr lang="en-US" sz="1000" b="1" dirty="0">
                <a:solidFill>
                  <a:srgbClr val="065F46"/>
                </a:solidFill>
              </a:rPr>
              <a:t>🎯  Objetivo: reducir la deserción universitaria con tecnología accesible, escalable y verificable.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914400" y="2286000"/>
            <a:ext cx="4572000" cy="4572000"/>
          </a:xfrm>
          <a:prstGeom prst="ellipse">
            <a:avLst/>
          </a:prstGeom>
          <a:solidFill>
            <a:srgbClr val="0D9488">
              <a:alpha val="15000"/>
            </a:srgbClr>
          </a:solidFill>
          <a:ln w="12700">
            <a:solidFill>
              <a:srgbClr val="0D9488"/>
            </a:solidFill>
            <a:prstDash val="solid"/>
          </a:ln>
        </p:spPr>
        <p:txBody>
          <a:bodyPr/>
          <a:lstStyle/>
          <a:p>
            <a:endParaRPr lang="es-AR"/>
          </a:p>
        </p:txBody>
      </p:sp>
      <p:sp>
        <p:nvSpPr>
          <p:cNvPr id="3" name="Shape 1"/>
          <p:cNvSpPr/>
          <p:nvPr/>
        </p:nvSpPr>
        <p:spPr>
          <a:xfrm>
            <a:off x="6858000" y="-457200"/>
            <a:ext cx="3657600" cy="3657600"/>
          </a:xfrm>
          <a:prstGeom prst="ellipse">
            <a:avLst/>
          </a:prstGeom>
          <a:solidFill>
            <a:srgbClr val="14B8A6">
              <a:alpha val="12000"/>
            </a:srgbClr>
          </a:solidFill>
          <a:ln w="12700">
            <a:solidFill>
              <a:srgbClr val="14B8A6"/>
            </a:solidFill>
            <a:prstDash val="solid"/>
          </a:ln>
        </p:spPr>
        <p:txBody>
          <a:bodyPr/>
          <a:lstStyle/>
          <a:p>
            <a:endParaRPr lang="es-AR"/>
          </a:p>
        </p:txBody>
      </p:sp>
      <p:sp>
        <p:nvSpPr>
          <p:cNvPr id="4" name="Text 2"/>
          <p:cNvSpPr/>
          <p:nvPr/>
        </p:nvSpPr>
        <p:spPr>
          <a:xfrm>
            <a:off x="731520" y="914400"/>
            <a:ext cx="7615311" cy="1097280"/>
          </a:xfrm>
          <a:prstGeom prst="rect">
            <a:avLst/>
          </a:prstGeom>
          <a:noFill/>
          <a:ln/>
        </p:spPr>
        <p:txBody>
          <a:bodyPr wrap="square" rtlCol="0" anchor="ctr"/>
          <a:lstStyle/>
          <a:p>
            <a:pPr marL="0" indent="0" algn="ctr">
              <a:buNone/>
            </a:pPr>
            <a:r>
              <a:rPr lang="en-US" sz="4600" b="1" dirty="0">
                <a:solidFill>
                  <a:srgbClr val="FFFFFF"/>
                </a:solidFill>
              </a:rPr>
              <a:t>Gracias</a:t>
            </a:r>
            <a:endParaRPr lang="en-US" sz="4600" dirty="0"/>
          </a:p>
        </p:txBody>
      </p:sp>
      <p:sp>
        <p:nvSpPr>
          <p:cNvPr id="5" name="Text 3"/>
          <p:cNvSpPr/>
          <p:nvPr/>
        </p:nvSpPr>
        <p:spPr>
          <a:xfrm>
            <a:off x="731520" y="2148840"/>
            <a:ext cx="7772400" cy="548640"/>
          </a:xfrm>
          <a:prstGeom prst="rect">
            <a:avLst/>
          </a:prstGeom>
          <a:noFill/>
          <a:ln/>
        </p:spPr>
        <p:txBody>
          <a:bodyPr wrap="square" rtlCol="0" anchor="ctr"/>
          <a:lstStyle/>
          <a:p>
            <a:pPr marL="0" indent="0" algn="ctr">
              <a:buNone/>
            </a:pPr>
            <a:r>
              <a:rPr lang="en-US" sz="1800" dirty="0">
                <a:solidFill>
                  <a:srgbClr val="CCFBF1"/>
                </a:solidFill>
              </a:rPr>
              <a:t>A continuación, demo en vivo de SkillSwap.</a:t>
            </a:r>
            <a:endParaRPr lang="en-US" sz="1800" dirty="0"/>
          </a:p>
        </p:txBody>
      </p:sp>
      <p:sp>
        <p:nvSpPr>
          <p:cNvPr id="6" name="Shape 4"/>
          <p:cNvSpPr/>
          <p:nvPr/>
        </p:nvSpPr>
        <p:spPr>
          <a:xfrm>
            <a:off x="-137160" y="2834640"/>
            <a:ext cx="1737360" cy="347472"/>
          </a:xfrm>
          <a:prstGeom prst="roundRect">
            <a:avLst>
              <a:gd name="adj" fmla="val 15789"/>
            </a:avLst>
          </a:prstGeom>
          <a:solidFill>
            <a:srgbClr val="0D9488"/>
          </a:solidFill>
          <a:ln w="12700">
            <a:solidFill>
              <a:srgbClr val="0D9488"/>
            </a:solidFill>
            <a:prstDash val="solid"/>
          </a:ln>
        </p:spPr>
        <p:txBody>
          <a:bodyPr/>
          <a:lstStyle/>
          <a:p>
            <a:endParaRPr lang="es-AR"/>
          </a:p>
        </p:txBody>
      </p:sp>
      <p:sp>
        <p:nvSpPr>
          <p:cNvPr id="7" name="Text 5"/>
          <p:cNvSpPr/>
          <p:nvPr/>
        </p:nvSpPr>
        <p:spPr>
          <a:xfrm>
            <a:off x="-137160" y="2834640"/>
            <a:ext cx="1737360" cy="347472"/>
          </a:xfrm>
          <a:prstGeom prst="rect">
            <a:avLst/>
          </a:prstGeom>
          <a:noFill/>
          <a:ln/>
        </p:spPr>
        <p:txBody>
          <a:bodyPr wrap="square" lIns="0" tIns="0" rIns="0" bIns="0" rtlCol="0" anchor="ctr"/>
          <a:lstStyle/>
          <a:p>
            <a:pPr marL="0" indent="0" algn="ctr">
              <a:buNone/>
            </a:pPr>
            <a:r>
              <a:rPr lang="en-US" sz="950" b="1" dirty="0">
                <a:solidFill>
                  <a:srgbClr val="FFFFFF"/>
                </a:solidFill>
              </a:rPr>
              <a:t>PHP · MVC</a:t>
            </a:r>
            <a:endParaRPr lang="en-US" sz="950" dirty="0"/>
          </a:p>
        </p:txBody>
      </p:sp>
      <p:sp>
        <p:nvSpPr>
          <p:cNvPr id="8" name="Shape 6"/>
          <p:cNvSpPr/>
          <p:nvPr/>
        </p:nvSpPr>
        <p:spPr>
          <a:xfrm>
            <a:off x="1783080" y="2834640"/>
            <a:ext cx="1737360" cy="347472"/>
          </a:xfrm>
          <a:prstGeom prst="roundRect">
            <a:avLst>
              <a:gd name="adj" fmla="val 15789"/>
            </a:avLst>
          </a:prstGeom>
          <a:solidFill>
            <a:srgbClr val="0D9488"/>
          </a:solidFill>
          <a:ln w="12700">
            <a:solidFill>
              <a:srgbClr val="0D9488"/>
            </a:solidFill>
            <a:prstDash val="solid"/>
          </a:ln>
        </p:spPr>
        <p:txBody>
          <a:bodyPr/>
          <a:lstStyle/>
          <a:p>
            <a:endParaRPr lang="es-AR"/>
          </a:p>
        </p:txBody>
      </p:sp>
      <p:sp>
        <p:nvSpPr>
          <p:cNvPr id="9" name="Text 7"/>
          <p:cNvSpPr/>
          <p:nvPr/>
        </p:nvSpPr>
        <p:spPr>
          <a:xfrm>
            <a:off x="1783080" y="2834640"/>
            <a:ext cx="1737360" cy="347472"/>
          </a:xfrm>
          <a:prstGeom prst="rect">
            <a:avLst/>
          </a:prstGeom>
          <a:noFill/>
          <a:ln/>
        </p:spPr>
        <p:txBody>
          <a:bodyPr wrap="square" lIns="0" tIns="0" rIns="0" bIns="0" rtlCol="0" anchor="ctr"/>
          <a:lstStyle/>
          <a:p>
            <a:pPr marL="0" indent="0" algn="ctr">
              <a:buNone/>
            </a:pPr>
            <a:r>
              <a:rPr lang="en-US" sz="950" b="1" dirty="0">
                <a:solidFill>
                  <a:srgbClr val="FFFFFF"/>
                </a:solidFill>
              </a:rPr>
              <a:t>MySQL + 2 Triggers</a:t>
            </a:r>
            <a:endParaRPr lang="en-US" sz="950" dirty="0"/>
          </a:p>
        </p:txBody>
      </p:sp>
      <p:sp>
        <p:nvSpPr>
          <p:cNvPr id="10" name="Shape 8"/>
          <p:cNvSpPr/>
          <p:nvPr/>
        </p:nvSpPr>
        <p:spPr>
          <a:xfrm>
            <a:off x="3703320" y="2834640"/>
            <a:ext cx="1737360" cy="347472"/>
          </a:xfrm>
          <a:prstGeom prst="roundRect">
            <a:avLst>
              <a:gd name="adj" fmla="val 15789"/>
            </a:avLst>
          </a:prstGeom>
          <a:solidFill>
            <a:srgbClr val="0D9488"/>
          </a:solidFill>
          <a:ln w="12700">
            <a:solidFill>
              <a:srgbClr val="0D9488"/>
            </a:solidFill>
            <a:prstDash val="solid"/>
          </a:ln>
        </p:spPr>
        <p:txBody>
          <a:bodyPr/>
          <a:lstStyle/>
          <a:p>
            <a:endParaRPr lang="es-AR"/>
          </a:p>
        </p:txBody>
      </p:sp>
      <p:sp>
        <p:nvSpPr>
          <p:cNvPr id="11" name="Text 9"/>
          <p:cNvSpPr/>
          <p:nvPr/>
        </p:nvSpPr>
        <p:spPr>
          <a:xfrm>
            <a:off x="3703320" y="2834640"/>
            <a:ext cx="1737360" cy="347472"/>
          </a:xfrm>
          <a:prstGeom prst="rect">
            <a:avLst/>
          </a:prstGeom>
          <a:noFill/>
          <a:ln/>
        </p:spPr>
        <p:txBody>
          <a:bodyPr wrap="square" lIns="0" tIns="0" rIns="0" bIns="0" rtlCol="0" anchor="ctr"/>
          <a:lstStyle/>
          <a:p>
            <a:pPr marL="0" indent="0" algn="ctr">
              <a:buNone/>
            </a:pPr>
            <a:r>
              <a:rPr lang="en-US" sz="950" b="1" dirty="0">
                <a:solidFill>
                  <a:srgbClr val="FFFFFF"/>
                </a:solidFill>
              </a:rPr>
              <a:t>Blockchain Sepolia</a:t>
            </a:r>
            <a:endParaRPr lang="en-US" sz="950" dirty="0"/>
          </a:p>
        </p:txBody>
      </p:sp>
      <p:sp>
        <p:nvSpPr>
          <p:cNvPr id="12" name="Shape 10"/>
          <p:cNvSpPr/>
          <p:nvPr/>
        </p:nvSpPr>
        <p:spPr>
          <a:xfrm>
            <a:off x="5623560" y="2834640"/>
            <a:ext cx="1737360" cy="347472"/>
          </a:xfrm>
          <a:prstGeom prst="roundRect">
            <a:avLst>
              <a:gd name="adj" fmla="val 15789"/>
            </a:avLst>
          </a:prstGeom>
          <a:solidFill>
            <a:srgbClr val="0D9488"/>
          </a:solidFill>
          <a:ln w="12700">
            <a:solidFill>
              <a:srgbClr val="0D9488"/>
            </a:solidFill>
            <a:prstDash val="solid"/>
          </a:ln>
        </p:spPr>
        <p:txBody>
          <a:bodyPr/>
          <a:lstStyle/>
          <a:p>
            <a:endParaRPr lang="es-AR"/>
          </a:p>
        </p:txBody>
      </p:sp>
      <p:sp>
        <p:nvSpPr>
          <p:cNvPr id="13" name="Text 11"/>
          <p:cNvSpPr/>
          <p:nvPr/>
        </p:nvSpPr>
        <p:spPr>
          <a:xfrm>
            <a:off x="5623560" y="2834640"/>
            <a:ext cx="1737360" cy="347472"/>
          </a:xfrm>
          <a:prstGeom prst="rect">
            <a:avLst/>
          </a:prstGeom>
          <a:noFill/>
          <a:ln/>
        </p:spPr>
        <p:txBody>
          <a:bodyPr wrap="square" lIns="0" tIns="0" rIns="0" bIns="0" rtlCol="0" anchor="ctr"/>
          <a:lstStyle/>
          <a:p>
            <a:pPr marL="0" indent="0" algn="ctr">
              <a:buNone/>
            </a:pPr>
            <a:r>
              <a:rPr lang="en-US" sz="950" b="1" dirty="0">
                <a:solidFill>
                  <a:srgbClr val="FFFFFF"/>
                </a:solidFill>
              </a:rPr>
              <a:t>IA Matching</a:t>
            </a:r>
            <a:endParaRPr lang="en-US" sz="950" dirty="0"/>
          </a:p>
        </p:txBody>
      </p:sp>
      <p:sp>
        <p:nvSpPr>
          <p:cNvPr id="14" name="Shape 12"/>
          <p:cNvSpPr/>
          <p:nvPr/>
        </p:nvSpPr>
        <p:spPr>
          <a:xfrm>
            <a:off x="7543800" y="2834640"/>
            <a:ext cx="1737360" cy="347472"/>
          </a:xfrm>
          <a:prstGeom prst="roundRect">
            <a:avLst>
              <a:gd name="adj" fmla="val 15789"/>
            </a:avLst>
          </a:prstGeom>
          <a:solidFill>
            <a:srgbClr val="0D9488"/>
          </a:solidFill>
          <a:ln w="12700">
            <a:solidFill>
              <a:srgbClr val="0D9488"/>
            </a:solidFill>
            <a:prstDash val="solid"/>
          </a:ln>
        </p:spPr>
        <p:txBody>
          <a:bodyPr/>
          <a:lstStyle/>
          <a:p>
            <a:endParaRPr lang="es-AR"/>
          </a:p>
        </p:txBody>
      </p:sp>
      <p:sp>
        <p:nvSpPr>
          <p:cNvPr id="15" name="Text 13"/>
          <p:cNvSpPr/>
          <p:nvPr/>
        </p:nvSpPr>
        <p:spPr>
          <a:xfrm>
            <a:off x="7543800" y="2834640"/>
            <a:ext cx="1737360" cy="347472"/>
          </a:xfrm>
          <a:prstGeom prst="rect">
            <a:avLst/>
          </a:prstGeom>
          <a:noFill/>
          <a:ln/>
        </p:spPr>
        <p:txBody>
          <a:bodyPr wrap="square" lIns="0" tIns="0" rIns="0" bIns="0" rtlCol="0" anchor="ctr"/>
          <a:lstStyle/>
          <a:p>
            <a:pPr marL="0" indent="0" algn="ctr">
              <a:buNone/>
            </a:pPr>
            <a:r>
              <a:rPr lang="en-US" sz="950" b="1" dirty="0">
                <a:solidFill>
                  <a:srgbClr val="FFFFFF"/>
                </a:solidFill>
              </a:rPr>
              <a:t>Seguridad</a:t>
            </a:r>
            <a:endParaRPr lang="en-US" sz="950" dirty="0"/>
          </a:p>
        </p:txBody>
      </p:sp>
      <p:sp>
        <p:nvSpPr>
          <p:cNvPr id="16" name="Text 14"/>
          <p:cNvSpPr/>
          <p:nvPr/>
        </p:nvSpPr>
        <p:spPr>
          <a:xfrm>
            <a:off x="457200" y="4663440"/>
            <a:ext cx="8229600" cy="274320"/>
          </a:xfrm>
          <a:prstGeom prst="rect">
            <a:avLst/>
          </a:prstGeom>
          <a:noFill/>
          <a:ln/>
        </p:spPr>
        <p:txBody>
          <a:bodyPr wrap="square" rtlCol="0" anchor="ctr"/>
          <a:lstStyle/>
          <a:p>
            <a:pPr marL="0" indent="0" algn="ctr">
              <a:buNone/>
            </a:pPr>
            <a:r>
              <a:rPr lang="en-US" sz="900" dirty="0">
                <a:solidFill>
                  <a:srgbClr val="94A3B8"/>
                </a:solidFill>
              </a:rPr>
              <a:t>Universidad Champagnat · Teoría de Computación 2 · Junio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TotalTime>
  <Words>1665</Words>
  <Application>Microsoft Office PowerPoint</Application>
  <PresentationFormat>On-screen Show (16:9)</PresentationFormat>
  <Paragraphs>323</Paragraphs>
  <Slides>16</Slides>
  <Notes>16</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SkillSwap – Pitch Deck Extendido</dc:title>
  <dc:subject>PptxGenJS Presentation</dc:subject>
  <dc:creator>PptxGenJS</dc:creator>
  <cp:lastModifiedBy>Lucila Montuori</cp:lastModifiedBy>
  <cp:revision>2</cp:revision>
  <dcterms:created xsi:type="dcterms:W3CDTF">2026-06-24T20:42:33Z</dcterms:created>
  <dcterms:modified xsi:type="dcterms:W3CDTF">2026-06-25T04:59:33Z</dcterms:modified>
</cp:coreProperties>
</file>